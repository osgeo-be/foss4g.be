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67" r:id="rId6"/>
    <p:sldId id="270" r:id="rId7"/>
    <p:sldId id="271" r:id="rId8"/>
    <p:sldId id="265" r:id="rId9"/>
    <p:sldId id="269" r:id="rId10"/>
    <p:sldId id="264" r:id="rId11"/>
    <p:sldId id="272" r:id="rId12"/>
    <p:sldId id="273"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4D79"/>
    <a:srgbClr val="F0632D"/>
    <a:srgbClr val="EF37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9759E5-0B4E-B6EA-87DB-E5563124600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AB50029-8165-2B03-E594-BBD697BC1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06CFB4E-4E48-CB47-9512-25DA27540717}"/>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5" name="Espace réservé du pied de page 4">
            <a:extLst>
              <a:ext uri="{FF2B5EF4-FFF2-40B4-BE49-F238E27FC236}">
                <a16:creationId xmlns:a16="http://schemas.microsoft.com/office/drawing/2014/main" id="{1DA0C41F-DF8C-4E5A-A312-391FEFD82BD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66D8846-91E6-9305-71C3-D465A909FD3E}"/>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298912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7770A-0768-7754-0B19-2D1D13C2C03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1B67480-3834-6965-EDD0-1305599D1D0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9628395-75CA-3955-45CA-8BA9356825E3}"/>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5" name="Espace réservé du pied de page 4">
            <a:extLst>
              <a:ext uri="{FF2B5EF4-FFF2-40B4-BE49-F238E27FC236}">
                <a16:creationId xmlns:a16="http://schemas.microsoft.com/office/drawing/2014/main" id="{F56B19C7-ACA1-545B-EEA7-5B25DBDB07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30D428-8032-8CBA-C960-0F6603B575E7}"/>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2704781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242384-7217-8C91-27AD-E3BCBD0BEA2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147A73C-E50E-B1FB-CDEF-F7A1DCD73C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932976B-6782-F424-96C9-09188424EF29}"/>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5" name="Espace réservé du pied de page 4">
            <a:extLst>
              <a:ext uri="{FF2B5EF4-FFF2-40B4-BE49-F238E27FC236}">
                <a16:creationId xmlns:a16="http://schemas.microsoft.com/office/drawing/2014/main" id="{D631C230-C940-9416-7889-F92F5BFE02C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01B43DF-1EFF-597E-CBA5-5ED79C46EEA8}"/>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251060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4EF559-9D3D-5E6A-18C6-DD3BB6D9296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EE459A8-30D4-DA9E-583C-EBFFDC67CF8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C723FC6-0860-A5CA-E749-24D9BD9C6DD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ED1869C-AD4E-D356-1D50-329FA589879D}"/>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6" name="Espace réservé du pied de page 5">
            <a:extLst>
              <a:ext uri="{FF2B5EF4-FFF2-40B4-BE49-F238E27FC236}">
                <a16:creationId xmlns:a16="http://schemas.microsoft.com/office/drawing/2014/main" id="{417FE6BA-7BDF-2C8C-2E79-EEE044CF0EF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A8FECFF-863B-687F-2D67-BEFE1A105080}"/>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2319671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A33518-201C-E11F-C831-1D3F646EBF5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31C065D-81C4-C566-81B0-DABB3BA228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6B6B469-20DA-1C50-B255-68BD02624ED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B68632E-CEC7-DE0C-ABBC-C7A08AC315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5912372-1A48-D738-94D6-A0C17E84838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EFD4629-1943-94BD-4BF9-E893F372F09E}"/>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8" name="Espace réservé du pied de page 7">
            <a:extLst>
              <a:ext uri="{FF2B5EF4-FFF2-40B4-BE49-F238E27FC236}">
                <a16:creationId xmlns:a16="http://schemas.microsoft.com/office/drawing/2014/main" id="{F83F34D6-59F7-2BAC-A593-65AB9975D2E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B0FE08A-3DB2-7CCF-2CDB-2D3411B7133D}"/>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1446078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F26C54-45F4-B623-A2F6-B2EA01D33DE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161B354-CF5A-0851-6E6F-5554D48FA4FB}"/>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4" name="Espace réservé du pied de page 3">
            <a:extLst>
              <a:ext uri="{FF2B5EF4-FFF2-40B4-BE49-F238E27FC236}">
                <a16:creationId xmlns:a16="http://schemas.microsoft.com/office/drawing/2014/main" id="{BF77800C-4928-7BD7-EBFA-1D7128F8EAB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3C2E752-6F40-0E5E-F89C-A98E8B0A84D4}"/>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979373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5133B9A-DD94-FC2B-A1CB-F91EC31B6A97}"/>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3" name="Espace réservé du pied de page 2">
            <a:extLst>
              <a:ext uri="{FF2B5EF4-FFF2-40B4-BE49-F238E27FC236}">
                <a16:creationId xmlns:a16="http://schemas.microsoft.com/office/drawing/2014/main" id="{16A815E7-096F-C3C1-E037-F31DED3BBF9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5D971A3-4BA2-DBE5-2DB8-3DB3A4BE593F}"/>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4233833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11A8D6-AC76-8C2C-F14A-19FE21A1DC6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A8DDA71-9B94-DDF9-0E5F-02F0046018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48CA27A-D14B-CD11-3BCB-62BEB74662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1214E1-CEA2-EFDB-7971-5908286481F4}"/>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6" name="Espace réservé du pied de page 5">
            <a:extLst>
              <a:ext uri="{FF2B5EF4-FFF2-40B4-BE49-F238E27FC236}">
                <a16:creationId xmlns:a16="http://schemas.microsoft.com/office/drawing/2014/main" id="{443D4F03-B8F5-B709-3C85-56E5F3A0CF2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191F7D-78E7-2491-0CF1-2F590F187114}"/>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409092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C216F6-B6C5-8D2C-30FA-5829ECDCBFE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6EF806F-8702-EC4A-6E9B-8AD1399CBF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C7C92FD-7163-6048-E075-BFBDF9A6E1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F580666-DBE9-732E-5392-D1D34946AAE8}"/>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6" name="Espace réservé du pied de page 5">
            <a:extLst>
              <a:ext uri="{FF2B5EF4-FFF2-40B4-BE49-F238E27FC236}">
                <a16:creationId xmlns:a16="http://schemas.microsoft.com/office/drawing/2014/main" id="{EC2B8353-763A-459A-9A18-E5EE942E85D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EED9692-E684-A04F-F8BB-2D3A1DE44D8B}"/>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3094686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711A56-3983-C1F1-D8BF-7CB8337E585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C15CCB5-1C73-09F6-CF08-6363E1B902B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713B425-0081-8A4F-A3EA-7A8D5B495804}"/>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5" name="Espace réservé du pied de page 4">
            <a:extLst>
              <a:ext uri="{FF2B5EF4-FFF2-40B4-BE49-F238E27FC236}">
                <a16:creationId xmlns:a16="http://schemas.microsoft.com/office/drawing/2014/main" id="{271A4EEC-D513-9701-25A7-B0958B314E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71C1A4-CC6D-8758-C574-622363431B09}"/>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2751559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44E8B6E-2E5F-1626-9D16-FDBAB759BE3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79896D0-EF09-0E5D-B16C-EBF17A69A1E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4AF9A4B-9761-939F-3CCD-A1FD43C46011}"/>
              </a:ext>
            </a:extLst>
          </p:cNvPr>
          <p:cNvSpPr>
            <a:spLocks noGrp="1"/>
          </p:cNvSpPr>
          <p:nvPr>
            <p:ph type="dt" sz="half" idx="10"/>
          </p:nvPr>
        </p:nvSpPr>
        <p:spPr/>
        <p:txBody>
          <a:bodyPr/>
          <a:lstStyle/>
          <a:p>
            <a:fld id="{CF3A000C-DD7F-4636-83CA-A132036A30D7}" type="datetimeFigureOut">
              <a:rPr lang="fr-FR" smtClean="0"/>
              <a:t>17/09/2025</a:t>
            </a:fld>
            <a:endParaRPr lang="fr-FR"/>
          </a:p>
        </p:txBody>
      </p:sp>
      <p:sp>
        <p:nvSpPr>
          <p:cNvPr id="5" name="Espace réservé du pied de page 4">
            <a:extLst>
              <a:ext uri="{FF2B5EF4-FFF2-40B4-BE49-F238E27FC236}">
                <a16:creationId xmlns:a16="http://schemas.microsoft.com/office/drawing/2014/main" id="{8D0A2414-B149-ADF2-BE92-1B8DFAAF2AF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10AEA6-910E-0CDE-391C-90BCF2DBF18D}"/>
              </a:ext>
            </a:extLst>
          </p:cNvPr>
          <p:cNvSpPr>
            <a:spLocks noGrp="1"/>
          </p:cNvSpPr>
          <p:nvPr>
            <p:ph type="sldNum" sz="quarter" idx="12"/>
          </p:nvPr>
        </p:nvSpPr>
        <p:spPr/>
        <p:txBody>
          <a:bodyPr/>
          <a:lstStyle/>
          <a:p>
            <a:fld id="{F1C5787D-0BF0-4E0A-B908-338533B3B269}" type="slidenum">
              <a:rPr lang="fr-FR" smtClean="0"/>
              <a:t>‹N°›</a:t>
            </a:fld>
            <a:endParaRPr lang="fr-FR"/>
          </a:p>
        </p:txBody>
      </p:sp>
    </p:spTree>
    <p:extLst>
      <p:ext uri="{BB962C8B-B14F-4D97-AF65-F5344CB8AC3E}">
        <p14:creationId xmlns:p14="http://schemas.microsoft.com/office/powerpoint/2010/main" val="3412953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09F3169-EA5E-4A52-E4D7-E0DA04AD1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86F6DBA-C650-C6CB-CEB1-A89AB04D6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26C1DC0-54F3-CD02-3388-BD3592B31B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3A000C-DD7F-4636-83CA-A132036A30D7}" type="datetimeFigureOut">
              <a:rPr lang="fr-FR" smtClean="0"/>
              <a:t>17/09/2025</a:t>
            </a:fld>
            <a:endParaRPr lang="fr-FR"/>
          </a:p>
        </p:txBody>
      </p:sp>
      <p:sp>
        <p:nvSpPr>
          <p:cNvPr id="5" name="Espace réservé du pied de page 4">
            <a:extLst>
              <a:ext uri="{FF2B5EF4-FFF2-40B4-BE49-F238E27FC236}">
                <a16:creationId xmlns:a16="http://schemas.microsoft.com/office/drawing/2014/main" id="{9A435E63-74A6-2791-A9A8-A03C2D1834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CE3151E-8C97-334D-4AE9-E98ED9286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C5787D-0BF0-4E0A-B908-338533B3B269}" type="slidenum">
              <a:rPr lang="fr-FR" smtClean="0"/>
              <a:t>‹N°›</a:t>
            </a:fld>
            <a:endParaRPr lang="fr-FR"/>
          </a:p>
        </p:txBody>
      </p:sp>
    </p:spTree>
    <p:extLst>
      <p:ext uri="{BB962C8B-B14F-4D97-AF65-F5344CB8AC3E}">
        <p14:creationId xmlns:p14="http://schemas.microsoft.com/office/powerpoint/2010/main" val="3371276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77.237.232.176:8090/" TargetMode="Externa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mailto:o.abongo@angeltechnology,ci"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www.angeltechnology.c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50C5958D-70FF-7855-60C5-44A9BAD88D9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Rectangle : avec coin arrondi 7">
            <a:extLst>
              <a:ext uri="{FF2B5EF4-FFF2-40B4-BE49-F238E27FC236}">
                <a16:creationId xmlns:a16="http://schemas.microsoft.com/office/drawing/2014/main" id="{E9C2F2A3-6D26-F8DE-B0E0-6CAC0EDE3C8D}"/>
              </a:ext>
            </a:extLst>
          </p:cNvPr>
          <p:cNvSpPr/>
          <p:nvPr/>
        </p:nvSpPr>
        <p:spPr>
          <a:xfrm>
            <a:off x="403123" y="1022556"/>
            <a:ext cx="1504335" cy="491613"/>
          </a:xfrm>
          <a:prstGeom prst="round1Rect">
            <a:avLst/>
          </a:prstGeom>
          <a:solidFill>
            <a:srgbClr val="F063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D015DDEA-D24A-7651-BDD0-B1EB049DEB6E}"/>
              </a:ext>
            </a:extLst>
          </p:cNvPr>
          <p:cNvSpPr txBox="1"/>
          <p:nvPr/>
        </p:nvSpPr>
        <p:spPr>
          <a:xfrm>
            <a:off x="324463" y="1575309"/>
            <a:ext cx="5319251" cy="1754326"/>
          </a:xfrm>
          <a:prstGeom prst="rect">
            <a:avLst/>
          </a:prstGeom>
          <a:noFill/>
        </p:spPr>
        <p:txBody>
          <a:bodyPr wrap="square" rtlCol="0">
            <a:spAutoFit/>
          </a:bodyPr>
          <a:lstStyle/>
          <a:p>
            <a:pPr algn="just"/>
            <a:r>
              <a:rPr lang="en-US" b="1" kern="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IMPLEMENTATION OF A DIGITALIZED INFORMATION SYSTEM FOR THE PROJECT “FINANCIAL INCLUSION OF MEMBERS OF VILLAGE SAVINGS AND CREDIT ASSOCIATIONS (AVEC) IN THE NAWA REGION</a:t>
            </a:r>
            <a:endParaRPr lang="fr-FR" dirty="0">
              <a:solidFill>
                <a:schemeClr val="bg1">
                  <a:lumMod val="50000"/>
                </a:schemeClr>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66B8DDAE-2DA8-2192-0840-3B6F414A9829}"/>
              </a:ext>
            </a:extLst>
          </p:cNvPr>
          <p:cNvSpPr/>
          <p:nvPr/>
        </p:nvSpPr>
        <p:spPr>
          <a:xfrm>
            <a:off x="403123" y="3483077"/>
            <a:ext cx="5319251" cy="368258"/>
          </a:xfrm>
          <a:prstGeom prst="rect">
            <a:avLst/>
          </a:prstGeom>
          <a:solidFill>
            <a:srgbClr val="F063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47310ABE-BE56-C2A3-2E8E-3BA71F217CC0}"/>
              </a:ext>
            </a:extLst>
          </p:cNvPr>
          <p:cNvSpPr txBox="1"/>
          <p:nvPr/>
        </p:nvSpPr>
        <p:spPr>
          <a:xfrm>
            <a:off x="412955" y="1083696"/>
            <a:ext cx="2261420" cy="461665"/>
          </a:xfrm>
          <a:prstGeom prst="rect">
            <a:avLst/>
          </a:prstGeom>
          <a:noFill/>
        </p:spPr>
        <p:txBody>
          <a:bodyPr wrap="square" rtlCol="0">
            <a:spAutoFit/>
          </a:bodyPr>
          <a:lstStyle/>
          <a:p>
            <a:r>
              <a:rPr lang="fr-FR" sz="2400" b="1" dirty="0">
                <a:solidFill>
                  <a:schemeClr val="bg1"/>
                </a:solidFill>
                <a:latin typeface="Arial" panose="020B0604020202020204" pitchFamily="34" charset="0"/>
                <a:cs typeface="Arial" panose="020B0604020202020204" pitchFamily="34" charset="0"/>
              </a:rPr>
              <a:t>THEME:</a:t>
            </a:r>
          </a:p>
        </p:txBody>
      </p:sp>
      <p:sp>
        <p:nvSpPr>
          <p:cNvPr id="11" name="ZoneTexte 10">
            <a:extLst>
              <a:ext uri="{FF2B5EF4-FFF2-40B4-BE49-F238E27FC236}">
                <a16:creationId xmlns:a16="http://schemas.microsoft.com/office/drawing/2014/main" id="{1C98A692-D805-F542-61E1-AF69CD3FDE7E}"/>
              </a:ext>
            </a:extLst>
          </p:cNvPr>
          <p:cNvSpPr txBox="1"/>
          <p:nvPr/>
        </p:nvSpPr>
        <p:spPr>
          <a:xfrm>
            <a:off x="353962" y="3436374"/>
            <a:ext cx="5319251" cy="461665"/>
          </a:xfrm>
          <a:prstGeom prst="rect">
            <a:avLst/>
          </a:prstGeom>
          <a:noFill/>
        </p:spPr>
        <p:txBody>
          <a:bodyPr wrap="square" rtlCol="0">
            <a:spAutoFit/>
          </a:bodyPr>
          <a:lstStyle/>
          <a:p>
            <a:pPr algn="just"/>
            <a:r>
              <a:rPr lang="fr-FR" sz="2400" b="1" kern="0" dirty="0">
                <a:solidFill>
                  <a:schemeClr val="bg1"/>
                </a:solidFill>
                <a:latin typeface="Arial" panose="020B0604020202020204" pitchFamily="34" charset="0"/>
                <a:cs typeface="Arial" panose="020B0604020202020204" pitchFamily="34" charset="0"/>
              </a:rPr>
              <a:t>LAUNCH OF ACTIVITIES</a:t>
            </a:r>
            <a:endParaRPr lang="fr-FR" sz="2400" dirty="0">
              <a:solidFill>
                <a:schemeClr val="bg1"/>
              </a:solidFill>
              <a:latin typeface="Arial" panose="020B0604020202020204" pitchFamily="34" charset="0"/>
              <a:cs typeface="Arial" panose="020B0604020202020204" pitchFamily="34" charset="0"/>
            </a:endParaRPr>
          </a:p>
        </p:txBody>
      </p:sp>
      <p:pic>
        <p:nvPicPr>
          <p:cNvPr id="14" name="Image 13">
            <a:extLst>
              <a:ext uri="{FF2B5EF4-FFF2-40B4-BE49-F238E27FC236}">
                <a16:creationId xmlns:a16="http://schemas.microsoft.com/office/drawing/2014/main" id="{33464DD5-7B43-1045-B0E2-F0E184921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962" y="5646455"/>
            <a:ext cx="1750143" cy="1015083"/>
          </a:xfrm>
          <a:prstGeom prst="rect">
            <a:avLst/>
          </a:prstGeom>
        </p:spPr>
      </p:pic>
      <p:pic>
        <p:nvPicPr>
          <p:cNvPr id="16" name="Image 15">
            <a:extLst>
              <a:ext uri="{FF2B5EF4-FFF2-40B4-BE49-F238E27FC236}">
                <a16:creationId xmlns:a16="http://schemas.microsoft.com/office/drawing/2014/main" id="{0B16CC3B-AB26-A478-2BCE-928F028BAA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7566" y="4810714"/>
            <a:ext cx="2214434" cy="2214434"/>
          </a:xfrm>
          <a:prstGeom prst="rect">
            <a:avLst/>
          </a:prstGeom>
        </p:spPr>
      </p:pic>
      <p:sp>
        <p:nvSpPr>
          <p:cNvPr id="17" name="ZoneTexte 16">
            <a:extLst>
              <a:ext uri="{FF2B5EF4-FFF2-40B4-BE49-F238E27FC236}">
                <a16:creationId xmlns:a16="http://schemas.microsoft.com/office/drawing/2014/main" id="{4FF7F165-D12C-6AA5-B14B-638E066D6F84}"/>
              </a:ext>
            </a:extLst>
          </p:cNvPr>
          <p:cNvSpPr txBox="1"/>
          <p:nvPr/>
        </p:nvSpPr>
        <p:spPr>
          <a:xfrm>
            <a:off x="8288594" y="6407241"/>
            <a:ext cx="2497393" cy="369332"/>
          </a:xfrm>
          <a:prstGeom prst="rect">
            <a:avLst/>
          </a:prstGeom>
          <a:noFill/>
        </p:spPr>
        <p:txBody>
          <a:bodyPr wrap="square" rtlCol="0">
            <a:spAutoFit/>
          </a:bodyPr>
          <a:lstStyle/>
          <a:p>
            <a:r>
              <a:rPr lang="fr-FR" b="1" dirty="0" err="1">
                <a:latin typeface="Arial" panose="020B0604020202020204" pitchFamily="34" charset="0"/>
                <a:cs typeface="Arial" panose="020B0604020202020204" pitchFamily="34" charset="0"/>
              </a:rPr>
              <a:t>Presented</a:t>
            </a:r>
            <a:r>
              <a:rPr lang="fr-FR" b="1" dirty="0">
                <a:latin typeface="Arial" panose="020B0604020202020204" pitchFamily="34" charset="0"/>
                <a:cs typeface="Arial" panose="020B0604020202020204" pitchFamily="34" charset="0"/>
              </a:rPr>
              <a:t> by:</a:t>
            </a:r>
          </a:p>
        </p:txBody>
      </p:sp>
    </p:spTree>
    <p:extLst>
      <p:ext uri="{BB962C8B-B14F-4D97-AF65-F5344CB8AC3E}">
        <p14:creationId xmlns:p14="http://schemas.microsoft.com/office/powerpoint/2010/main" val="3577359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50C5958D-70FF-7855-60C5-44A9BAD88D9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ZoneTexte 8">
            <a:extLst>
              <a:ext uri="{FF2B5EF4-FFF2-40B4-BE49-F238E27FC236}">
                <a16:creationId xmlns:a16="http://schemas.microsoft.com/office/drawing/2014/main" id="{D015DDEA-D24A-7651-BDD0-B1EB049DEB6E}"/>
              </a:ext>
            </a:extLst>
          </p:cNvPr>
          <p:cNvSpPr txBox="1"/>
          <p:nvPr/>
        </p:nvSpPr>
        <p:spPr>
          <a:xfrm>
            <a:off x="353962" y="1095213"/>
            <a:ext cx="5268625" cy="4031873"/>
          </a:xfrm>
          <a:custGeom>
            <a:avLst/>
            <a:gdLst>
              <a:gd name="connsiteX0" fmla="*/ 0 w 5604386"/>
              <a:gd name="connsiteY0" fmla="*/ 0 h 4801314"/>
              <a:gd name="connsiteX1" fmla="*/ 5604386 w 5604386"/>
              <a:gd name="connsiteY1" fmla="*/ 0 h 4801314"/>
              <a:gd name="connsiteX2" fmla="*/ 5604386 w 5604386"/>
              <a:gd name="connsiteY2" fmla="*/ 4801314 h 4801314"/>
              <a:gd name="connsiteX3" fmla="*/ 0 w 5604386"/>
              <a:gd name="connsiteY3" fmla="*/ 4801314 h 4801314"/>
              <a:gd name="connsiteX4" fmla="*/ 0 w 5604386"/>
              <a:gd name="connsiteY4" fmla="*/ 0 h 4801314"/>
              <a:gd name="connsiteX0" fmla="*/ 0 w 6125496"/>
              <a:gd name="connsiteY0" fmla="*/ 0 h 4801314"/>
              <a:gd name="connsiteX1" fmla="*/ 6125496 w 6125496"/>
              <a:gd name="connsiteY1" fmla="*/ 29497 h 4801314"/>
              <a:gd name="connsiteX2" fmla="*/ 5604386 w 6125496"/>
              <a:gd name="connsiteY2" fmla="*/ 4801314 h 4801314"/>
              <a:gd name="connsiteX3" fmla="*/ 0 w 6125496"/>
              <a:gd name="connsiteY3" fmla="*/ 4801314 h 4801314"/>
              <a:gd name="connsiteX4" fmla="*/ 0 w 6125496"/>
              <a:gd name="connsiteY4" fmla="*/ 0 h 4801314"/>
              <a:gd name="connsiteX0" fmla="*/ 0 w 6125496"/>
              <a:gd name="connsiteY0" fmla="*/ 0 h 4801314"/>
              <a:gd name="connsiteX1" fmla="*/ 6125496 w 6125496"/>
              <a:gd name="connsiteY1" fmla="*/ 29497 h 4801314"/>
              <a:gd name="connsiteX2" fmla="*/ 5604386 w 6125496"/>
              <a:gd name="connsiteY2" fmla="*/ 4801314 h 4801314"/>
              <a:gd name="connsiteX3" fmla="*/ 0 w 6125496"/>
              <a:gd name="connsiteY3" fmla="*/ 4801314 h 4801314"/>
              <a:gd name="connsiteX4" fmla="*/ 0 w 6125496"/>
              <a:gd name="connsiteY4" fmla="*/ 0 h 4801314"/>
              <a:gd name="connsiteX0" fmla="*/ 0 w 6125496"/>
              <a:gd name="connsiteY0" fmla="*/ 0 h 4801314"/>
              <a:gd name="connsiteX1" fmla="*/ 6125496 w 6125496"/>
              <a:gd name="connsiteY1" fmla="*/ 29497 h 4801314"/>
              <a:gd name="connsiteX2" fmla="*/ 5604386 w 6125496"/>
              <a:gd name="connsiteY2" fmla="*/ 4801314 h 4801314"/>
              <a:gd name="connsiteX3" fmla="*/ 0 w 6125496"/>
              <a:gd name="connsiteY3" fmla="*/ 4801314 h 4801314"/>
              <a:gd name="connsiteX4" fmla="*/ 0 w 6125496"/>
              <a:gd name="connsiteY4" fmla="*/ 0 h 4801314"/>
              <a:gd name="connsiteX0" fmla="*/ 0 w 6125496"/>
              <a:gd name="connsiteY0" fmla="*/ 0 h 4801314"/>
              <a:gd name="connsiteX1" fmla="*/ 6125496 w 6125496"/>
              <a:gd name="connsiteY1" fmla="*/ 29497 h 4801314"/>
              <a:gd name="connsiteX2" fmla="*/ 5447070 w 6125496"/>
              <a:gd name="connsiteY2" fmla="*/ 4594836 h 4801314"/>
              <a:gd name="connsiteX3" fmla="*/ 0 w 6125496"/>
              <a:gd name="connsiteY3" fmla="*/ 4801314 h 4801314"/>
              <a:gd name="connsiteX4" fmla="*/ 0 w 6125496"/>
              <a:gd name="connsiteY4" fmla="*/ 0 h 4801314"/>
              <a:gd name="connsiteX0" fmla="*/ 0 w 6411602"/>
              <a:gd name="connsiteY0" fmla="*/ 0 h 4801314"/>
              <a:gd name="connsiteX1" fmla="*/ 6125496 w 6411602"/>
              <a:gd name="connsiteY1" fmla="*/ 29497 h 4801314"/>
              <a:gd name="connsiteX2" fmla="*/ 5407741 w 6411602"/>
              <a:gd name="connsiteY2" fmla="*/ 2001948 h 4801314"/>
              <a:gd name="connsiteX3" fmla="*/ 5447070 w 6411602"/>
              <a:gd name="connsiteY3" fmla="*/ 4594836 h 4801314"/>
              <a:gd name="connsiteX4" fmla="*/ 0 w 6411602"/>
              <a:gd name="connsiteY4" fmla="*/ 4801314 h 4801314"/>
              <a:gd name="connsiteX5" fmla="*/ 0 w 6411602"/>
              <a:gd name="connsiteY5" fmla="*/ 0 h 4801314"/>
              <a:gd name="connsiteX0" fmla="*/ 0 w 6368334"/>
              <a:gd name="connsiteY0" fmla="*/ 0 h 4801314"/>
              <a:gd name="connsiteX1" fmla="*/ 6125496 w 6368334"/>
              <a:gd name="connsiteY1" fmla="*/ 29497 h 4801314"/>
              <a:gd name="connsiteX2" fmla="*/ 5024283 w 6368334"/>
              <a:gd name="connsiteY2" fmla="*/ 1972452 h 4801314"/>
              <a:gd name="connsiteX3" fmla="*/ 5447070 w 6368334"/>
              <a:gd name="connsiteY3" fmla="*/ 4594836 h 4801314"/>
              <a:gd name="connsiteX4" fmla="*/ 0 w 6368334"/>
              <a:gd name="connsiteY4" fmla="*/ 4801314 h 4801314"/>
              <a:gd name="connsiteX5" fmla="*/ 0 w 6368334"/>
              <a:gd name="connsiteY5" fmla="*/ 0 h 4801314"/>
              <a:gd name="connsiteX0" fmla="*/ 0 w 6368334"/>
              <a:gd name="connsiteY0" fmla="*/ 0 h 4801314"/>
              <a:gd name="connsiteX1" fmla="*/ 6125496 w 6368334"/>
              <a:gd name="connsiteY1" fmla="*/ 29497 h 4801314"/>
              <a:gd name="connsiteX2" fmla="*/ 5024283 w 6368334"/>
              <a:gd name="connsiteY2" fmla="*/ 1972452 h 4801314"/>
              <a:gd name="connsiteX3" fmla="*/ 4965290 w 6368334"/>
              <a:gd name="connsiteY3" fmla="*/ 3722593 h 4801314"/>
              <a:gd name="connsiteX4" fmla="*/ 5447070 w 6368334"/>
              <a:gd name="connsiteY4" fmla="*/ 4594836 h 4801314"/>
              <a:gd name="connsiteX5" fmla="*/ 0 w 6368334"/>
              <a:gd name="connsiteY5" fmla="*/ 4801314 h 4801314"/>
              <a:gd name="connsiteX6" fmla="*/ 0 w 6368334"/>
              <a:gd name="connsiteY6" fmla="*/ 0 h 4801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68334" h="4801314">
                <a:moveTo>
                  <a:pt x="0" y="0"/>
                </a:moveTo>
                <a:lnTo>
                  <a:pt x="6125496" y="29497"/>
                </a:lnTo>
                <a:cubicBezTo>
                  <a:pt x="7026786" y="363155"/>
                  <a:pt x="5137354" y="1211562"/>
                  <a:pt x="5024283" y="1972452"/>
                </a:cubicBezTo>
                <a:cubicBezTo>
                  <a:pt x="4929238" y="2547000"/>
                  <a:pt x="4894826" y="3285529"/>
                  <a:pt x="4965290" y="3722593"/>
                </a:cubicBezTo>
                <a:cubicBezTo>
                  <a:pt x="5035754" y="4159657"/>
                  <a:pt x="6372941" y="4374082"/>
                  <a:pt x="5447070" y="4594836"/>
                </a:cubicBezTo>
                <a:lnTo>
                  <a:pt x="0" y="4801314"/>
                </a:lnTo>
                <a:lnTo>
                  <a:pt x="0" y="0"/>
                </a:lnTo>
                <a:close/>
              </a:path>
            </a:pathLst>
          </a:custGeom>
          <a:noFill/>
        </p:spPr>
        <p:txBody>
          <a:bodyPr wrap="square" rtlCol="0">
            <a:spAutoFit/>
          </a:bodyPr>
          <a:lstStyle/>
          <a:p>
            <a:pPr algn="just"/>
            <a:r>
              <a:rPr lang="en-US" sz="1600" b="0" i="0" dirty="0">
                <a:solidFill>
                  <a:srgbClr val="374151"/>
                </a:solidFill>
                <a:effectLst/>
                <a:latin typeface="Arial" panose="020B0604020202020204" pitchFamily="34" charset="0"/>
                <a:cs typeface="Arial" panose="020B0604020202020204" pitchFamily="34" charset="0"/>
              </a:rPr>
              <a:t>Financial inclusion, as a key driver of economic and social development, plays a crucial role in empowering vulnerable populations and growing local economies. In Côte d'Ivoire, rural populations, particularly women, have long faced difficulties accessing formal financial services, hampering their opportunities for economic growth and their participation in financial life. To address this challenge, the Ivorian government launched the National Financial Inclusion Strategy (SNIF 2019-2024), aimed at facilitating access to formal financial products and services for vulnerable populations. This study will aim to map all Village Savings Loan Associations (VSLAs) in the NAWA region.</a:t>
            </a:r>
          </a:p>
          <a:p>
            <a:pPr algn="just"/>
            <a:r>
              <a:rPr lang="en-US" sz="1600" b="0" i="0" dirty="0">
                <a:solidFill>
                  <a:srgbClr val="374151"/>
                </a:solidFill>
                <a:effectLst/>
                <a:latin typeface="Arial" panose="020B0604020202020204" pitchFamily="34" charset="0"/>
                <a:cs typeface="Arial" panose="020B0604020202020204" pitchFamily="34" charset="0"/>
              </a:rPr>
              <a:t>In the following, we will present the methodological approach adopted, the digital mapping, the challenges encountered, and some recommendations.</a:t>
            </a:r>
            <a:endParaRPr lang="fr-FR" sz="1600" dirty="0">
              <a:solidFill>
                <a:srgbClr val="374151"/>
              </a:solidFill>
              <a:latin typeface="Arial" panose="020B060402020202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47310ABE-BE56-C2A3-2E8E-3BA71F217CC0}"/>
              </a:ext>
            </a:extLst>
          </p:cNvPr>
          <p:cNvSpPr txBox="1"/>
          <p:nvPr/>
        </p:nvSpPr>
        <p:spPr>
          <a:xfrm>
            <a:off x="324463" y="268070"/>
            <a:ext cx="4916133" cy="707886"/>
          </a:xfrm>
          <a:prstGeom prst="rect">
            <a:avLst/>
          </a:prstGeom>
          <a:noFill/>
        </p:spPr>
        <p:txBody>
          <a:bodyPr wrap="square" rtlCol="0">
            <a:spAutoFit/>
          </a:bodyPr>
          <a:lstStyle/>
          <a:p>
            <a:r>
              <a:rPr lang="fr-FR" sz="4000" b="1" dirty="0">
                <a:solidFill>
                  <a:srgbClr val="F0632D"/>
                </a:solidFill>
                <a:latin typeface="Arial" panose="020B0604020202020204" pitchFamily="34" charset="0"/>
                <a:cs typeface="Arial" panose="020B0604020202020204" pitchFamily="34" charset="0"/>
              </a:rPr>
              <a:t>Introduction</a:t>
            </a:r>
          </a:p>
        </p:txBody>
      </p:sp>
    </p:spTree>
    <p:extLst>
      <p:ext uri="{BB962C8B-B14F-4D97-AF65-F5344CB8AC3E}">
        <p14:creationId xmlns:p14="http://schemas.microsoft.com/office/powerpoint/2010/main" val="41482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66ED9C1D-80AA-44D1-1B78-6C373B89BE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24128" y="0"/>
            <a:ext cx="12192000" cy="6858000"/>
          </a:xfrm>
          <a:prstGeom prst="rect">
            <a:avLst/>
          </a:prstGeom>
        </p:spPr>
      </p:pic>
      <p:sp>
        <p:nvSpPr>
          <p:cNvPr id="10" name="ZoneTexte 9">
            <a:extLst>
              <a:ext uri="{FF2B5EF4-FFF2-40B4-BE49-F238E27FC236}">
                <a16:creationId xmlns:a16="http://schemas.microsoft.com/office/drawing/2014/main" id="{47310ABE-BE56-C2A3-2E8E-3BA71F217CC0}"/>
              </a:ext>
            </a:extLst>
          </p:cNvPr>
          <p:cNvSpPr txBox="1"/>
          <p:nvPr/>
        </p:nvSpPr>
        <p:spPr>
          <a:xfrm>
            <a:off x="324463" y="268070"/>
            <a:ext cx="6864277" cy="707886"/>
          </a:xfrm>
          <a:prstGeom prst="rect">
            <a:avLst/>
          </a:prstGeom>
          <a:noFill/>
        </p:spPr>
        <p:txBody>
          <a:bodyPr wrap="square" rtlCol="0">
            <a:spAutoFit/>
          </a:bodyPr>
          <a:lstStyle/>
          <a:p>
            <a:r>
              <a:rPr lang="fr-FR" sz="4000" b="1" dirty="0" err="1">
                <a:solidFill>
                  <a:srgbClr val="F0632D"/>
                </a:solidFill>
                <a:latin typeface="Arial" panose="020B0604020202020204" pitchFamily="34" charset="0"/>
                <a:cs typeface="Arial" panose="020B0604020202020204" pitchFamily="34" charset="0"/>
              </a:rPr>
              <a:t>Approach</a:t>
            </a:r>
            <a:r>
              <a:rPr lang="fr-FR" sz="4000" b="1" dirty="0">
                <a:solidFill>
                  <a:srgbClr val="F0632D"/>
                </a:solidFill>
                <a:latin typeface="Arial" panose="020B0604020202020204" pitchFamily="34" charset="0"/>
                <a:cs typeface="Arial" panose="020B0604020202020204" pitchFamily="34" charset="0"/>
              </a:rPr>
              <a:t> </a:t>
            </a:r>
            <a:r>
              <a:rPr lang="fr-FR" sz="4000" b="1" dirty="0" err="1">
                <a:solidFill>
                  <a:srgbClr val="F0632D"/>
                </a:solidFill>
                <a:latin typeface="Arial" panose="020B0604020202020204" pitchFamily="34" charset="0"/>
                <a:cs typeface="Arial" panose="020B0604020202020204" pitchFamily="34" charset="0"/>
              </a:rPr>
              <a:t>Methodology</a:t>
            </a:r>
            <a:endParaRPr lang="fr-FR" sz="4000" b="1" dirty="0">
              <a:solidFill>
                <a:srgbClr val="F0632D"/>
              </a:solidFill>
              <a:latin typeface="Arial" panose="020B0604020202020204" pitchFamily="34" charset="0"/>
              <a:cs typeface="Arial" panose="020B0604020202020204" pitchFamily="34" charset="0"/>
            </a:endParaRPr>
          </a:p>
        </p:txBody>
      </p:sp>
      <p:sp>
        <p:nvSpPr>
          <p:cNvPr id="8" name="Rectangle 4">
            <a:extLst>
              <a:ext uri="{FF2B5EF4-FFF2-40B4-BE49-F238E27FC236}">
                <a16:creationId xmlns:a16="http://schemas.microsoft.com/office/drawing/2014/main" id="{7E53F6BB-D84F-C59B-3E74-4865BD3CCDCF}"/>
              </a:ext>
            </a:extLst>
          </p:cNvPr>
          <p:cNvSpPr>
            <a:spLocks noChangeArrowheads="1"/>
          </p:cNvSpPr>
          <p:nvPr/>
        </p:nvSpPr>
        <p:spPr bwMode="auto">
          <a:xfrm>
            <a:off x="359008" y="1105527"/>
            <a:ext cx="573699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1" algn="just" eaLnBrk="0" fontAlgn="base" hangingPunct="0">
              <a:spcBef>
                <a:spcPct val="0"/>
              </a:spcBef>
              <a:spcAft>
                <a:spcPct val="0"/>
              </a:spcAft>
            </a:pPr>
            <a:r>
              <a:rPr kumimoji="0" lang="en-US" altLang="fr-FR" b="1" i="0" u="none" strike="noStrike" cap="none" normalizeH="0" baseline="0" dirty="0">
                <a:ln>
                  <a:noFill/>
                </a:ln>
                <a:solidFill>
                  <a:schemeClr val="accent2"/>
                </a:solidFill>
                <a:effectLst/>
                <a:latin typeface="Arial" panose="020B0604020202020204" pitchFamily="34" charset="0"/>
              </a:rPr>
              <a:t>Recruitment and Training of Agents: </a:t>
            </a:r>
            <a:r>
              <a:rPr kumimoji="0" lang="en-US" altLang="fr-FR" b="1" i="0" u="none" strike="noStrike" cap="none" normalizeH="0" baseline="0" dirty="0">
                <a:ln>
                  <a:noFill/>
                </a:ln>
                <a:effectLst/>
                <a:latin typeface="Arial" panose="020B0604020202020204" pitchFamily="34" charset="0"/>
              </a:rPr>
              <a:t>Selection of interviewers based on their experience and knowledge of the study area.</a:t>
            </a:r>
          </a:p>
          <a:p>
            <a:pPr marL="0" lvl="1" algn="just" eaLnBrk="0" fontAlgn="base" hangingPunct="0">
              <a:spcBef>
                <a:spcPct val="0"/>
              </a:spcBef>
              <a:spcAft>
                <a:spcPct val="0"/>
              </a:spcAft>
            </a:pPr>
            <a:endParaRPr kumimoji="0" lang="en-US" altLang="fr-FR" b="1" i="0" u="none" strike="noStrike" cap="none" normalizeH="0" baseline="0" dirty="0">
              <a:ln>
                <a:noFill/>
              </a:ln>
              <a:solidFill>
                <a:schemeClr val="accent2"/>
              </a:solidFill>
              <a:effectLst/>
              <a:latin typeface="Arial" panose="020B0604020202020204" pitchFamily="34" charset="0"/>
            </a:endParaRPr>
          </a:p>
          <a:p>
            <a:pPr marL="0" lvl="1" algn="just" eaLnBrk="0" fontAlgn="base" hangingPunct="0">
              <a:spcBef>
                <a:spcPct val="0"/>
              </a:spcBef>
              <a:spcAft>
                <a:spcPct val="0"/>
              </a:spcAft>
            </a:pPr>
            <a:r>
              <a:rPr kumimoji="0" lang="en-US" altLang="fr-FR" b="1" i="0" u="none" strike="noStrike" cap="none" normalizeH="0" baseline="0" dirty="0">
                <a:ln>
                  <a:noFill/>
                </a:ln>
                <a:solidFill>
                  <a:schemeClr val="accent2"/>
                </a:solidFill>
                <a:effectLst/>
                <a:latin typeface="Arial" panose="020B0604020202020204" pitchFamily="34" charset="0"/>
              </a:rPr>
              <a:t>Organization of Data Collection: </a:t>
            </a:r>
            <a:r>
              <a:rPr kumimoji="0" lang="en-US" altLang="fr-FR" b="1" i="0" u="none" strike="noStrike" cap="none" normalizeH="0" baseline="0" dirty="0">
                <a:ln>
                  <a:noFill/>
                </a:ln>
                <a:effectLst/>
                <a:latin typeface="Arial" panose="020B0604020202020204" pitchFamily="34" charset="0"/>
              </a:rPr>
              <a:t>Distribution of work among sub-prefectures, collection method using CAPI (Computer Assisted Personal Interviewing) software called </a:t>
            </a:r>
            <a:r>
              <a:rPr kumimoji="0" lang="en-US" altLang="fr-FR" b="1" i="0" u="none" strike="noStrike" cap="none" normalizeH="0" baseline="0" dirty="0" err="1">
                <a:ln>
                  <a:noFill/>
                </a:ln>
                <a:effectLst/>
                <a:latin typeface="Arial" panose="020B0604020202020204" pitchFamily="34" charset="0"/>
              </a:rPr>
              <a:t>Kobotoolbox</a:t>
            </a:r>
            <a:r>
              <a:rPr kumimoji="0" lang="en-US" altLang="fr-FR" b="1" i="0" u="none" strike="noStrike" cap="none" normalizeH="0" baseline="0" dirty="0">
                <a:ln>
                  <a:noFill/>
                </a:ln>
                <a:effectLst/>
                <a:latin typeface="Arial" panose="020B0604020202020204" pitchFamily="34" charset="0"/>
              </a:rPr>
              <a:t>, and management of access constraints.</a:t>
            </a:r>
          </a:p>
          <a:p>
            <a:pPr marL="0" lvl="1" algn="just" eaLnBrk="0" fontAlgn="base" hangingPunct="0">
              <a:spcBef>
                <a:spcPct val="0"/>
              </a:spcBef>
              <a:spcAft>
                <a:spcPct val="0"/>
              </a:spcAft>
            </a:pPr>
            <a:endParaRPr kumimoji="0" lang="en-US" altLang="fr-FR" b="1" i="0" u="none" strike="noStrike" cap="none" normalizeH="0" baseline="0" dirty="0">
              <a:ln>
                <a:noFill/>
              </a:ln>
              <a:solidFill>
                <a:schemeClr val="accent2"/>
              </a:solidFill>
              <a:effectLst/>
              <a:latin typeface="Arial" panose="020B0604020202020204" pitchFamily="34" charset="0"/>
            </a:endParaRPr>
          </a:p>
          <a:p>
            <a:pPr marL="0" lvl="1" algn="just" eaLnBrk="0" fontAlgn="base" hangingPunct="0">
              <a:spcBef>
                <a:spcPct val="0"/>
              </a:spcBef>
              <a:spcAft>
                <a:spcPct val="0"/>
              </a:spcAft>
            </a:pPr>
            <a:r>
              <a:rPr kumimoji="0" lang="en-US" altLang="fr-FR" b="1" i="0" u="none" strike="noStrike" cap="none" normalizeH="0" baseline="0" dirty="0">
                <a:ln>
                  <a:noFill/>
                </a:ln>
                <a:solidFill>
                  <a:schemeClr val="accent2"/>
                </a:solidFill>
                <a:effectLst/>
                <a:latin typeface="Arial" panose="020B0604020202020204" pitchFamily="34" charset="0"/>
              </a:rPr>
              <a:t>Data Collection Process: </a:t>
            </a:r>
            <a:r>
              <a:rPr kumimoji="0" lang="en-US" altLang="fr-FR" b="1" i="0" u="none" strike="noStrike" cap="none" normalizeH="0" baseline="0" dirty="0">
                <a:ln>
                  <a:noFill/>
                </a:ln>
                <a:effectLst/>
                <a:latin typeface="Arial" panose="020B0604020202020204" pitchFamily="34" charset="0"/>
              </a:rPr>
              <a:t>Collection period, logistical challenges (access to camps), and adaptation to new unlisted VSLAs.</a:t>
            </a:r>
            <a:endParaRPr kumimoji="0" lang="fr-FR" altLang="fr-FR"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042269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0ACA5-DD8B-1FDE-5539-489FD9786B99}"/>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BE35F49C-5DB9-1D9C-D16D-5FD5C99BF69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24128" y="0"/>
            <a:ext cx="12192000" cy="6858000"/>
          </a:xfrm>
          <a:prstGeom prst="rect">
            <a:avLst/>
          </a:prstGeom>
        </p:spPr>
      </p:pic>
      <p:sp>
        <p:nvSpPr>
          <p:cNvPr id="10" name="ZoneTexte 9">
            <a:extLst>
              <a:ext uri="{FF2B5EF4-FFF2-40B4-BE49-F238E27FC236}">
                <a16:creationId xmlns:a16="http://schemas.microsoft.com/office/drawing/2014/main" id="{DDA32792-10E5-3156-2BF6-6453D4782A2D}"/>
              </a:ext>
            </a:extLst>
          </p:cNvPr>
          <p:cNvSpPr txBox="1"/>
          <p:nvPr/>
        </p:nvSpPr>
        <p:spPr>
          <a:xfrm>
            <a:off x="324463" y="0"/>
            <a:ext cx="6864277" cy="1323439"/>
          </a:xfrm>
          <a:prstGeom prst="rect">
            <a:avLst/>
          </a:prstGeom>
          <a:noFill/>
        </p:spPr>
        <p:txBody>
          <a:bodyPr wrap="square" rtlCol="0">
            <a:spAutoFit/>
          </a:bodyPr>
          <a:lstStyle/>
          <a:p>
            <a:r>
              <a:rPr lang="en-US" sz="4000" b="1" dirty="0">
                <a:solidFill>
                  <a:srgbClr val="F0632D"/>
                </a:solidFill>
                <a:latin typeface="Arial" panose="020B0604020202020204" pitchFamily="34" charset="0"/>
                <a:cs typeface="Arial" panose="020B0604020202020204" pitchFamily="34" charset="0"/>
              </a:rPr>
              <a:t>Presentation of Digital Mapping (</a:t>
            </a:r>
            <a:r>
              <a:rPr lang="en-US" sz="4000" b="1" dirty="0" err="1">
                <a:solidFill>
                  <a:srgbClr val="F0632D"/>
                </a:solidFill>
                <a:latin typeface="Arial" panose="020B0604020202020204" pitchFamily="34" charset="0"/>
                <a:cs typeface="Arial" panose="020B0604020202020204" pitchFamily="34" charset="0"/>
              </a:rPr>
              <a:t>Webmapping</a:t>
            </a:r>
            <a:r>
              <a:rPr lang="en-US" sz="4000" b="1" dirty="0">
                <a:solidFill>
                  <a:srgbClr val="F0632D"/>
                </a:solidFill>
                <a:latin typeface="Arial" panose="020B0604020202020204" pitchFamily="34" charset="0"/>
                <a:cs typeface="Arial" panose="020B0604020202020204" pitchFamily="34" charset="0"/>
              </a:rPr>
              <a:t>)</a:t>
            </a:r>
            <a:endParaRPr lang="fr-FR" sz="4000" b="1" dirty="0">
              <a:solidFill>
                <a:srgbClr val="F0632D"/>
              </a:solidFill>
              <a:latin typeface="Arial" panose="020B0604020202020204" pitchFamily="34" charset="0"/>
              <a:cs typeface="Arial" panose="020B0604020202020204" pitchFamily="34" charset="0"/>
            </a:endParaRPr>
          </a:p>
        </p:txBody>
      </p:sp>
      <p:sp>
        <p:nvSpPr>
          <p:cNvPr id="8" name="Rectangle 4">
            <a:extLst>
              <a:ext uri="{FF2B5EF4-FFF2-40B4-BE49-F238E27FC236}">
                <a16:creationId xmlns:a16="http://schemas.microsoft.com/office/drawing/2014/main" id="{B8789D6B-1F94-1D0A-BF73-D257569AFF3E}"/>
              </a:ext>
            </a:extLst>
          </p:cNvPr>
          <p:cNvSpPr>
            <a:spLocks noChangeArrowheads="1"/>
          </p:cNvSpPr>
          <p:nvPr/>
        </p:nvSpPr>
        <p:spPr bwMode="auto">
          <a:xfrm>
            <a:off x="359008" y="1938993"/>
            <a:ext cx="573699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b="1" dirty="0">
                <a:solidFill>
                  <a:schemeClr val="accent2"/>
                </a:solidFill>
              </a:rPr>
              <a:t>Presentation of Digital Mapping (</a:t>
            </a:r>
            <a:r>
              <a:rPr lang="en-US" b="1" dirty="0" err="1">
                <a:solidFill>
                  <a:schemeClr val="accent2"/>
                </a:solidFill>
              </a:rPr>
              <a:t>Webmapping</a:t>
            </a:r>
            <a:r>
              <a:rPr lang="en-US" b="1" dirty="0">
                <a:solidFill>
                  <a:schemeClr val="accent2"/>
                </a:solidFill>
              </a:rPr>
              <a:t>): </a:t>
            </a:r>
            <a:r>
              <a:rPr lang="en-US" dirty="0"/>
              <a:t>The objective of the online mapping is to visualize the distribution of AVECs and financial institutions in the Nawa region.</a:t>
            </a:r>
          </a:p>
          <a:p>
            <a:pPr algn="just"/>
            <a:r>
              <a:rPr lang="fr-FR" b="1" dirty="0">
                <a:solidFill>
                  <a:schemeClr val="accent2"/>
                </a:solidFill>
              </a:rPr>
              <a:t>Data </a:t>
            </a:r>
            <a:r>
              <a:rPr lang="fr-FR" b="1" dirty="0" err="1">
                <a:solidFill>
                  <a:schemeClr val="accent2"/>
                </a:solidFill>
              </a:rPr>
              <a:t>layers</a:t>
            </a:r>
            <a:r>
              <a:rPr lang="fr-FR" dirty="0">
                <a:solidFill>
                  <a:schemeClr val="accent2"/>
                </a:solidFill>
              </a:rPr>
              <a:t>:</a:t>
            </a:r>
            <a:r>
              <a:rPr lang="fr-FR" dirty="0"/>
              <a:t> </a:t>
            </a:r>
            <a:r>
              <a:rPr lang="en-US" dirty="0"/>
              <a:t>Location of AVECs, financial institutions, and sub-prefectures. Using PostgreSQL and </a:t>
            </a:r>
            <a:r>
              <a:rPr lang="en-US" dirty="0" err="1"/>
              <a:t>PostGIS</a:t>
            </a:r>
            <a:r>
              <a:rPr lang="fr-FR" dirty="0"/>
              <a:t>.</a:t>
            </a:r>
          </a:p>
          <a:p>
            <a:pPr algn="just"/>
            <a:r>
              <a:rPr lang="fr-FR" b="1" dirty="0">
                <a:solidFill>
                  <a:schemeClr val="accent2"/>
                </a:solidFill>
              </a:rPr>
              <a:t>Interactive </a:t>
            </a:r>
            <a:r>
              <a:rPr lang="fr-FR" b="1" dirty="0" err="1">
                <a:solidFill>
                  <a:schemeClr val="accent2"/>
                </a:solidFill>
              </a:rPr>
              <a:t>Features</a:t>
            </a:r>
            <a:r>
              <a:rPr lang="fr-FR" dirty="0">
                <a:solidFill>
                  <a:schemeClr val="accent2"/>
                </a:solidFill>
              </a:rPr>
              <a:t>:</a:t>
            </a:r>
          </a:p>
          <a:p>
            <a:pPr marL="742950" lvl="1" indent="-285750" algn="just">
              <a:buFont typeface="Arial" panose="020B0604020202020204" pitchFamily="34" charset="0"/>
              <a:buChar char="•"/>
            </a:pPr>
            <a:r>
              <a:rPr lang="en-US" dirty="0"/>
              <a:t>Dynamic tooltips for each data point.</a:t>
            </a:r>
          </a:p>
          <a:p>
            <a:pPr marL="742950" lvl="1" indent="-285750" algn="just">
              <a:buFont typeface="Arial" panose="020B0604020202020204" pitchFamily="34" charset="0"/>
              <a:buChar char="•"/>
            </a:pPr>
            <a:r>
              <a:rPr lang="en-US" dirty="0"/>
              <a:t>Advanced filtering by financial service type and sub-prefecture.</a:t>
            </a:r>
          </a:p>
          <a:p>
            <a:pPr marL="742950" lvl="1" indent="-285750" algn="just">
              <a:buFont typeface="Arial" panose="020B0604020202020204" pitchFamily="34" charset="0"/>
              <a:buChar char="•"/>
            </a:pPr>
            <a:r>
              <a:rPr lang="en-US" dirty="0"/>
              <a:t>Spatial analysis with tools such as isochrones to measure accessibility.</a:t>
            </a:r>
          </a:p>
          <a:p>
            <a:pPr marL="742950" lvl="1" indent="-285750" algn="just">
              <a:buFont typeface="Arial" panose="020B0604020202020204" pitchFamily="34" charset="0"/>
              <a:buChar char="•"/>
            </a:pPr>
            <a:r>
              <a:rPr lang="fr-FR" dirty="0">
                <a:solidFill>
                  <a:schemeClr val="accent2"/>
                </a:solidFill>
                <a:hlinkClick r:id="rId3">
                  <a:extLst>
                    <a:ext uri="{A12FA001-AC4F-418D-AE19-62706E023703}">
                      <ahyp:hlinkClr xmlns:ahyp="http://schemas.microsoft.com/office/drawing/2018/hyperlinkcolor" val="tx"/>
                    </a:ext>
                  </a:extLst>
                </a:hlinkClick>
              </a:rPr>
              <a:t>Allons à la carte en ligne</a:t>
            </a:r>
            <a:r>
              <a:rPr lang="fr-FR" dirty="0">
                <a:solidFill>
                  <a:schemeClr val="accent2"/>
                </a:solidFill>
              </a:rPr>
              <a:t>  / </a:t>
            </a:r>
            <a:r>
              <a:rPr lang="en-US" dirty="0">
                <a:solidFill>
                  <a:schemeClr val="accent2"/>
                </a:solidFill>
              </a:rPr>
              <a:t>Let's go to the online map</a:t>
            </a:r>
            <a:endParaRPr lang="fr-FR" dirty="0">
              <a:solidFill>
                <a:schemeClr val="accent2"/>
              </a:solidFill>
            </a:endParaRPr>
          </a:p>
        </p:txBody>
      </p:sp>
    </p:spTree>
    <p:extLst>
      <p:ext uri="{BB962C8B-B14F-4D97-AF65-F5344CB8AC3E}">
        <p14:creationId xmlns:p14="http://schemas.microsoft.com/office/powerpoint/2010/main" val="1711536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8FDD8-5D54-EF96-28C8-6E845D4A6557}"/>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29F7255E-6553-792E-476E-2F6BA8742A6A}"/>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ZoneTexte 9">
            <a:extLst>
              <a:ext uri="{FF2B5EF4-FFF2-40B4-BE49-F238E27FC236}">
                <a16:creationId xmlns:a16="http://schemas.microsoft.com/office/drawing/2014/main" id="{9A261624-3A30-1EC1-38AE-9BD611AAD3E2}"/>
              </a:ext>
            </a:extLst>
          </p:cNvPr>
          <p:cNvSpPr txBox="1"/>
          <p:nvPr/>
        </p:nvSpPr>
        <p:spPr>
          <a:xfrm>
            <a:off x="98899" y="105412"/>
            <a:ext cx="8294243" cy="707886"/>
          </a:xfrm>
          <a:prstGeom prst="rect">
            <a:avLst/>
          </a:prstGeom>
          <a:noFill/>
        </p:spPr>
        <p:txBody>
          <a:bodyPr wrap="square" rtlCol="0">
            <a:spAutoFit/>
          </a:bodyPr>
          <a:lstStyle/>
          <a:p>
            <a:r>
              <a:rPr lang="fr-FR" sz="4000" b="1" dirty="0" err="1">
                <a:solidFill>
                  <a:schemeClr val="accent2">
                    <a:lumMod val="75000"/>
                  </a:schemeClr>
                </a:solidFill>
                <a:latin typeface="Arial" panose="020B0604020202020204" pitchFamily="34" charset="0"/>
                <a:cs typeface="Arial" panose="020B0604020202020204" pitchFamily="34" charset="0"/>
              </a:rPr>
              <a:t>Some</a:t>
            </a:r>
            <a:r>
              <a:rPr lang="fr-FR" sz="4000" b="1" dirty="0">
                <a:solidFill>
                  <a:schemeClr val="accent2">
                    <a:lumMod val="75000"/>
                  </a:schemeClr>
                </a:solidFill>
                <a:latin typeface="Arial" panose="020B0604020202020204" pitchFamily="34" charset="0"/>
                <a:cs typeface="Arial" panose="020B0604020202020204" pitchFamily="34" charset="0"/>
              </a:rPr>
              <a:t> </a:t>
            </a:r>
            <a:r>
              <a:rPr lang="fr-FR" sz="4000" b="1" dirty="0" err="1">
                <a:solidFill>
                  <a:schemeClr val="accent2">
                    <a:lumMod val="75000"/>
                  </a:schemeClr>
                </a:solidFill>
                <a:latin typeface="Arial" panose="020B0604020202020204" pitchFamily="34" charset="0"/>
                <a:cs typeface="Arial" panose="020B0604020202020204" pitchFamily="34" charset="0"/>
              </a:rPr>
              <a:t>results</a:t>
            </a:r>
            <a:r>
              <a:rPr lang="fr-FR" sz="4000" b="1" dirty="0">
                <a:solidFill>
                  <a:schemeClr val="accent2">
                    <a:lumMod val="75000"/>
                  </a:schemeClr>
                </a:solidFill>
                <a:latin typeface="Arial" panose="020B0604020202020204" pitchFamily="34" charset="0"/>
                <a:cs typeface="Arial" panose="020B0604020202020204" pitchFamily="34" charset="0"/>
              </a:rPr>
              <a:t> </a:t>
            </a:r>
            <a:r>
              <a:rPr lang="fr-FR" sz="4000" b="1" dirty="0" err="1">
                <a:solidFill>
                  <a:schemeClr val="accent2">
                    <a:lumMod val="75000"/>
                  </a:schemeClr>
                </a:solidFill>
                <a:latin typeface="Arial" panose="020B0604020202020204" pitchFamily="34" charset="0"/>
                <a:cs typeface="Arial" panose="020B0604020202020204" pitchFamily="34" charset="0"/>
              </a:rPr>
              <a:t>obtained</a:t>
            </a:r>
            <a:endParaRPr lang="fr-FR" sz="4000" b="1" dirty="0">
              <a:solidFill>
                <a:schemeClr val="accent2">
                  <a:lumMod val="75000"/>
                </a:schemeClr>
              </a:solidFill>
              <a:latin typeface="Arial" panose="020B0604020202020204" pitchFamily="34" charset="0"/>
              <a:cs typeface="Arial" panose="020B0604020202020204" pitchFamily="34" charset="0"/>
            </a:endParaRPr>
          </a:p>
        </p:txBody>
      </p:sp>
      <p:graphicFrame>
        <p:nvGraphicFramePr>
          <p:cNvPr id="3" name="Tableau 2">
            <a:extLst>
              <a:ext uri="{FF2B5EF4-FFF2-40B4-BE49-F238E27FC236}">
                <a16:creationId xmlns:a16="http://schemas.microsoft.com/office/drawing/2014/main" id="{91FF3034-8CED-54CA-6B2C-C12377369C85}"/>
              </a:ext>
            </a:extLst>
          </p:cNvPr>
          <p:cNvGraphicFramePr>
            <a:graphicFrameLocks noGrp="1"/>
          </p:cNvGraphicFramePr>
          <p:nvPr>
            <p:extLst>
              <p:ext uri="{D42A27DB-BD31-4B8C-83A1-F6EECF244321}">
                <p14:modId xmlns:p14="http://schemas.microsoft.com/office/powerpoint/2010/main" val="524636126"/>
              </p:ext>
            </p:extLst>
          </p:nvPr>
        </p:nvGraphicFramePr>
        <p:xfrm>
          <a:off x="293452" y="918710"/>
          <a:ext cx="11780194" cy="2213598"/>
        </p:xfrm>
        <a:graphic>
          <a:graphicData uri="http://schemas.openxmlformats.org/drawingml/2006/table">
            <a:tbl>
              <a:tblPr/>
              <a:tblGrid>
                <a:gridCol w="1196111">
                  <a:extLst>
                    <a:ext uri="{9D8B030D-6E8A-4147-A177-3AD203B41FA5}">
                      <a16:colId xmlns:a16="http://schemas.microsoft.com/office/drawing/2014/main" val="644601116"/>
                    </a:ext>
                  </a:extLst>
                </a:gridCol>
                <a:gridCol w="552824">
                  <a:extLst>
                    <a:ext uri="{9D8B030D-6E8A-4147-A177-3AD203B41FA5}">
                      <a16:colId xmlns:a16="http://schemas.microsoft.com/office/drawing/2014/main" val="1135039490"/>
                    </a:ext>
                  </a:extLst>
                </a:gridCol>
                <a:gridCol w="1069607">
                  <a:extLst>
                    <a:ext uri="{9D8B030D-6E8A-4147-A177-3AD203B41FA5}">
                      <a16:colId xmlns:a16="http://schemas.microsoft.com/office/drawing/2014/main" val="2969965508"/>
                    </a:ext>
                  </a:extLst>
                </a:gridCol>
                <a:gridCol w="1173971">
                  <a:extLst>
                    <a:ext uri="{9D8B030D-6E8A-4147-A177-3AD203B41FA5}">
                      <a16:colId xmlns:a16="http://schemas.microsoft.com/office/drawing/2014/main" val="2055981056"/>
                    </a:ext>
                  </a:extLst>
                </a:gridCol>
                <a:gridCol w="1113249">
                  <a:extLst>
                    <a:ext uri="{9D8B030D-6E8A-4147-A177-3AD203B41FA5}">
                      <a16:colId xmlns:a16="http://schemas.microsoft.com/office/drawing/2014/main" val="2667915726"/>
                    </a:ext>
                  </a:extLst>
                </a:gridCol>
                <a:gridCol w="1518067">
                  <a:extLst>
                    <a:ext uri="{9D8B030D-6E8A-4147-A177-3AD203B41FA5}">
                      <a16:colId xmlns:a16="http://schemas.microsoft.com/office/drawing/2014/main" val="4116312069"/>
                    </a:ext>
                  </a:extLst>
                </a:gridCol>
                <a:gridCol w="1266487">
                  <a:extLst>
                    <a:ext uri="{9D8B030D-6E8A-4147-A177-3AD203B41FA5}">
                      <a16:colId xmlns:a16="http://schemas.microsoft.com/office/drawing/2014/main" val="3028071949"/>
                    </a:ext>
                  </a:extLst>
                </a:gridCol>
                <a:gridCol w="794057">
                  <a:extLst>
                    <a:ext uri="{9D8B030D-6E8A-4147-A177-3AD203B41FA5}">
                      <a16:colId xmlns:a16="http://schemas.microsoft.com/office/drawing/2014/main" val="2793714342"/>
                    </a:ext>
                  </a:extLst>
                </a:gridCol>
                <a:gridCol w="1296625">
                  <a:extLst>
                    <a:ext uri="{9D8B030D-6E8A-4147-A177-3AD203B41FA5}">
                      <a16:colId xmlns:a16="http://schemas.microsoft.com/office/drawing/2014/main" val="603179390"/>
                    </a:ext>
                  </a:extLst>
                </a:gridCol>
                <a:gridCol w="1799196">
                  <a:extLst>
                    <a:ext uri="{9D8B030D-6E8A-4147-A177-3AD203B41FA5}">
                      <a16:colId xmlns:a16="http://schemas.microsoft.com/office/drawing/2014/main" val="1012724195"/>
                    </a:ext>
                  </a:extLst>
                </a:gridCol>
              </a:tblGrid>
              <a:tr h="857006">
                <a:tc>
                  <a:txBody>
                    <a:bodyPr/>
                    <a:lstStyle/>
                    <a:p>
                      <a:pPr rtl="0" fontAlgn="ctr"/>
                      <a:r>
                        <a:rPr lang="fr-CI" sz="1400" b="0" dirty="0" err="1">
                          <a:solidFill>
                            <a:srgbClr val="FFFFFF"/>
                          </a:solidFill>
                          <a:effectLst/>
                          <a:latin typeface="Roboto" pitchFamily="2" charset="0"/>
                        </a:rPr>
                        <a:t>Sub-prefecture</a:t>
                      </a:r>
                      <a:endParaRPr lang="fr-CI" sz="1400" b="0" dirty="0">
                        <a:solidFill>
                          <a:srgbClr val="FFFFFF"/>
                        </a:solidFill>
                        <a:effectLst/>
                        <a:latin typeface="Roboto" pitchFamily="2" charset="0"/>
                      </a:endParaRPr>
                    </a:p>
                  </a:txBody>
                  <a:tcPr marL="36136" marR="36136" marT="0" marB="0" anchor="ctr">
                    <a:lnL w="7620" cap="flat" cmpd="sng" algn="ctr">
                      <a:solidFill>
                        <a:srgbClr val="3E4791"/>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err="1">
                          <a:solidFill>
                            <a:srgbClr val="FFFFFF"/>
                          </a:solidFill>
                          <a:effectLst/>
                          <a:latin typeface="Roboto" pitchFamily="2" charset="0"/>
                        </a:rPr>
                        <a:t>Number</a:t>
                      </a:r>
                      <a:r>
                        <a:rPr lang="fr-CI" sz="1400" b="0" dirty="0">
                          <a:solidFill>
                            <a:srgbClr val="FFFFFF"/>
                          </a:solidFill>
                          <a:effectLst/>
                          <a:latin typeface="Roboto" pitchFamily="2" charset="0"/>
                        </a:rPr>
                        <a:t> of WITH</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a:solidFill>
                            <a:srgbClr val="FFFFFF"/>
                          </a:solidFill>
                          <a:effectLst/>
                          <a:latin typeface="Roboto" pitchFamily="2" charset="0"/>
                        </a:rPr>
                        <a:t>Total </a:t>
                      </a:r>
                      <a:r>
                        <a:rPr lang="fr-CI" sz="1400" b="0" dirty="0" err="1">
                          <a:solidFill>
                            <a:srgbClr val="FFFFFF"/>
                          </a:solidFill>
                          <a:effectLst/>
                          <a:latin typeface="Roboto" pitchFamily="2" charset="0"/>
                        </a:rPr>
                        <a:t>number</a:t>
                      </a:r>
                      <a:r>
                        <a:rPr lang="fr-CI" sz="1400" b="0" dirty="0">
                          <a:solidFill>
                            <a:srgbClr val="FFFFFF"/>
                          </a:solidFill>
                          <a:effectLst/>
                          <a:latin typeface="Roboto" pitchFamily="2" charset="0"/>
                        </a:rPr>
                        <a:t> of </a:t>
                      </a:r>
                      <a:r>
                        <a:rPr lang="fr-CI" sz="1400" b="0" dirty="0" err="1">
                          <a:solidFill>
                            <a:srgbClr val="FFFFFF"/>
                          </a:solidFill>
                          <a:effectLst/>
                          <a:latin typeface="Roboto" pitchFamily="2" charset="0"/>
                        </a:rPr>
                        <a:t>members</a:t>
                      </a:r>
                      <a:endParaRPr lang="fr-CI" sz="1400" b="0" dirty="0">
                        <a:solidFill>
                          <a:srgbClr val="FFFFFF"/>
                        </a:solidFill>
                        <a:effectLst/>
                        <a:latin typeface="Roboto" pitchFamily="2" charset="0"/>
                      </a:endParaRP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a:solidFill>
                            <a:srgbClr val="FFFFFF"/>
                          </a:solidFill>
                          <a:effectLst/>
                          <a:latin typeface="Roboto" pitchFamily="2" charset="0"/>
                        </a:rPr>
                        <a:t>Total </a:t>
                      </a:r>
                      <a:r>
                        <a:rPr lang="fr-CI" sz="1400" b="0" dirty="0" err="1">
                          <a:solidFill>
                            <a:srgbClr val="FFFFFF"/>
                          </a:solidFill>
                          <a:effectLst/>
                          <a:latin typeface="Roboto" pitchFamily="2" charset="0"/>
                        </a:rPr>
                        <a:t>number</a:t>
                      </a:r>
                      <a:r>
                        <a:rPr lang="fr-CI" sz="1400" b="0" dirty="0">
                          <a:solidFill>
                            <a:srgbClr val="FFFFFF"/>
                          </a:solidFill>
                          <a:effectLst/>
                          <a:latin typeface="Roboto" pitchFamily="2" charset="0"/>
                        </a:rPr>
                        <a:t> of </a:t>
                      </a:r>
                      <a:r>
                        <a:rPr lang="fr-CI" sz="1400" b="0" dirty="0" err="1">
                          <a:solidFill>
                            <a:srgbClr val="FFFFFF"/>
                          </a:solidFill>
                          <a:effectLst/>
                          <a:latin typeface="Roboto" pitchFamily="2" charset="0"/>
                        </a:rPr>
                        <a:t>women</a:t>
                      </a:r>
                      <a:endParaRPr lang="fr-CI" sz="1400" b="0" dirty="0">
                        <a:solidFill>
                          <a:srgbClr val="FFFFFF"/>
                        </a:solidFill>
                        <a:effectLst/>
                        <a:latin typeface="Roboto" pitchFamily="2" charset="0"/>
                      </a:endParaRP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a:solidFill>
                            <a:srgbClr val="FFFFFF"/>
                          </a:solidFill>
                          <a:effectLst/>
                          <a:latin typeface="Roboto" pitchFamily="2" charset="0"/>
                        </a:rPr>
                        <a:t>Total </a:t>
                      </a:r>
                      <a:r>
                        <a:rPr lang="fr-CI" sz="1400" b="0" dirty="0" err="1">
                          <a:solidFill>
                            <a:srgbClr val="FFFFFF"/>
                          </a:solidFill>
                          <a:effectLst/>
                          <a:latin typeface="Roboto" pitchFamily="2" charset="0"/>
                        </a:rPr>
                        <a:t>number</a:t>
                      </a:r>
                      <a:r>
                        <a:rPr lang="fr-CI" sz="1400" b="0" dirty="0">
                          <a:solidFill>
                            <a:srgbClr val="FFFFFF"/>
                          </a:solidFill>
                          <a:effectLst/>
                          <a:latin typeface="Roboto" pitchFamily="2" charset="0"/>
                        </a:rPr>
                        <a:t> of men</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en-US" sz="1400" b="0" dirty="0">
                          <a:solidFill>
                            <a:srgbClr val="FFFFFF"/>
                          </a:solidFill>
                          <a:effectLst/>
                          <a:latin typeface="Roboto" pitchFamily="2" charset="0"/>
                        </a:rPr>
                        <a:t>Total amount of savings collected</a:t>
                      </a:r>
                      <a:endParaRPr lang="fr-FR" sz="1400" b="0" dirty="0">
                        <a:solidFill>
                          <a:srgbClr val="FFFFFF"/>
                        </a:solidFill>
                        <a:effectLst/>
                        <a:latin typeface="Roboto" pitchFamily="2" charset="0"/>
                      </a:endParaRP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a:solidFill>
                            <a:srgbClr val="FFFFFF"/>
                          </a:solidFill>
                          <a:effectLst/>
                          <a:latin typeface="Roboto" pitchFamily="2" charset="0"/>
                        </a:rPr>
                        <a:t>Total </a:t>
                      </a:r>
                      <a:r>
                        <a:rPr lang="fr-CI" sz="1400" b="0" dirty="0" err="1">
                          <a:solidFill>
                            <a:srgbClr val="FFFFFF"/>
                          </a:solidFill>
                          <a:effectLst/>
                          <a:latin typeface="Roboto" pitchFamily="2" charset="0"/>
                        </a:rPr>
                        <a:t>loan</a:t>
                      </a:r>
                      <a:r>
                        <a:rPr lang="fr-CI" sz="1400" b="0" dirty="0">
                          <a:solidFill>
                            <a:srgbClr val="FFFFFF"/>
                          </a:solidFill>
                          <a:effectLst/>
                          <a:latin typeface="Roboto" pitchFamily="2" charset="0"/>
                        </a:rPr>
                        <a:t> </a:t>
                      </a:r>
                      <a:r>
                        <a:rPr lang="fr-CI" sz="1400" b="0" dirty="0" err="1">
                          <a:solidFill>
                            <a:srgbClr val="FFFFFF"/>
                          </a:solidFill>
                          <a:effectLst/>
                          <a:latin typeface="Roboto" pitchFamily="2" charset="0"/>
                        </a:rPr>
                        <a:t>amount</a:t>
                      </a:r>
                      <a:endParaRPr lang="fr-CI" sz="1400" b="0" dirty="0">
                        <a:solidFill>
                          <a:srgbClr val="FFFFFF"/>
                        </a:solidFill>
                        <a:effectLst/>
                        <a:latin typeface="Roboto" pitchFamily="2" charset="0"/>
                      </a:endParaRP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err="1">
                          <a:solidFill>
                            <a:srgbClr val="FFFFFF"/>
                          </a:solidFill>
                          <a:effectLst/>
                          <a:latin typeface="Roboto" pitchFamily="2" charset="0"/>
                        </a:rPr>
                        <a:t>Number</a:t>
                      </a:r>
                      <a:r>
                        <a:rPr lang="fr-CI" sz="1400" b="0" dirty="0">
                          <a:solidFill>
                            <a:srgbClr val="FFFFFF"/>
                          </a:solidFill>
                          <a:effectLst/>
                          <a:latin typeface="Roboto" pitchFamily="2" charset="0"/>
                        </a:rPr>
                        <a:t> of </a:t>
                      </a:r>
                      <a:r>
                        <a:rPr lang="fr-CI" sz="1400" b="0" dirty="0" err="1">
                          <a:solidFill>
                            <a:srgbClr val="FFFFFF"/>
                          </a:solidFill>
                          <a:effectLst/>
                          <a:latin typeface="Roboto" pitchFamily="2" charset="0"/>
                        </a:rPr>
                        <a:t>banks</a:t>
                      </a:r>
                      <a:endParaRPr lang="fr-CI" sz="1400" b="0" dirty="0">
                        <a:solidFill>
                          <a:srgbClr val="FFFFFF"/>
                        </a:solidFill>
                        <a:effectLst/>
                        <a:latin typeface="Roboto" pitchFamily="2" charset="0"/>
                      </a:endParaRP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fr-CI" sz="1400" b="0" dirty="0" err="1">
                          <a:solidFill>
                            <a:srgbClr val="FFFFFF"/>
                          </a:solidFill>
                          <a:effectLst/>
                          <a:latin typeface="Roboto" pitchFamily="2" charset="0"/>
                        </a:rPr>
                        <a:t>Number</a:t>
                      </a:r>
                      <a:r>
                        <a:rPr lang="fr-CI" sz="1400" b="0" dirty="0">
                          <a:solidFill>
                            <a:srgbClr val="FFFFFF"/>
                          </a:solidFill>
                          <a:effectLst/>
                          <a:latin typeface="Roboto" pitchFamily="2" charset="0"/>
                        </a:rPr>
                        <a:t> of microfinances</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tc>
                  <a:txBody>
                    <a:bodyPr/>
                    <a:lstStyle/>
                    <a:p>
                      <a:pPr rtl="0" fontAlgn="ctr"/>
                      <a:r>
                        <a:rPr lang="en-US" sz="1400" b="0" dirty="0">
                          <a:solidFill>
                            <a:srgbClr val="FFFFFF"/>
                          </a:solidFill>
                          <a:effectLst/>
                          <a:latin typeface="Roboto" pitchFamily="2" charset="0"/>
                        </a:rPr>
                        <a:t>Number of AVECs with an account in a financial institution</a:t>
                      </a:r>
                      <a:endParaRPr lang="fr-FR" sz="1400" b="0" dirty="0">
                        <a:solidFill>
                          <a:srgbClr val="FFFFFF"/>
                        </a:solidFill>
                        <a:effectLst/>
                        <a:latin typeface="Roboto" pitchFamily="2" charset="0"/>
                      </a:endParaRP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3E4791"/>
                      </a:solidFill>
                      <a:prstDash val="solid"/>
                      <a:round/>
                      <a:headEnd type="none" w="med" len="med"/>
                      <a:tailEnd type="none" w="med" len="med"/>
                    </a:lnR>
                    <a:lnT w="7620" cap="flat" cmpd="sng" algn="ctr">
                      <a:solidFill>
                        <a:srgbClr val="3E4791"/>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chemeClr val="accent2"/>
                    </a:solidFill>
                  </a:tcPr>
                </a:tc>
                <a:extLst>
                  <a:ext uri="{0D108BD9-81ED-4DB2-BD59-A6C34878D82A}">
                    <a16:rowId xmlns:a16="http://schemas.microsoft.com/office/drawing/2014/main" val="808733914"/>
                  </a:ext>
                </a:extLst>
              </a:tr>
              <a:tr h="285585">
                <a:tc>
                  <a:txBody>
                    <a:bodyPr/>
                    <a:lstStyle/>
                    <a:p>
                      <a:pPr rtl="0" fontAlgn="ctr"/>
                      <a:r>
                        <a:rPr lang="fr-CI" sz="1400" b="0">
                          <a:solidFill>
                            <a:srgbClr val="434343"/>
                          </a:solidFill>
                          <a:effectLst/>
                          <a:latin typeface="Roboto" pitchFamily="2" charset="0"/>
                        </a:rPr>
                        <a:t>OUPOYO</a:t>
                      </a:r>
                    </a:p>
                  </a:txBody>
                  <a:tcPr marL="36136" marR="36136" marT="0" marB="0" anchor="ctr">
                    <a:lnL w="7620" cap="flat" cmpd="sng" algn="ctr">
                      <a:solidFill>
                        <a:srgbClr val="3E4791"/>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96</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2 820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2 219</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601</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316 388 800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200 514 020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25</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3E479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044461864"/>
                  </a:ext>
                </a:extLst>
              </a:tr>
              <a:tr h="571170">
                <a:tc>
                  <a:txBody>
                    <a:bodyPr/>
                    <a:lstStyle/>
                    <a:p>
                      <a:pPr rtl="0" fontAlgn="ctr"/>
                      <a:r>
                        <a:rPr lang="fr-CI" sz="1400" b="0">
                          <a:solidFill>
                            <a:srgbClr val="434343"/>
                          </a:solidFill>
                          <a:effectLst/>
                          <a:latin typeface="Roboto" pitchFamily="2" charset="0"/>
                        </a:rPr>
                        <a:t>GNAMANGUI</a:t>
                      </a:r>
                    </a:p>
                  </a:txBody>
                  <a:tcPr marL="36136" marR="36136" marT="0" marB="0" anchor="ctr">
                    <a:lnL w="7620" cap="flat" cmpd="sng" algn="ctr">
                      <a:solidFill>
                        <a:srgbClr val="3E4791"/>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a:solidFill>
                            <a:srgbClr val="434343"/>
                          </a:solidFill>
                          <a:effectLst/>
                          <a:latin typeface="Roboto" pitchFamily="2" charset="0"/>
                        </a:rPr>
                        <a:t>179</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5 285</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3 434</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1 851</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739 491 290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614 995 950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dirty="0">
                          <a:solidFill>
                            <a:srgbClr val="434343"/>
                          </a:solidFill>
                          <a:effectLst/>
                          <a:latin typeface="Roboto" pitchFamily="2" charset="0"/>
                        </a:rPr>
                        <a:t>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tc>
                  <a:txBody>
                    <a:bodyPr/>
                    <a:lstStyle/>
                    <a:p>
                      <a:pPr algn="r" rtl="0" fontAlgn="ctr"/>
                      <a:r>
                        <a:rPr lang="fr-CI" sz="1400" b="0">
                          <a:solidFill>
                            <a:srgbClr val="434343"/>
                          </a:solidFill>
                          <a:effectLst/>
                          <a:latin typeface="Roboto" pitchFamily="2" charset="0"/>
                        </a:rPr>
                        <a:t>22</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3E479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1358950019"/>
                  </a:ext>
                </a:extLst>
              </a:tr>
              <a:tr h="285585">
                <a:tc>
                  <a:txBody>
                    <a:bodyPr/>
                    <a:lstStyle/>
                    <a:p>
                      <a:pPr rtl="0" fontAlgn="ctr"/>
                      <a:r>
                        <a:rPr lang="fr-CI" sz="1400" b="0" dirty="0">
                          <a:solidFill>
                            <a:srgbClr val="434343"/>
                          </a:solidFill>
                          <a:effectLst/>
                          <a:latin typeface="Roboto" pitchFamily="2" charset="0"/>
                        </a:rPr>
                        <a:t>MEAGUI</a:t>
                      </a:r>
                    </a:p>
                  </a:txBody>
                  <a:tcPr marL="36136" marR="36136" marT="0" marB="0" anchor="ctr">
                    <a:lnL w="7620" cap="flat" cmpd="sng" algn="ctr">
                      <a:solidFill>
                        <a:srgbClr val="3E4791"/>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209</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8 750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6 369</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a:solidFill>
                            <a:srgbClr val="434343"/>
                          </a:solidFill>
                          <a:effectLst/>
                          <a:latin typeface="Roboto" pitchFamily="2" charset="0"/>
                        </a:rPr>
                        <a:t>2 381</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642 950 870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485 075 315</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4</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4</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r" rtl="0" fontAlgn="ctr"/>
                      <a:r>
                        <a:rPr lang="fr-CI" sz="1400" b="0" dirty="0">
                          <a:solidFill>
                            <a:srgbClr val="434343"/>
                          </a:solidFill>
                          <a:effectLst/>
                          <a:latin typeface="Roboto" pitchFamily="2" charset="0"/>
                        </a:rPr>
                        <a:t>50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3E479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32351006"/>
                  </a:ext>
                </a:extLst>
              </a:tr>
              <a:tr h="214252">
                <a:tc>
                  <a:txBody>
                    <a:bodyPr/>
                    <a:lstStyle/>
                    <a:p>
                      <a:pPr rtl="0" fontAlgn="ctr"/>
                      <a:r>
                        <a:rPr lang="fr-CI" sz="1400" b="1" dirty="0">
                          <a:solidFill>
                            <a:schemeClr val="tx1"/>
                          </a:solidFill>
                          <a:effectLst/>
                          <a:latin typeface="Roboto" pitchFamily="2" charset="0"/>
                        </a:rPr>
                        <a:t>TOTAL</a:t>
                      </a:r>
                    </a:p>
                  </a:txBody>
                  <a:tcPr marL="36136" marR="36136" marT="0" marB="0" anchor="ctr">
                    <a:lnL w="7620" cap="flat" cmpd="sng" algn="ctr">
                      <a:solidFill>
                        <a:srgbClr val="3E4791"/>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484</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16 855</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12 022</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4 833</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1 698 830 960</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1 300 585 285</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4</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4</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tc>
                  <a:txBody>
                    <a:bodyPr/>
                    <a:lstStyle/>
                    <a:p>
                      <a:pPr algn="r" rtl="0" fontAlgn="ctr"/>
                      <a:r>
                        <a:rPr lang="fr-CI" sz="1400" b="1" dirty="0">
                          <a:solidFill>
                            <a:schemeClr val="tx1"/>
                          </a:solidFill>
                          <a:effectLst/>
                          <a:latin typeface="Roboto" pitchFamily="2" charset="0"/>
                        </a:rPr>
                        <a:t>97</a:t>
                      </a:r>
                    </a:p>
                  </a:txBody>
                  <a:tcPr marL="36136" marR="36136" marT="0" marB="0" anchor="ctr">
                    <a:lnL w="7620" cap="flat" cmpd="sng" algn="ctr">
                      <a:solidFill>
                        <a:srgbClr val="CCCCCC"/>
                      </a:solidFill>
                      <a:prstDash val="solid"/>
                      <a:round/>
                      <a:headEnd type="none" w="med" len="med"/>
                      <a:tailEnd type="none" w="med" len="med"/>
                    </a:lnL>
                    <a:lnR w="7620" cap="flat" cmpd="sng" algn="ctr">
                      <a:solidFill>
                        <a:srgbClr val="3E4791"/>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3E4791"/>
                      </a:solidFill>
                      <a:prstDash val="solid"/>
                      <a:round/>
                      <a:headEnd type="none" w="med" len="med"/>
                      <a:tailEnd type="none" w="med" len="med"/>
                    </a:lnB>
                    <a:solidFill>
                      <a:schemeClr val="accent2"/>
                    </a:solidFill>
                  </a:tcPr>
                </a:tc>
                <a:extLst>
                  <a:ext uri="{0D108BD9-81ED-4DB2-BD59-A6C34878D82A}">
                    <a16:rowId xmlns:a16="http://schemas.microsoft.com/office/drawing/2014/main" val="398204460"/>
                  </a:ext>
                </a:extLst>
              </a:tr>
            </a:tbl>
          </a:graphicData>
        </a:graphic>
      </p:graphicFrame>
      <p:sp>
        <p:nvSpPr>
          <p:cNvPr id="4" name="ZoneTexte 3">
            <a:extLst>
              <a:ext uri="{FF2B5EF4-FFF2-40B4-BE49-F238E27FC236}">
                <a16:creationId xmlns:a16="http://schemas.microsoft.com/office/drawing/2014/main" id="{C483D296-CCFB-8F59-F0FA-53C5535911DD}"/>
              </a:ext>
            </a:extLst>
          </p:cNvPr>
          <p:cNvSpPr txBox="1"/>
          <p:nvPr/>
        </p:nvSpPr>
        <p:spPr>
          <a:xfrm>
            <a:off x="321013" y="3429000"/>
            <a:ext cx="11313268" cy="2031325"/>
          </a:xfrm>
          <a:prstGeom prst="rect">
            <a:avLst/>
          </a:prstGeom>
          <a:noFill/>
        </p:spPr>
        <p:txBody>
          <a:bodyPr wrap="square" rtlCol="0">
            <a:spAutoFit/>
          </a:bodyPr>
          <a:lstStyle/>
          <a:p>
            <a:r>
              <a:rPr lang="fr-FR" b="1" dirty="0" err="1">
                <a:solidFill>
                  <a:schemeClr val="accent2">
                    <a:lumMod val="75000"/>
                  </a:schemeClr>
                </a:solidFill>
              </a:rPr>
              <a:t>Analysis</a:t>
            </a:r>
            <a:r>
              <a:rPr lang="fr-FR" b="1" dirty="0">
                <a:solidFill>
                  <a:schemeClr val="accent2">
                    <a:lumMod val="75000"/>
                  </a:schemeClr>
                </a:solidFill>
              </a:rPr>
              <a:t> of </a:t>
            </a:r>
            <a:r>
              <a:rPr lang="fr-FR" b="1" dirty="0" err="1">
                <a:solidFill>
                  <a:schemeClr val="accent2">
                    <a:lumMod val="75000"/>
                  </a:schemeClr>
                </a:solidFill>
              </a:rPr>
              <a:t>results</a:t>
            </a:r>
            <a:endParaRPr lang="fr-FR" b="1" dirty="0">
              <a:solidFill>
                <a:schemeClr val="accent2">
                  <a:lumMod val="75000"/>
                </a:schemeClr>
              </a:solidFill>
            </a:endParaRPr>
          </a:p>
          <a:p>
            <a:r>
              <a:rPr lang="en-US" b="1" dirty="0">
                <a:solidFill>
                  <a:schemeClr val="accent2">
                    <a:lumMod val="75000"/>
                  </a:schemeClr>
                </a:solidFill>
              </a:rPr>
              <a:t>Distribution of AVECs by sub-prefecture</a:t>
            </a:r>
            <a:r>
              <a:rPr lang="fr-FR" dirty="0">
                <a:solidFill>
                  <a:schemeClr val="accent2">
                    <a:lumMod val="75000"/>
                  </a:schemeClr>
                </a:solidFill>
              </a:rPr>
              <a:t>: </a:t>
            </a:r>
            <a:r>
              <a:rPr lang="en-US" dirty="0" err="1"/>
              <a:t>Méagui</a:t>
            </a:r>
            <a:r>
              <a:rPr lang="en-US" dirty="0"/>
              <a:t> is distinguished by a high concentration of AVEC and strong savings.</a:t>
            </a:r>
          </a:p>
          <a:p>
            <a:endParaRPr lang="fr-FR" dirty="0"/>
          </a:p>
          <a:p>
            <a:pPr>
              <a:buFont typeface="Arial" panose="020B0604020202020204" pitchFamily="34" charset="0"/>
              <a:buChar char="•"/>
            </a:pPr>
            <a:r>
              <a:rPr lang="fr-FR" b="1" dirty="0">
                <a:solidFill>
                  <a:schemeClr val="accent2">
                    <a:lumMod val="75000"/>
                  </a:schemeClr>
                </a:solidFill>
              </a:rPr>
              <a:t>Geographic </a:t>
            </a:r>
            <a:r>
              <a:rPr lang="fr-FR" b="1" dirty="0" err="1">
                <a:solidFill>
                  <a:schemeClr val="accent2">
                    <a:lumMod val="75000"/>
                  </a:schemeClr>
                </a:solidFill>
              </a:rPr>
              <a:t>disparities</a:t>
            </a:r>
            <a:r>
              <a:rPr lang="fr-FR" dirty="0">
                <a:solidFill>
                  <a:schemeClr val="accent2">
                    <a:lumMod val="75000"/>
                  </a:schemeClr>
                </a:solidFill>
              </a:rPr>
              <a:t>: </a:t>
            </a:r>
            <a:r>
              <a:rPr lang="fr-FR" dirty="0"/>
              <a:t>Méagui /</a:t>
            </a:r>
            <a:r>
              <a:rPr lang="fr-FR" dirty="0" err="1"/>
              <a:t>Gnanmangui</a:t>
            </a:r>
            <a:r>
              <a:rPr lang="fr-FR" dirty="0"/>
              <a:t> and Oupoyo, </a:t>
            </a:r>
            <a:r>
              <a:rPr lang="en-US" dirty="0"/>
              <a:t>with less served peripheral areas</a:t>
            </a:r>
            <a:r>
              <a:rPr lang="fr-FR" dirty="0"/>
              <a:t>.</a:t>
            </a:r>
          </a:p>
          <a:p>
            <a:pPr>
              <a:buFont typeface="Arial" panose="020B0604020202020204" pitchFamily="34" charset="0"/>
              <a:buChar char="•"/>
            </a:pPr>
            <a:r>
              <a:rPr lang="fr-FR" b="1" dirty="0">
                <a:solidFill>
                  <a:schemeClr val="accent2">
                    <a:lumMod val="75000"/>
                  </a:schemeClr>
                </a:solidFill>
              </a:rPr>
              <a:t>Impact of </a:t>
            </a:r>
            <a:r>
              <a:rPr lang="fr-FR" b="1" dirty="0" err="1">
                <a:solidFill>
                  <a:schemeClr val="accent2">
                    <a:lumMod val="75000"/>
                  </a:schemeClr>
                </a:solidFill>
              </a:rPr>
              <a:t>accessibility</a:t>
            </a:r>
            <a:r>
              <a:rPr lang="fr-FR" dirty="0">
                <a:solidFill>
                  <a:schemeClr val="accent2">
                    <a:lumMod val="75000"/>
                  </a:schemeClr>
                </a:solidFill>
              </a:rPr>
              <a:t>: </a:t>
            </a:r>
            <a:r>
              <a:rPr lang="en-US" dirty="0"/>
              <a:t>Isochronous analysis reveals that AVECs in </a:t>
            </a:r>
            <a:r>
              <a:rPr lang="en-US" dirty="0" err="1"/>
              <a:t>Méagui</a:t>
            </a:r>
            <a:r>
              <a:rPr lang="en-US" dirty="0"/>
              <a:t> benefit from better access to financial services, unlike those in </a:t>
            </a:r>
            <a:r>
              <a:rPr lang="fr-FR" dirty="0" err="1"/>
              <a:t>Gnanmangui</a:t>
            </a:r>
            <a:r>
              <a:rPr lang="fr-FR" dirty="0"/>
              <a:t> and Oupoyo.</a:t>
            </a:r>
          </a:p>
          <a:p>
            <a:endParaRPr lang="fr-FR" dirty="0"/>
          </a:p>
        </p:txBody>
      </p:sp>
    </p:spTree>
    <p:extLst>
      <p:ext uri="{BB962C8B-B14F-4D97-AF65-F5344CB8AC3E}">
        <p14:creationId xmlns:p14="http://schemas.microsoft.com/office/powerpoint/2010/main" val="2757402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95BB8-9543-611E-374D-920C1BABE642}"/>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AF0D46E7-3C7D-2AAD-1299-AB0A6CBE4C84}"/>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ZoneTexte 9">
            <a:extLst>
              <a:ext uri="{FF2B5EF4-FFF2-40B4-BE49-F238E27FC236}">
                <a16:creationId xmlns:a16="http://schemas.microsoft.com/office/drawing/2014/main" id="{8AB0E7DD-8452-E001-7B3B-A12F4B2ED4AB}"/>
              </a:ext>
            </a:extLst>
          </p:cNvPr>
          <p:cNvSpPr txBox="1"/>
          <p:nvPr/>
        </p:nvSpPr>
        <p:spPr>
          <a:xfrm>
            <a:off x="98899" y="105412"/>
            <a:ext cx="8294243" cy="707886"/>
          </a:xfrm>
          <a:prstGeom prst="rect">
            <a:avLst/>
          </a:prstGeom>
          <a:noFill/>
        </p:spPr>
        <p:txBody>
          <a:bodyPr wrap="square" rtlCol="0">
            <a:spAutoFit/>
          </a:bodyPr>
          <a:lstStyle/>
          <a:p>
            <a:r>
              <a:rPr lang="fr-FR" sz="4000" b="1" dirty="0" err="1">
                <a:solidFill>
                  <a:schemeClr val="accent2">
                    <a:lumMod val="75000"/>
                  </a:schemeClr>
                </a:solidFill>
                <a:latin typeface="Arial" panose="020B0604020202020204" pitchFamily="34" charset="0"/>
                <a:cs typeface="Arial" panose="020B0604020202020204" pitchFamily="34" charset="0"/>
              </a:rPr>
              <a:t>Some</a:t>
            </a:r>
            <a:r>
              <a:rPr lang="fr-FR" sz="4000" b="1" dirty="0">
                <a:solidFill>
                  <a:schemeClr val="accent2">
                    <a:lumMod val="75000"/>
                  </a:schemeClr>
                </a:solidFill>
                <a:latin typeface="Arial" panose="020B0604020202020204" pitchFamily="34" charset="0"/>
                <a:cs typeface="Arial" panose="020B0604020202020204" pitchFamily="34" charset="0"/>
              </a:rPr>
              <a:t> </a:t>
            </a:r>
            <a:r>
              <a:rPr lang="fr-FR" sz="4000" b="1" dirty="0" err="1">
                <a:solidFill>
                  <a:schemeClr val="accent2">
                    <a:lumMod val="75000"/>
                  </a:schemeClr>
                </a:solidFill>
                <a:latin typeface="Arial" panose="020B0604020202020204" pitchFamily="34" charset="0"/>
                <a:cs typeface="Arial" panose="020B0604020202020204" pitchFamily="34" charset="0"/>
              </a:rPr>
              <a:t>results</a:t>
            </a:r>
            <a:r>
              <a:rPr lang="fr-FR" sz="4000" b="1" dirty="0">
                <a:solidFill>
                  <a:schemeClr val="accent2">
                    <a:lumMod val="75000"/>
                  </a:schemeClr>
                </a:solidFill>
                <a:latin typeface="Arial" panose="020B0604020202020204" pitchFamily="34" charset="0"/>
                <a:cs typeface="Arial" panose="020B0604020202020204" pitchFamily="34" charset="0"/>
              </a:rPr>
              <a:t> </a:t>
            </a:r>
            <a:r>
              <a:rPr lang="fr-FR" sz="4000" b="1" dirty="0" err="1">
                <a:solidFill>
                  <a:schemeClr val="accent2">
                    <a:lumMod val="75000"/>
                  </a:schemeClr>
                </a:solidFill>
                <a:latin typeface="Arial" panose="020B0604020202020204" pitchFamily="34" charset="0"/>
                <a:cs typeface="Arial" panose="020B0604020202020204" pitchFamily="34" charset="0"/>
              </a:rPr>
              <a:t>obtained</a:t>
            </a:r>
            <a:endParaRPr lang="fr-FR" sz="4000" b="1" dirty="0">
              <a:solidFill>
                <a:schemeClr val="accent2">
                  <a:lumMod val="75000"/>
                </a:schemeClr>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C491E984-7905-7837-EC0C-BD10614AB9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3025" y="668817"/>
            <a:ext cx="8385950" cy="5928956"/>
          </a:xfrm>
          <a:prstGeom prst="rect">
            <a:avLst/>
          </a:prstGeom>
        </p:spPr>
      </p:pic>
    </p:spTree>
    <p:extLst>
      <p:ext uri="{BB962C8B-B14F-4D97-AF65-F5344CB8AC3E}">
        <p14:creationId xmlns:p14="http://schemas.microsoft.com/office/powerpoint/2010/main" val="1288521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85E2-EDD0-A6EC-E78B-65360C92DD3F}"/>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BA66AD11-0910-6E92-B426-05422C89AD92}"/>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ZoneTexte 9">
            <a:extLst>
              <a:ext uri="{FF2B5EF4-FFF2-40B4-BE49-F238E27FC236}">
                <a16:creationId xmlns:a16="http://schemas.microsoft.com/office/drawing/2014/main" id="{59708506-53FB-90F3-8B27-071B2C8B0635}"/>
              </a:ext>
            </a:extLst>
          </p:cNvPr>
          <p:cNvSpPr txBox="1"/>
          <p:nvPr/>
        </p:nvSpPr>
        <p:spPr>
          <a:xfrm>
            <a:off x="98899" y="105412"/>
            <a:ext cx="8294243" cy="707886"/>
          </a:xfrm>
          <a:prstGeom prst="rect">
            <a:avLst/>
          </a:prstGeom>
          <a:noFill/>
        </p:spPr>
        <p:txBody>
          <a:bodyPr wrap="square" rtlCol="0">
            <a:spAutoFit/>
          </a:bodyPr>
          <a:lstStyle/>
          <a:p>
            <a:r>
              <a:rPr lang="fr-FR" sz="4000" b="1" dirty="0" err="1">
                <a:solidFill>
                  <a:schemeClr val="accent2">
                    <a:lumMod val="75000"/>
                  </a:schemeClr>
                </a:solidFill>
                <a:latin typeface="Arial" panose="020B0604020202020204" pitchFamily="34" charset="0"/>
                <a:cs typeface="Arial" panose="020B0604020202020204" pitchFamily="34" charset="0"/>
              </a:rPr>
              <a:t>Some</a:t>
            </a:r>
            <a:r>
              <a:rPr lang="fr-FR" sz="4000" b="1" dirty="0">
                <a:solidFill>
                  <a:schemeClr val="accent2">
                    <a:lumMod val="75000"/>
                  </a:schemeClr>
                </a:solidFill>
                <a:latin typeface="Arial" panose="020B0604020202020204" pitchFamily="34" charset="0"/>
                <a:cs typeface="Arial" panose="020B0604020202020204" pitchFamily="34" charset="0"/>
              </a:rPr>
              <a:t> </a:t>
            </a:r>
            <a:r>
              <a:rPr lang="fr-FR" sz="4000" b="1" dirty="0" err="1">
                <a:solidFill>
                  <a:schemeClr val="accent2">
                    <a:lumMod val="75000"/>
                  </a:schemeClr>
                </a:solidFill>
                <a:latin typeface="Arial" panose="020B0604020202020204" pitchFamily="34" charset="0"/>
                <a:cs typeface="Arial" panose="020B0604020202020204" pitchFamily="34" charset="0"/>
              </a:rPr>
              <a:t>results</a:t>
            </a:r>
            <a:r>
              <a:rPr lang="fr-FR" sz="4000" b="1" dirty="0">
                <a:solidFill>
                  <a:schemeClr val="accent2">
                    <a:lumMod val="75000"/>
                  </a:schemeClr>
                </a:solidFill>
                <a:latin typeface="Arial" panose="020B0604020202020204" pitchFamily="34" charset="0"/>
                <a:cs typeface="Arial" panose="020B0604020202020204" pitchFamily="34" charset="0"/>
              </a:rPr>
              <a:t> </a:t>
            </a:r>
            <a:r>
              <a:rPr lang="fr-FR" sz="4000" b="1" dirty="0" err="1">
                <a:solidFill>
                  <a:schemeClr val="accent2">
                    <a:lumMod val="75000"/>
                  </a:schemeClr>
                </a:solidFill>
                <a:latin typeface="Arial" panose="020B0604020202020204" pitchFamily="34" charset="0"/>
                <a:cs typeface="Arial" panose="020B0604020202020204" pitchFamily="34" charset="0"/>
              </a:rPr>
              <a:t>obtained</a:t>
            </a:r>
            <a:endParaRPr lang="fr-FR" sz="4000" b="1" dirty="0">
              <a:solidFill>
                <a:schemeClr val="accent2">
                  <a:lumMod val="75000"/>
                </a:schemeClr>
              </a:solidFill>
              <a:latin typeface="Arial" panose="020B0604020202020204" pitchFamily="34" charset="0"/>
              <a:cs typeface="Arial" panose="020B0604020202020204" pitchFamily="34" charset="0"/>
            </a:endParaRPr>
          </a:p>
        </p:txBody>
      </p:sp>
      <p:pic>
        <p:nvPicPr>
          <p:cNvPr id="3" name="Image 2">
            <a:extLst>
              <a:ext uri="{FF2B5EF4-FFF2-40B4-BE49-F238E27FC236}">
                <a16:creationId xmlns:a16="http://schemas.microsoft.com/office/drawing/2014/main" id="{F16EA1A5-22D8-098E-B3DB-078407D972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2231" y="459355"/>
            <a:ext cx="9046723" cy="6421060"/>
          </a:xfrm>
          <a:prstGeom prst="rect">
            <a:avLst/>
          </a:prstGeom>
        </p:spPr>
      </p:pic>
    </p:spTree>
    <p:extLst>
      <p:ext uri="{BB962C8B-B14F-4D97-AF65-F5344CB8AC3E}">
        <p14:creationId xmlns:p14="http://schemas.microsoft.com/office/powerpoint/2010/main" val="2606075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47310ABE-BE56-C2A3-2E8E-3BA71F217CC0}"/>
              </a:ext>
            </a:extLst>
          </p:cNvPr>
          <p:cNvSpPr txBox="1"/>
          <p:nvPr/>
        </p:nvSpPr>
        <p:spPr>
          <a:xfrm>
            <a:off x="324463" y="268070"/>
            <a:ext cx="6757655" cy="707886"/>
          </a:xfrm>
          <a:prstGeom prst="rect">
            <a:avLst/>
          </a:prstGeom>
          <a:noFill/>
        </p:spPr>
        <p:txBody>
          <a:bodyPr wrap="square" rtlCol="0">
            <a:spAutoFit/>
          </a:bodyPr>
          <a:lstStyle/>
          <a:p>
            <a:r>
              <a:rPr lang="fr-FR" sz="4000" b="1" dirty="0" err="1">
                <a:solidFill>
                  <a:srgbClr val="F0632D"/>
                </a:solidFill>
                <a:latin typeface="Arial" panose="020B0604020202020204" pitchFamily="34" charset="0"/>
                <a:cs typeface="Arial" panose="020B0604020202020204" pitchFamily="34" charset="0"/>
              </a:rPr>
              <a:t>Difficulties</a:t>
            </a:r>
            <a:r>
              <a:rPr lang="fr-FR" sz="4000" b="1" dirty="0">
                <a:solidFill>
                  <a:srgbClr val="F0632D"/>
                </a:solidFill>
                <a:latin typeface="Arial" panose="020B0604020202020204" pitchFamily="34" charset="0"/>
                <a:cs typeface="Arial" panose="020B0604020202020204" pitchFamily="34" charset="0"/>
              </a:rPr>
              <a:t> </a:t>
            </a:r>
            <a:r>
              <a:rPr lang="fr-FR" sz="4000" b="1" dirty="0" err="1">
                <a:solidFill>
                  <a:srgbClr val="F0632D"/>
                </a:solidFill>
                <a:latin typeface="Arial" panose="020B0604020202020204" pitchFamily="34" charset="0"/>
                <a:cs typeface="Arial" panose="020B0604020202020204" pitchFamily="34" charset="0"/>
              </a:rPr>
              <a:t>encountered</a:t>
            </a:r>
            <a:endParaRPr lang="fr-FR" sz="4000" b="1" dirty="0">
              <a:solidFill>
                <a:srgbClr val="F0632D"/>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5ADD950F-E087-28A5-C79A-5712B69B5BAD}"/>
              </a:ext>
            </a:extLst>
          </p:cNvPr>
          <p:cNvSpPr>
            <a:spLocks noChangeArrowheads="1"/>
          </p:cNvSpPr>
          <p:nvPr/>
        </p:nvSpPr>
        <p:spPr bwMode="auto">
          <a:xfrm>
            <a:off x="324463" y="1375815"/>
            <a:ext cx="625669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1" i="0" u="none" strike="noStrike" cap="none" normalizeH="0" baseline="0" dirty="0" err="1">
                <a:ln>
                  <a:noFill/>
                </a:ln>
                <a:solidFill>
                  <a:schemeClr val="tx1"/>
                </a:solidFill>
                <a:effectLst/>
                <a:latin typeface="Arial" panose="020B0604020202020204" pitchFamily="34" charset="0"/>
              </a:rPr>
              <a:t>Discovering</a:t>
            </a:r>
            <a:r>
              <a:rPr kumimoji="0" lang="fr-FR" altLang="fr-FR" sz="1800" b="1" i="0" u="none" strike="noStrike" cap="none" normalizeH="0" baseline="0" dirty="0">
                <a:ln>
                  <a:noFill/>
                </a:ln>
                <a:solidFill>
                  <a:schemeClr val="tx1"/>
                </a:solidFill>
                <a:effectLst/>
                <a:latin typeface="Arial" panose="020B0604020202020204" pitchFamily="34" charset="0"/>
              </a:rPr>
              <a:t> new WITH</a:t>
            </a:r>
            <a:r>
              <a:rPr kumimoji="0" lang="fr-FR" altLang="fr-FR" sz="1800" b="0" i="0" u="none" strike="noStrike" cap="none" normalizeH="0" baseline="0" dirty="0">
                <a:ln>
                  <a:noFill/>
                </a:ln>
                <a:solidFill>
                  <a:schemeClr val="tx1"/>
                </a:solidFill>
                <a:effectLst/>
                <a:latin typeface="Arial" panose="020B0604020202020204" pitchFamily="34" charset="0"/>
              </a:rPr>
              <a:t>: </a:t>
            </a:r>
            <a:r>
              <a:rPr kumimoji="0" lang="en-US" altLang="fr-FR" sz="1800" b="0" i="0" u="none" strike="noStrike" cap="none" normalizeH="0" baseline="0" dirty="0">
                <a:ln>
                  <a:noFill/>
                </a:ln>
                <a:solidFill>
                  <a:schemeClr val="tx1"/>
                </a:solidFill>
                <a:effectLst/>
                <a:latin typeface="Arial" panose="020B0604020202020204" pitchFamily="34" charset="0"/>
              </a:rPr>
              <a:t>Lack of updating of initial databases, making data collection time longer.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fr-FR" sz="1800" b="0" i="0" u="none" strike="noStrike" cap="none" normalizeH="0" baseline="0" dirty="0">
                <a:ln>
                  <a:noFill/>
                </a:ln>
                <a:solidFill>
                  <a:schemeClr val="tx1"/>
                </a:solidFill>
                <a:effectLst/>
                <a:latin typeface="Arial" panose="020B0604020202020204" pitchFamily="34" charset="0"/>
              </a:rPr>
              <a:t>Adaptation to new data: Late integration of ECAM AVECs.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fr-FR" sz="1800" b="0" i="0" u="none" strike="noStrike" cap="none" normalizeH="0" baseline="0" dirty="0">
                <a:ln>
                  <a:noFill/>
                </a:ln>
                <a:solidFill>
                  <a:schemeClr val="tx1"/>
                </a:solidFill>
                <a:effectLst/>
                <a:latin typeface="Arial" panose="020B0604020202020204" pitchFamily="34" charset="0"/>
              </a:rPr>
              <a:t>Accessibility of camps: Isolated areas and poor road infrastructure.</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3" name="Image 2">
            <a:extLst>
              <a:ext uri="{FF2B5EF4-FFF2-40B4-BE49-F238E27FC236}">
                <a16:creationId xmlns:a16="http://schemas.microsoft.com/office/drawing/2014/main" id="{F9DF4976-1C49-46EB-302A-CDF5F8ED64C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4464" y="0"/>
            <a:ext cx="12791664" cy="6858000"/>
          </a:xfrm>
          <a:prstGeom prst="rect">
            <a:avLst/>
          </a:prstGeom>
        </p:spPr>
      </p:pic>
    </p:spTree>
    <p:extLst>
      <p:ext uri="{BB962C8B-B14F-4D97-AF65-F5344CB8AC3E}">
        <p14:creationId xmlns:p14="http://schemas.microsoft.com/office/powerpoint/2010/main" val="1871044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A4EDC-2A0E-9F4C-5706-B76D5F6DF477}"/>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963EF1B1-A179-0B39-A1B3-353770CDCCA9}"/>
              </a:ext>
            </a:extLst>
          </p:cNvPr>
          <p:cNvSpPr txBox="1"/>
          <p:nvPr/>
        </p:nvSpPr>
        <p:spPr>
          <a:xfrm>
            <a:off x="324463" y="268070"/>
            <a:ext cx="6757655" cy="707886"/>
          </a:xfrm>
          <a:prstGeom prst="rect">
            <a:avLst/>
          </a:prstGeom>
          <a:noFill/>
        </p:spPr>
        <p:txBody>
          <a:bodyPr wrap="square" rtlCol="0">
            <a:spAutoFit/>
          </a:bodyPr>
          <a:lstStyle/>
          <a:p>
            <a:r>
              <a:rPr lang="fr-FR" sz="4000" b="1" dirty="0" err="1">
                <a:solidFill>
                  <a:srgbClr val="F0632D"/>
                </a:solidFill>
                <a:latin typeface="Arial" panose="020B0604020202020204" pitchFamily="34" charset="0"/>
                <a:cs typeface="Arial" panose="020B0604020202020204" pitchFamily="34" charset="0"/>
              </a:rPr>
              <a:t>Recommendations</a:t>
            </a:r>
            <a:endParaRPr lang="fr-FR" sz="4000" b="1" dirty="0">
              <a:solidFill>
                <a:srgbClr val="F0632D"/>
              </a:solidFill>
              <a:latin typeface="Arial" panose="020B0604020202020204" pitchFamily="34" charset="0"/>
              <a:cs typeface="Arial" panose="020B0604020202020204" pitchFamily="34" charset="0"/>
            </a:endParaRPr>
          </a:p>
        </p:txBody>
      </p:sp>
      <p:pic>
        <p:nvPicPr>
          <p:cNvPr id="3" name="Image 2">
            <a:extLst>
              <a:ext uri="{FF2B5EF4-FFF2-40B4-BE49-F238E27FC236}">
                <a16:creationId xmlns:a16="http://schemas.microsoft.com/office/drawing/2014/main" id="{E8D2B85D-AD1A-C763-088C-47840BFA50A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98358" y="0"/>
            <a:ext cx="12217770" cy="6858000"/>
          </a:xfrm>
          <a:prstGeom prst="rect">
            <a:avLst/>
          </a:prstGeom>
        </p:spPr>
      </p:pic>
      <p:sp>
        <p:nvSpPr>
          <p:cNvPr id="6" name="Rectangle 3">
            <a:extLst>
              <a:ext uri="{FF2B5EF4-FFF2-40B4-BE49-F238E27FC236}">
                <a16:creationId xmlns:a16="http://schemas.microsoft.com/office/drawing/2014/main" id="{BE60A49B-4F44-37A8-C8D5-6F57FE2FC2B4}"/>
              </a:ext>
            </a:extLst>
          </p:cNvPr>
          <p:cNvSpPr>
            <a:spLocks noChangeArrowheads="1"/>
          </p:cNvSpPr>
          <p:nvPr/>
        </p:nvSpPr>
        <p:spPr bwMode="auto">
          <a:xfrm>
            <a:off x="390939" y="1521025"/>
            <a:ext cx="570506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a:ln>
                  <a:noFill/>
                </a:ln>
                <a:solidFill>
                  <a:schemeClr val="tx1"/>
                </a:solidFill>
                <a:effectLst/>
                <a:latin typeface="Arial" panose="020B0604020202020204" pitchFamily="34" charset="0"/>
              </a:rPr>
              <a:t>Regular </a:t>
            </a:r>
            <a:r>
              <a:rPr kumimoji="0" lang="fr-FR" altLang="fr-FR" sz="1800" b="1" i="0" u="none" strike="noStrike" cap="none" normalizeH="0" baseline="0" dirty="0" err="1">
                <a:ln>
                  <a:noFill/>
                </a:ln>
                <a:solidFill>
                  <a:schemeClr val="tx1"/>
                </a:solidFill>
                <a:effectLst/>
                <a:latin typeface="Arial" panose="020B0604020202020204" pitchFamily="34" charset="0"/>
              </a:rPr>
              <a:t>updating</a:t>
            </a:r>
            <a:r>
              <a:rPr kumimoji="0" lang="fr-FR" altLang="fr-FR" sz="1800" b="1" i="0" u="none" strike="noStrike" cap="none" normalizeH="0" baseline="0" dirty="0">
                <a:ln>
                  <a:noFill/>
                </a:ln>
                <a:solidFill>
                  <a:schemeClr val="tx1"/>
                </a:solidFill>
                <a:effectLst/>
                <a:latin typeface="Arial" panose="020B0604020202020204" pitchFamily="34" charset="0"/>
              </a:rPr>
              <a:t> of </a:t>
            </a:r>
            <a:r>
              <a:rPr kumimoji="0" lang="fr-FR" altLang="fr-FR" sz="1800" b="1" i="0" u="none" strike="noStrike" cap="none" normalizeH="0" baseline="0" dirty="0" err="1">
                <a:ln>
                  <a:noFill/>
                </a:ln>
                <a:solidFill>
                  <a:schemeClr val="tx1"/>
                </a:solidFill>
                <a:effectLst/>
                <a:latin typeface="Arial" panose="020B0604020202020204" pitchFamily="34" charset="0"/>
              </a:rPr>
              <a:t>databases</a:t>
            </a:r>
            <a:r>
              <a:rPr kumimoji="0" lang="fr-FR" altLang="fr-FR" sz="1800" b="0" i="0" u="none" strike="noStrike" cap="none" normalizeH="0" baseline="0" dirty="0">
                <a:ln>
                  <a:noFill/>
                </a:ln>
                <a:solidFill>
                  <a:schemeClr val="tx1"/>
                </a:solidFill>
                <a:effectLst/>
                <a:latin typeface="Arial" panose="020B0604020202020204" pitchFamily="34" charset="0"/>
              </a:rPr>
              <a:t>: </a:t>
            </a:r>
            <a:r>
              <a:rPr kumimoji="0" lang="en-US" altLang="fr-FR" sz="1800" b="0" i="0" u="none" strike="noStrike" cap="none" normalizeH="0" baseline="0" dirty="0">
                <a:ln>
                  <a:noFill/>
                </a:ln>
                <a:solidFill>
                  <a:schemeClr val="tx1"/>
                </a:solidFill>
                <a:effectLst/>
                <a:latin typeface="Arial" panose="020B0604020202020204" pitchFamily="34" charset="0"/>
              </a:rPr>
              <a:t>To integrate new unlisted AVECs.</a:t>
            </a: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fr-FR" sz="1800" b="1" i="0" u="none" strike="noStrike" cap="none" normalizeH="0" baseline="0" dirty="0">
                <a:ln>
                  <a:noFill/>
                </a:ln>
                <a:solidFill>
                  <a:schemeClr val="tx1"/>
                </a:solidFill>
                <a:effectLst/>
                <a:latin typeface="Arial" panose="020B0604020202020204" pitchFamily="34" charset="0"/>
              </a:rPr>
              <a:t>Improving access to remote areas</a:t>
            </a:r>
            <a:r>
              <a:rPr kumimoji="0" lang="fr-FR" altLang="fr-FR" sz="1800" b="0" i="0" u="none" strike="noStrike" cap="none" normalizeH="0" baseline="0" dirty="0">
                <a:ln>
                  <a:noFill/>
                </a:ln>
                <a:solidFill>
                  <a:schemeClr val="tx1"/>
                </a:solidFill>
                <a:effectLst/>
                <a:latin typeface="Arial" panose="020B0604020202020204" pitchFamily="34" charset="0"/>
              </a:rPr>
              <a:t>: </a:t>
            </a:r>
            <a:r>
              <a:rPr kumimoji="0" lang="en-US" altLang="fr-FR" sz="1800" b="0" i="0" u="none" strike="noStrike" cap="none" normalizeH="0" baseline="0" dirty="0">
                <a:ln>
                  <a:noFill/>
                </a:ln>
                <a:solidFill>
                  <a:schemeClr val="tx1"/>
                </a:solidFill>
                <a:effectLst/>
                <a:latin typeface="Arial" panose="020B0604020202020204" pitchFamily="34" charset="0"/>
              </a:rPr>
              <a:t>Use of solutions such as mobile agencies and other services</a:t>
            </a:r>
          </a:p>
          <a:p>
            <a:pPr marL="0" marR="0" lvl="0" indent="0" algn="just" defTabSz="914400" rtl="0" eaLnBrk="0" fontAlgn="base" latinLnBrk="0" hangingPunct="0">
              <a:lnSpc>
                <a:spcPct val="100000"/>
              </a:lnSpc>
              <a:spcBef>
                <a:spcPct val="0"/>
              </a:spcBef>
              <a:spcAft>
                <a:spcPct val="0"/>
              </a:spcAft>
              <a:buClrTx/>
              <a:buSzTx/>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fr-FR" sz="1800" b="1" i="0" u="none" strike="noStrike" cap="none" normalizeH="0" baseline="0" dirty="0">
                <a:ln>
                  <a:noFill/>
                </a:ln>
                <a:solidFill>
                  <a:schemeClr val="tx1"/>
                </a:solidFill>
                <a:effectLst/>
                <a:latin typeface="Arial" panose="020B0604020202020204" pitchFamily="34" charset="0"/>
              </a:rPr>
              <a:t>Strengthening AVECs in peripheral areas</a:t>
            </a:r>
            <a:r>
              <a:rPr kumimoji="0" lang="fr-FR" altLang="fr-FR" sz="1800" b="0" i="0" u="none" strike="noStrike" cap="none" normalizeH="0" baseline="0" dirty="0">
                <a:ln>
                  <a:noFill/>
                </a:ln>
                <a:solidFill>
                  <a:schemeClr val="tx1"/>
                </a:solidFill>
                <a:effectLst/>
                <a:latin typeface="Arial" panose="020B0604020202020204" pitchFamily="34" charset="0"/>
              </a:rPr>
              <a:t>: </a:t>
            </a:r>
            <a:r>
              <a:rPr kumimoji="0" lang="en-US" altLang="fr-FR" sz="1800" b="0" i="0" u="none" strike="noStrike" cap="none" normalizeH="0" baseline="0" dirty="0">
                <a:ln>
                  <a:noFill/>
                </a:ln>
                <a:solidFill>
                  <a:schemeClr val="tx1"/>
                </a:solidFill>
                <a:effectLst/>
                <a:latin typeface="Arial" panose="020B0604020202020204" pitchFamily="34" charset="0"/>
              </a:rPr>
              <a:t>Training and support for better fund management and easier access to financial services</a:t>
            </a:r>
            <a:r>
              <a:rPr kumimoji="0" lang="fr-FR" altLang="fr-FR"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51749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3BCDF80F-7C46-F76D-4BCB-9176EE12424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094AF8FE-5543-E076-330F-CD15F8B2E148}"/>
              </a:ext>
            </a:extLst>
          </p:cNvPr>
          <p:cNvSpPr txBox="1"/>
          <p:nvPr/>
        </p:nvSpPr>
        <p:spPr>
          <a:xfrm>
            <a:off x="639797" y="944043"/>
            <a:ext cx="4916133" cy="3416320"/>
          </a:xfrm>
          <a:prstGeom prst="rect">
            <a:avLst/>
          </a:prstGeom>
          <a:noFill/>
        </p:spPr>
        <p:txBody>
          <a:bodyPr wrap="square" rtlCol="0">
            <a:spAutoFit/>
          </a:bodyPr>
          <a:lstStyle/>
          <a:p>
            <a:r>
              <a:rPr lang="en-US" sz="1200" b="1" dirty="0">
                <a:solidFill>
                  <a:srgbClr val="F0632D"/>
                </a:solidFill>
                <a:latin typeface="Arial" panose="020B0604020202020204" pitchFamily="34" charset="0"/>
                <a:cs typeface="Arial" panose="020B0604020202020204" pitchFamily="34" charset="0"/>
              </a:rPr>
              <a:t>Method </a:t>
            </a:r>
            <a:r>
              <a:rPr lang="en-US" sz="1200" dirty="0">
                <a:latin typeface="Arial" panose="020B0604020202020204" pitchFamily="34" charset="0"/>
                <a:cs typeface="Arial" panose="020B0604020202020204" pitchFamily="34" charset="0"/>
              </a:rPr>
              <a:t>: Lightweight integration via </a:t>
            </a:r>
            <a:r>
              <a:rPr lang="en-US" sz="1200" dirty="0" err="1">
                <a:latin typeface="Arial" panose="020B0604020202020204" pitchFamily="34" charset="0"/>
                <a:cs typeface="Arial" panose="020B0604020202020204" pitchFamily="34" charset="0"/>
              </a:rPr>
              <a:t>iframe</a:t>
            </a:r>
            <a:r>
              <a:rPr lang="en-US" sz="1200" dirty="0">
                <a:latin typeface="Arial" panose="020B0604020202020204" pitchFamily="34" charset="0"/>
                <a:cs typeface="Arial" panose="020B0604020202020204" pitchFamily="34" charset="0"/>
              </a:rPr>
              <a:t> or dedicated HTML page</a:t>
            </a:r>
          </a:p>
          <a:p>
            <a:r>
              <a:rPr lang="en-US" sz="1200" dirty="0">
                <a:latin typeface="Arial" panose="020B0604020202020204" pitchFamily="34" charset="0"/>
                <a:cs typeface="Arial" panose="020B0604020202020204" pitchFamily="34" charset="0"/>
              </a:rPr>
              <a:t>Add a link to the menu (for example: "Mapping WITH" or "</a:t>
            </a:r>
            <a:r>
              <a:rPr lang="en-US" sz="1200" dirty="0" err="1">
                <a:latin typeface="Arial" panose="020B0604020202020204" pitchFamily="34" charset="0"/>
                <a:cs typeface="Arial" panose="020B0604020202020204" pitchFamily="34" charset="0"/>
              </a:rPr>
              <a:t>Webmapping</a:t>
            </a:r>
            <a:r>
              <a:rPr lang="en-US" sz="1200" dirty="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This link will redirect to a page embedding the map as an </a:t>
            </a:r>
            <a:r>
              <a:rPr lang="en-US" sz="1200" dirty="0" err="1">
                <a:latin typeface="Arial" panose="020B0604020202020204" pitchFamily="34" charset="0"/>
                <a:cs typeface="Arial" panose="020B0604020202020204" pitchFamily="34" charset="0"/>
              </a:rPr>
              <a:t>iframe</a:t>
            </a:r>
            <a:r>
              <a:rPr lang="en-US" sz="1200" dirty="0">
                <a:latin typeface="Arial" panose="020B0604020202020204" pitchFamily="34" charset="0"/>
                <a:cs typeface="Arial" panose="020B0604020202020204" pitchFamily="34" charset="0"/>
              </a:rPr>
              <a:t> or via an HTML file hosted in a subfolder on the server.</a:t>
            </a:r>
          </a:p>
          <a:p>
            <a:r>
              <a:rPr lang="en-US" sz="1200" dirty="0">
                <a:latin typeface="Arial" panose="020B0604020202020204" pitchFamily="34" charset="0"/>
                <a:cs typeface="Arial" panose="020B0604020202020204" pitchFamily="34" charset="0"/>
              </a:rPr>
              <a:t>The web mapping project has been optimized for smooth navigation and compatibility with current web standards (HTML5, responsive design).</a:t>
            </a:r>
          </a:p>
          <a:p>
            <a:r>
              <a:rPr lang="en-US" sz="1200" dirty="0">
                <a:latin typeface="Arial" panose="020B0604020202020204" pitchFamily="34" charset="0"/>
                <a:cs typeface="Arial" panose="020B0604020202020204" pitchFamily="34" charset="0"/>
              </a:rPr>
              <a:t>Steps to follow to integrate the map into the APIF website</a:t>
            </a:r>
          </a:p>
          <a:p>
            <a:r>
              <a:rPr lang="en-US" sz="1200" dirty="0">
                <a:latin typeface="Arial" panose="020B0604020202020204" pitchFamily="34" charset="0"/>
                <a:cs typeface="Arial" panose="020B0604020202020204" pitchFamily="34" charset="0"/>
              </a:rPr>
              <a:t>Map hosting</a:t>
            </a:r>
          </a:p>
          <a:p>
            <a:r>
              <a:rPr lang="en-US" sz="1200" dirty="0">
                <a:latin typeface="Arial" panose="020B0604020202020204" pitchFamily="34" charset="0"/>
                <a:cs typeface="Arial" panose="020B0604020202020204" pitchFamily="34" charset="0"/>
              </a:rPr>
              <a:t>Export the mapping project in web format (HTML + JS + data).</a:t>
            </a:r>
          </a:p>
          <a:p>
            <a:r>
              <a:rPr lang="en-US" sz="1200" dirty="0">
                <a:latin typeface="Arial" panose="020B0604020202020204" pitchFamily="34" charset="0"/>
                <a:cs typeface="Arial" panose="020B0604020202020204" pitchFamily="34" charset="0"/>
              </a:rPr>
              <a:t>Upload this folder to the APIF server, in a directory similar to: https://apif.finances.gouv.ci/carto/avec/</a:t>
            </a:r>
          </a:p>
          <a:p>
            <a:r>
              <a:rPr lang="en-US" sz="1200" dirty="0">
                <a:latin typeface="Arial" panose="020B0604020202020204" pitchFamily="34" charset="0"/>
                <a:cs typeface="Arial" panose="020B0604020202020204" pitchFamily="34" charset="0"/>
              </a:rPr>
              <a:t>Create a new Joomla article (or a new custom page)</a:t>
            </a:r>
          </a:p>
          <a:p>
            <a:r>
              <a:rPr lang="en-US" sz="1200" dirty="0">
                <a:latin typeface="Arial" panose="020B0604020202020204" pitchFamily="34" charset="0"/>
                <a:cs typeface="Arial" panose="020B0604020202020204" pitchFamily="34" charset="0"/>
              </a:rPr>
              <a:t>In the Joomla administration:</a:t>
            </a:r>
          </a:p>
          <a:p>
            <a:r>
              <a:rPr lang="en-US" sz="1200" dirty="0">
                <a:latin typeface="Arial" panose="020B0604020202020204" pitchFamily="34" charset="0"/>
                <a:cs typeface="Arial" panose="020B0604020202020204" pitchFamily="34" charset="0"/>
              </a:rPr>
              <a:t>Go to Content &gt; Articles &gt; Add a new article.</a:t>
            </a:r>
          </a:p>
          <a:p>
            <a:r>
              <a:rPr lang="en-US" sz="1200" dirty="0">
                <a:latin typeface="Arial" panose="020B0604020202020204" pitchFamily="34" charset="0"/>
                <a:cs typeface="Arial" panose="020B0604020202020204" pitchFamily="34" charset="0"/>
              </a:rPr>
              <a:t>Title: Map of AVECs in Ivory Coast.</a:t>
            </a:r>
          </a:p>
          <a:p>
            <a:r>
              <a:rPr lang="en-US" sz="1200" dirty="0">
                <a:latin typeface="Arial" panose="020B0604020202020204" pitchFamily="34" charset="0"/>
                <a:cs typeface="Arial" panose="020B0604020202020204" pitchFamily="34" charset="0"/>
              </a:rPr>
              <a:t>In the content, insert an </a:t>
            </a:r>
            <a:r>
              <a:rPr lang="en-US" sz="1200" dirty="0" err="1">
                <a:latin typeface="Arial" panose="020B0604020202020204" pitchFamily="34" charset="0"/>
                <a:cs typeface="Arial" panose="020B0604020202020204" pitchFamily="34" charset="0"/>
              </a:rPr>
              <a:t>iframe</a:t>
            </a:r>
            <a:r>
              <a:rPr lang="en-US" sz="1200" dirty="0">
                <a:latin typeface="Arial" panose="020B0604020202020204" pitchFamily="34" charset="0"/>
                <a:cs typeface="Arial" panose="020B0604020202020204" pitchFamily="34" charset="0"/>
              </a:rPr>
              <a:t> or script redirecting to the map:</a:t>
            </a:r>
            <a:endParaRPr lang="fr-FR"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9123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DBB97-B7D1-CB08-7F00-2358755E64E8}"/>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CDE302C-DF0B-E40D-7A05-B36700B49DA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DB40A34-608E-8401-FF31-9333E284848A}"/>
              </a:ext>
            </a:extLst>
          </p:cNvPr>
          <p:cNvSpPr txBox="1"/>
          <p:nvPr/>
        </p:nvSpPr>
        <p:spPr>
          <a:xfrm>
            <a:off x="723773" y="365545"/>
            <a:ext cx="4916133" cy="5478423"/>
          </a:xfrm>
          <a:prstGeom prst="rect">
            <a:avLst/>
          </a:prstGeom>
          <a:noFill/>
        </p:spPr>
        <p:txBody>
          <a:bodyPr wrap="square" rtlCol="0">
            <a:spAutoFit/>
          </a:bodyPr>
          <a:lstStyle/>
          <a:p>
            <a:r>
              <a:rPr lang="en-US" sz="1200" b="1" dirty="0">
                <a:solidFill>
                  <a:srgbClr val="F0632D"/>
                </a:solidFill>
                <a:latin typeface="Arial" panose="020B0604020202020204" pitchFamily="34" charset="0"/>
                <a:cs typeface="Arial" panose="020B0604020202020204" pitchFamily="34" charset="0"/>
              </a:rPr>
              <a:t>Publish the article.</a:t>
            </a:r>
          </a:p>
          <a:p>
            <a:r>
              <a:rPr lang="en-US" sz="1200" dirty="0">
                <a:latin typeface="Arial" panose="020B0604020202020204" pitchFamily="34" charset="0"/>
                <a:cs typeface="Arial" panose="020B0604020202020204" pitchFamily="34" charset="0"/>
              </a:rPr>
              <a:t>Create a dedicated menu in the navigation bar.</a:t>
            </a:r>
          </a:p>
          <a:p>
            <a:r>
              <a:rPr lang="en-US" sz="1200" dirty="0">
                <a:latin typeface="Arial" panose="020B0604020202020204" pitchFamily="34" charset="0"/>
                <a:cs typeface="Arial" panose="020B0604020202020204" pitchFamily="34" charset="0"/>
              </a:rPr>
              <a:t>Go to Menus &gt; Main Menu (or the one displayed at the top).</a:t>
            </a:r>
          </a:p>
          <a:p>
            <a:r>
              <a:rPr lang="en-US" sz="1200" dirty="0">
                <a:latin typeface="Arial" panose="020B0604020202020204" pitchFamily="34" charset="0"/>
                <a:cs typeface="Arial" panose="020B0604020202020204" pitchFamily="34" charset="0"/>
              </a:rPr>
              <a:t>Click New.</a:t>
            </a:r>
          </a:p>
          <a:p>
            <a:r>
              <a:rPr lang="en-US" sz="1200" dirty="0">
                <a:latin typeface="Arial" panose="020B0604020202020204" pitchFamily="34" charset="0"/>
                <a:cs typeface="Arial" panose="020B0604020202020204" pitchFamily="34" charset="0"/>
              </a:rPr>
              <a:t>Menu title: </a:t>
            </a:r>
            <a:r>
              <a:rPr lang="en-US" sz="1200" dirty="0" err="1">
                <a:latin typeface="Arial" panose="020B0604020202020204" pitchFamily="34" charset="0"/>
                <a:cs typeface="Arial" panose="020B0604020202020204" pitchFamily="34" charset="0"/>
              </a:rPr>
              <a:t>Webmapping</a:t>
            </a:r>
            <a:r>
              <a:rPr lang="en-US" sz="1200" dirty="0">
                <a:latin typeface="Arial" panose="020B0604020202020204" pitchFamily="34" charset="0"/>
                <a:cs typeface="Arial" panose="020B0604020202020204" pitchFamily="34" charset="0"/>
              </a:rPr>
              <a:t> AVEC or Cartography AVEC.</a:t>
            </a:r>
          </a:p>
          <a:p>
            <a:r>
              <a:rPr lang="en-US" sz="1200" dirty="0">
                <a:latin typeface="Arial" panose="020B0604020202020204" pitchFamily="34" charset="0"/>
                <a:cs typeface="Arial" panose="020B0604020202020204" pitchFamily="34" charset="0"/>
              </a:rPr>
              <a:t>Menu type: Link to an article.</a:t>
            </a:r>
          </a:p>
          <a:p>
            <a:r>
              <a:rPr lang="en-US" sz="1200" dirty="0">
                <a:latin typeface="Arial" panose="020B0604020202020204" pitchFamily="34" charset="0"/>
                <a:cs typeface="Arial" panose="020B0604020202020204" pitchFamily="34" charset="0"/>
              </a:rPr>
              <a:t>Select the previously created article.</a:t>
            </a:r>
          </a:p>
          <a:p>
            <a:r>
              <a:rPr lang="en-US" sz="1200" dirty="0">
                <a:latin typeface="Arial" panose="020B0604020202020204" pitchFamily="34" charset="0"/>
                <a:cs typeface="Arial" panose="020B0604020202020204" pitchFamily="34" charset="0"/>
              </a:rPr>
              <a:t>Save and publish.</a:t>
            </a:r>
          </a:p>
          <a:p>
            <a:r>
              <a:rPr lang="en-US" sz="1200" dirty="0">
                <a:latin typeface="Arial" panose="020B0604020202020204" pitchFamily="34" charset="0"/>
                <a:cs typeface="Arial" panose="020B0604020202020204" pitchFamily="34" charset="0"/>
              </a:rPr>
              <a:t>It can also be placed in the "PROJECTS" or "PUBLICATIONS &gt; Statistics" menu, depending on APIF's wishes.</a:t>
            </a:r>
          </a:p>
          <a:p>
            <a:r>
              <a:rPr lang="en-US" sz="1200" dirty="0">
                <a:latin typeface="Arial" panose="020B0604020202020204" pitchFamily="34" charset="0"/>
                <a:cs typeface="Arial" panose="020B0604020202020204" pitchFamily="34" charset="0"/>
              </a:rPr>
              <a:t>Display Verification</a:t>
            </a:r>
          </a:p>
          <a:p>
            <a:r>
              <a:rPr lang="en-US" sz="1200" dirty="0">
                <a:latin typeface="Arial" panose="020B0604020202020204" pitchFamily="34" charset="0"/>
                <a:cs typeface="Arial" panose="020B0604020202020204" pitchFamily="34" charset="0"/>
              </a:rPr>
              <a:t>Test the display on:</a:t>
            </a:r>
          </a:p>
          <a:p>
            <a:r>
              <a:rPr lang="en-US" sz="1200" dirty="0">
                <a:latin typeface="Arial" panose="020B0604020202020204" pitchFamily="34" charset="0"/>
                <a:cs typeface="Arial" panose="020B0604020202020204" pitchFamily="34" charset="0"/>
              </a:rPr>
              <a:t>Computer</a:t>
            </a:r>
          </a:p>
          <a:p>
            <a:r>
              <a:rPr lang="en-US" sz="1200" dirty="0">
                <a:latin typeface="Arial" panose="020B0604020202020204" pitchFamily="34" charset="0"/>
                <a:cs typeface="Arial" panose="020B0604020202020204" pitchFamily="34" charset="0"/>
              </a:rPr>
              <a:t>Tablet</a:t>
            </a:r>
          </a:p>
          <a:p>
            <a:r>
              <a:rPr lang="en-US" sz="1200" dirty="0">
                <a:latin typeface="Arial" panose="020B0604020202020204" pitchFamily="34" charset="0"/>
                <a:cs typeface="Arial" panose="020B0604020202020204" pitchFamily="34" charset="0"/>
              </a:rPr>
              <a:t>Smartphone</a:t>
            </a:r>
          </a:p>
          <a:p>
            <a:r>
              <a:rPr lang="en-US" sz="1200" dirty="0">
                <a:latin typeface="Arial" panose="020B0604020202020204" pitchFamily="34" charset="0"/>
                <a:cs typeface="Arial" panose="020B0604020202020204" pitchFamily="34" charset="0"/>
              </a:rPr>
              <a:t>Ensure the map is responsive (adapts to the screen size). If not, adjust the &lt;</a:t>
            </a:r>
            <a:r>
              <a:rPr lang="en-US" sz="1200" dirty="0" err="1">
                <a:latin typeface="Arial" panose="020B0604020202020204" pitchFamily="34" charset="0"/>
                <a:cs typeface="Arial" panose="020B0604020202020204" pitchFamily="34" charset="0"/>
              </a:rPr>
              <a:t>iframe</a:t>
            </a:r>
            <a:r>
              <a:rPr lang="en-US" sz="1200" dirty="0">
                <a:latin typeface="Arial" panose="020B0604020202020204" pitchFamily="34" charset="0"/>
                <a:cs typeface="Arial" panose="020B0604020202020204" pitchFamily="34" charset="0"/>
              </a:rPr>
              <a:t>&gt; dimensions or switch to a redirect to a full-width page.</a:t>
            </a:r>
          </a:p>
          <a:p>
            <a:r>
              <a:rPr lang="en-US" sz="1200" dirty="0">
                <a:latin typeface="Arial" panose="020B0604020202020204" pitchFamily="34" charset="0"/>
                <a:cs typeface="Arial" panose="020B0604020202020204" pitchFamily="34" charset="0"/>
              </a:rPr>
              <a:t>Security and Performance</a:t>
            </a:r>
          </a:p>
          <a:p>
            <a:r>
              <a:rPr lang="en-US" sz="1200" dirty="0">
                <a:latin typeface="Arial" panose="020B0604020202020204" pitchFamily="34" charset="0"/>
                <a:cs typeface="Arial" panose="020B0604020202020204" pitchFamily="34" charset="0"/>
              </a:rPr>
              <a:t>Ensure that the hosted files are HTTPS-enabled.</a:t>
            </a:r>
          </a:p>
          <a:p>
            <a:r>
              <a:rPr lang="en-US" sz="1200" dirty="0">
                <a:latin typeface="Arial" panose="020B0604020202020204" pitchFamily="34" charset="0"/>
                <a:cs typeface="Arial" panose="020B0604020202020204" pitchFamily="34" charset="0"/>
              </a:rPr>
              <a:t>Add an .</a:t>
            </a:r>
            <a:r>
              <a:rPr lang="en-US" sz="1200" dirty="0" err="1">
                <a:latin typeface="Arial" panose="020B0604020202020204" pitchFamily="34" charset="0"/>
                <a:cs typeface="Arial" panose="020B0604020202020204" pitchFamily="34" charset="0"/>
              </a:rPr>
              <a:t>htaccess</a:t>
            </a:r>
            <a:r>
              <a:rPr lang="en-US" sz="1200" dirty="0">
                <a:latin typeface="Arial" panose="020B0604020202020204" pitchFamily="34" charset="0"/>
                <a:cs typeface="Arial" panose="020B0604020202020204" pitchFamily="34" charset="0"/>
              </a:rPr>
              <a:t> file if necessary to control access to sensitive resources.</a:t>
            </a:r>
          </a:p>
          <a:p>
            <a:r>
              <a:rPr lang="en-US" sz="1200" dirty="0">
                <a:latin typeface="Arial" panose="020B0604020202020204" pitchFamily="34" charset="0"/>
                <a:cs typeface="Arial" panose="020B0604020202020204" pitchFamily="34" charset="0"/>
              </a:rPr>
              <a:t>Optionally, minify JS/CSS files to speed up loading.</a:t>
            </a:r>
          </a:p>
          <a:p>
            <a:r>
              <a:rPr lang="en-US" sz="1200" dirty="0">
                <a:latin typeface="Arial" panose="020B0604020202020204" pitchFamily="34" charset="0"/>
                <a:cs typeface="Arial" panose="020B0604020202020204" pitchFamily="34" charset="0"/>
              </a:rPr>
              <a:t>Advantages:</a:t>
            </a:r>
          </a:p>
          <a:p>
            <a:r>
              <a:rPr lang="en-US" sz="1200" dirty="0">
                <a:latin typeface="Arial" panose="020B0604020202020204" pitchFamily="34" charset="0"/>
                <a:cs typeface="Arial" panose="020B0604020202020204" pitchFamily="34" charset="0"/>
              </a:rPr>
              <a:t>Quick and easy integration without modifying the existing site structure</a:t>
            </a:r>
          </a:p>
          <a:p>
            <a:r>
              <a:rPr lang="en-US" sz="1200" dirty="0">
                <a:latin typeface="Arial" panose="020B0604020202020204" pitchFamily="34" charset="0"/>
                <a:cs typeface="Arial" panose="020B0604020202020204" pitchFamily="34" charset="0"/>
              </a:rPr>
              <a:t>No advanced server configuration required</a:t>
            </a:r>
          </a:p>
          <a:p>
            <a:r>
              <a:rPr lang="en-US" sz="1200" dirty="0">
                <a:latin typeface="Arial" panose="020B0604020202020204" pitchFamily="34" charset="0"/>
                <a:cs typeface="Arial" panose="020B0604020202020204" pitchFamily="34" charset="0"/>
              </a:rPr>
              <a:t>Fast and responsive map loading</a:t>
            </a:r>
          </a:p>
          <a:p>
            <a:r>
              <a:rPr lang="en-US" sz="1200" dirty="0">
                <a:latin typeface="Arial" panose="020B0604020202020204" pitchFamily="34" charset="0"/>
                <a:cs typeface="Arial" panose="020B0604020202020204" pitchFamily="34" charset="0"/>
              </a:rPr>
              <a:t>Easy maintenance (updates by simply replacing fil</a:t>
            </a:r>
            <a:r>
              <a:rPr lang="en-US" sz="1400" dirty="0">
                <a:latin typeface="Arial" panose="020B0604020202020204" pitchFamily="34" charset="0"/>
                <a:cs typeface="Arial" panose="020B0604020202020204" pitchFamily="34" charset="0"/>
              </a:rPr>
              <a:t>es)</a:t>
            </a:r>
            <a:endParaRPr lang="fr-F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367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3932-AFA4-8606-21DD-CB50BAF1B40B}"/>
            </a:ext>
          </a:extLst>
        </p:cNvPr>
        <p:cNvGrpSpPr/>
        <p:nvPr/>
      </p:nvGrpSpPr>
      <p:grpSpPr>
        <a:xfrm>
          <a:off x="0" y="0"/>
          <a:ext cx="0" cy="0"/>
          <a:chOff x="0" y="0"/>
          <a:chExt cx="0" cy="0"/>
        </a:xfrm>
      </p:grpSpPr>
      <p:pic>
        <p:nvPicPr>
          <p:cNvPr id="2" name="Image 1">
            <a:extLst>
              <a:ext uri="{FF2B5EF4-FFF2-40B4-BE49-F238E27FC236}">
                <a16:creationId xmlns:a16="http://schemas.microsoft.com/office/drawing/2014/main" id="{927B414E-A1B8-9BC9-40C4-854019FC37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ZoneTexte 9">
            <a:extLst>
              <a:ext uri="{FF2B5EF4-FFF2-40B4-BE49-F238E27FC236}">
                <a16:creationId xmlns:a16="http://schemas.microsoft.com/office/drawing/2014/main" id="{1ED8291D-5BE9-AA80-807E-154909EFFE7F}"/>
              </a:ext>
            </a:extLst>
          </p:cNvPr>
          <p:cNvSpPr txBox="1"/>
          <p:nvPr/>
        </p:nvSpPr>
        <p:spPr>
          <a:xfrm>
            <a:off x="851291" y="5102385"/>
            <a:ext cx="4916133" cy="707886"/>
          </a:xfrm>
          <a:prstGeom prst="rect">
            <a:avLst/>
          </a:prstGeom>
          <a:noFill/>
        </p:spPr>
        <p:txBody>
          <a:bodyPr wrap="square" rtlCol="0">
            <a:spAutoFit/>
          </a:bodyPr>
          <a:lstStyle/>
          <a:p>
            <a:r>
              <a:rPr lang="fr-FR" sz="4000" b="1" dirty="0" err="1">
                <a:latin typeface="Arial" panose="020B0604020202020204" pitchFamily="34" charset="0"/>
                <a:cs typeface="Arial" panose="020B0604020202020204" pitchFamily="34" charset="0"/>
              </a:rPr>
              <a:t>Thank</a:t>
            </a:r>
            <a:r>
              <a:rPr lang="fr-FR" sz="4000" b="1" dirty="0">
                <a:latin typeface="Arial" panose="020B0604020202020204" pitchFamily="34" charset="0"/>
                <a:cs typeface="Arial" panose="020B0604020202020204" pitchFamily="34" charset="0"/>
              </a:rPr>
              <a:t> </a:t>
            </a:r>
            <a:r>
              <a:rPr lang="fr-FR" sz="4000" b="1" dirty="0" err="1">
                <a:latin typeface="Arial" panose="020B0604020202020204" pitchFamily="34" charset="0"/>
                <a:cs typeface="Arial" panose="020B0604020202020204" pitchFamily="34" charset="0"/>
              </a:rPr>
              <a:t>you</a:t>
            </a:r>
            <a:endParaRPr lang="fr-FR" sz="4000" b="1" dirty="0">
              <a:latin typeface="Arial" panose="020B060402020202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210DF62D-2DDE-210A-6C2D-371CE990A64A}"/>
              </a:ext>
            </a:extLst>
          </p:cNvPr>
          <p:cNvSpPr txBox="1"/>
          <p:nvPr/>
        </p:nvSpPr>
        <p:spPr>
          <a:xfrm>
            <a:off x="639797" y="944043"/>
            <a:ext cx="4916133" cy="2431435"/>
          </a:xfrm>
          <a:prstGeom prst="rect">
            <a:avLst/>
          </a:prstGeom>
          <a:noFill/>
        </p:spPr>
        <p:txBody>
          <a:bodyPr wrap="square" rtlCol="0">
            <a:spAutoFit/>
          </a:bodyPr>
          <a:lstStyle/>
          <a:p>
            <a:r>
              <a:rPr lang="fr-FR" sz="4000" b="1" dirty="0" err="1">
                <a:solidFill>
                  <a:srgbClr val="F0632D"/>
                </a:solidFill>
                <a:latin typeface="Arial" panose="020B0604020202020204" pitchFamily="34" charset="0"/>
                <a:cs typeface="Arial" panose="020B0604020202020204" pitchFamily="34" charset="0"/>
              </a:rPr>
              <a:t>Presentation</a:t>
            </a:r>
            <a:r>
              <a:rPr lang="fr-FR" sz="4000" b="1" dirty="0">
                <a:solidFill>
                  <a:srgbClr val="F0632D"/>
                </a:solidFill>
                <a:latin typeface="Arial" panose="020B0604020202020204" pitchFamily="34" charset="0"/>
                <a:cs typeface="Arial" panose="020B0604020202020204" pitchFamily="34" charset="0"/>
              </a:rPr>
              <a:t> by :</a:t>
            </a:r>
          </a:p>
          <a:p>
            <a:r>
              <a:rPr lang="fr-FR" sz="1600" b="1" dirty="0">
                <a:latin typeface="Arial" panose="020B0604020202020204" pitchFamily="34" charset="0"/>
                <a:cs typeface="Arial" panose="020B0604020202020204" pitchFamily="34" charset="0"/>
              </a:rPr>
              <a:t>Olivier Cauphy ABON’GO</a:t>
            </a:r>
          </a:p>
          <a:p>
            <a:r>
              <a:rPr lang="fr-FR" sz="1600" b="1" dirty="0">
                <a:latin typeface="Arial" panose="020B0604020202020204" pitchFamily="34" charset="0"/>
                <a:cs typeface="Arial" panose="020B0604020202020204" pitchFamily="34" charset="0"/>
              </a:rPr>
              <a:t>CEO</a:t>
            </a:r>
          </a:p>
          <a:p>
            <a:r>
              <a:rPr lang="fr-FR" sz="1600" b="1" dirty="0">
                <a:latin typeface="Arial" panose="020B0604020202020204" pitchFamily="34" charset="0"/>
                <a:cs typeface="Arial" panose="020B0604020202020204" pitchFamily="34" charset="0"/>
              </a:rPr>
              <a:t>ANGEL TECHNONOLOGY (ANGETEC)</a:t>
            </a:r>
          </a:p>
          <a:p>
            <a:r>
              <a:rPr lang="fr-FR" sz="1600" b="1" dirty="0">
                <a:latin typeface="Arial" panose="020B0604020202020204" pitchFamily="34" charset="0"/>
                <a:cs typeface="Arial" panose="020B0604020202020204" pitchFamily="34" charset="0"/>
              </a:rPr>
              <a:t>Côte d’Ivoire: (+225) 0709007076 / 0140222525</a:t>
            </a:r>
          </a:p>
          <a:p>
            <a:r>
              <a:rPr lang="fr-FR" sz="1600" b="1" dirty="0">
                <a:latin typeface="Arial" panose="020B0604020202020204" pitchFamily="34" charset="0"/>
                <a:cs typeface="Arial" panose="020B0604020202020204" pitchFamily="34" charset="0"/>
              </a:rPr>
              <a:t>Belgique: (+32) 0498400583</a:t>
            </a:r>
          </a:p>
          <a:p>
            <a:r>
              <a:rPr lang="fr-FR" sz="1600" b="1" dirty="0" err="1">
                <a:solidFill>
                  <a:srgbClr val="F0632D"/>
                </a:solidFill>
                <a:latin typeface="Arial" panose="020B0604020202020204" pitchFamily="34" charset="0"/>
                <a:cs typeface="Arial" panose="020B0604020202020204" pitchFamily="34" charset="0"/>
                <a:hlinkClick r:id="rId3"/>
              </a:rPr>
              <a:t>o.abongo@angeltechnology,ci</a:t>
            </a:r>
            <a:endParaRPr lang="fr-FR" sz="1600" b="1" dirty="0">
              <a:solidFill>
                <a:srgbClr val="F0632D"/>
              </a:solidFill>
              <a:latin typeface="Arial" panose="020B0604020202020204" pitchFamily="34" charset="0"/>
              <a:cs typeface="Arial" panose="020B0604020202020204" pitchFamily="34" charset="0"/>
            </a:endParaRPr>
          </a:p>
          <a:p>
            <a:r>
              <a:rPr lang="fr-FR" sz="1600" b="1" dirty="0">
                <a:solidFill>
                  <a:srgbClr val="F0632D"/>
                </a:solidFill>
                <a:latin typeface="Arial" panose="020B0604020202020204" pitchFamily="34" charset="0"/>
                <a:cs typeface="Arial" panose="020B0604020202020204" pitchFamily="34" charset="0"/>
                <a:hlinkClick r:id="rId4"/>
              </a:rPr>
              <a:t>www.angeltechnology.ci</a:t>
            </a:r>
            <a:r>
              <a:rPr lang="fr-FR" sz="1600" b="1" dirty="0">
                <a:solidFill>
                  <a:srgbClr val="F0632D"/>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8498756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TotalTime>
  <Words>993</Words>
  <Application>Microsoft Office PowerPoint</Application>
  <PresentationFormat>Grand écran</PresentationFormat>
  <Paragraphs>135</Paragraphs>
  <Slides>12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Calibri</vt:lpstr>
      <vt:lpstr>Calibri Light</vt:lpstr>
      <vt:lpstr>Roboto</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 AKA</dc:creator>
  <cp:lastModifiedBy>Ange olivier Cauphy abon'go</cp:lastModifiedBy>
  <cp:revision>13</cp:revision>
  <dcterms:created xsi:type="dcterms:W3CDTF">2023-08-09T17:52:52Z</dcterms:created>
  <dcterms:modified xsi:type="dcterms:W3CDTF">2025-09-17T11:31:39Z</dcterms:modified>
</cp:coreProperties>
</file>