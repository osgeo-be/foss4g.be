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39_33A8060D.xml" ContentType="application/vnd.ms-powerpoint.comment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93" r:id="rId5"/>
    <p:sldId id="294" r:id="rId6"/>
    <p:sldId id="298" r:id="rId7"/>
    <p:sldId id="295" r:id="rId8"/>
    <p:sldId id="310" r:id="rId9"/>
    <p:sldId id="307" r:id="rId10"/>
    <p:sldId id="296" r:id="rId11"/>
    <p:sldId id="299" r:id="rId12"/>
    <p:sldId id="311" r:id="rId13"/>
    <p:sldId id="312" r:id="rId14"/>
    <p:sldId id="313" r:id="rId15"/>
    <p:sldId id="309" r:id="rId16"/>
    <p:sldId id="316" r:id="rId17"/>
    <p:sldId id="317" r:id="rId18"/>
    <p:sldId id="308" r:id="rId19"/>
    <p:sldId id="314" r:id="rId20"/>
    <p:sldId id="323" r:id="rId21"/>
    <p:sldId id="326" r:id="rId22"/>
    <p:sldId id="315" r:id="rId23"/>
    <p:sldId id="322" r:id="rId24"/>
    <p:sldId id="318" r:id="rId25"/>
    <p:sldId id="327" r:id="rId26"/>
    <p:sldId id="319" r:id="rId27"/>
    <p:sldId id="325" r:id="rId28"/>
    <p:sldId id="320" r:id="rId29"/>
    <p:sldId id="321" r:id="rId30"/>
    <p:sldId id="29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512" userDrawn="1">
          <p15:clr>
            <a:srgbClr val="A4A3A4"/>
          </p15:clr>
        </p15:guide>
        <p15:guide id="4" orient="horz" pos="17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1646DA-8A21-F195-B253-00587FFF9ED3}" name="David Cavrenne (GIM)" initials="D(" userId="S::david.cavrenne@gim.be::e8ca5f70-37d0-410d-9937-f314389d1c7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21E"/>
    <a:srgbClr val="E65028"/>
    <a:srgbClr val="0FA0C8"/>
    <a:srgbClr val="1EAAA0"/>
    <a:srgbClr val="009B7D"/>
    <a:srgbClr val="91C3BE"/>
    <a:srgbClr val="EB7323"/>
    <a:srgbClr val="A5B9BE"/>
    <a:srgbClr val="B4D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BF6158-CA50-F86A-4325-3E085D526B78}" v="104" dt="2025-09-19T14:35:15.893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78"/>
      </p:cViewPr>
      <p:guideLst>
        <p:guide orient="horz" pos="1321"/>
        <p:guide pos="3840"/>
        <p:guide orient="horz" pos="1512"/>
        <p:guide orient="horz" pos="17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9" d="100"/>
          <a:sy n="119" d="100"/>
        </p:scale>
        <p:origin x="304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avrenne (GIM)" userId="S::david.cavrenne@gim.be::e8ca5f70-37d0-410d-9937-f314389d1c79" providerId="AD" clId="Web-{66BF6158-CA50-F86A-4325-3E085D526B78}"/>
    <pc:docChg chg="mod modSld">
      <pc:chgData name="David Cavrenne (GIM)" userId="S::david.cavrenne@gim.be::e8ca5f70-37d0-410d-9937-f314389d1c79" providerId="AD" clId="Web-{66BF6158-CA50-F86A-4325-3E085D526B78}" dt="2025-09-19T14:35:15.893" v="137" actId="1076"/>
      <pc:docMkLst>
        <pc:docMk/>
      </pc:docMkLst>
      <pc:sldChg chg="modSp">
        <pc:chgData name="David Cavrenne (GIM)" userId="S::david.cavrenne@gim.be::e8ca5f70-37d0-410d-9937-f314389d1c79" providerId="AD" clId="Web-{66BF6158-CA50-F86A-4325-3E085D526B78}" dt="2025-09-19T14:16:55.295" v="38" actId="20577"/>
        <pc:sldMkLst>
          <pc:docMk/>
          <pc:sldMk cId="3430634535" sldId="310"/>
        </pc:sldMkLst>
        <pc:graphicFrameChg chg="mod modGraphic">
          <ac:chgData name="David Cavrenne (GIM)" userId="S::david.cavrenne@gim.be::e8ca5f70-37d0-410d-9937-f314389d1c79" providerId="AD" clId="Web-{66BF6158-CA50-F86A-4325-3E085D526B78}" dt="2025-09-19T14:16:55.295" v="38" actId="20577"/>
          <ac:graphicFrameMkLst>
            <pc:docMk/>
            <pc:sldMk cId="3430634535" sldId="310"/>
            <ac:graphicFrameMk id="8" creationId="{EB518A09-3D46-56A2-CFD4-0B399D2315FF}"/>
          </ac:graphicFrameMkLst>
        </pc:graphicFrameChg>
      </pc:sldChg>
      <pc:sldChg chg="modSp">
        <pc:chgData name="David Cavrenne (GIM)" userId="S::david.cavrenne@gim.be::e8ca5f70-37d0-410d-9937-f314389d1c79" providerId="AD" clId="Web-{66BF6158-CA50-F86A-4325-3E085D526B78}" dt="2025-09-19T14:29:31.593" v="126" actId="14100"/>
        <pc:sldMkLst>
          <pc:docMk/>
          <pc:sldMk cId="510840102" sldId="315"/>
        </pc:sldMkLst>
        <pc:spChg chg="mod">
          <ac:chgData name="David Cavrenne (GIM)" userId="S::david.cavrenne@gim.be::e8ca5f70-37d0-410d-9937-f314389d1c79" providerId="AD" clId="Web-{66BF6158-CA50-F86A-4325-3E085D526B78}" dt="2025-09-19T14:29:31.593" v="126" actId="14100"/>
          <ac:spMkLst>
            <pc:docMk/>
            <pc:sldMk cId="510840102" sldId="315"/>
            <ac:spMk id="4" creationId="{283CA9B0-9F2A-72A8-C518-B7621B92DA57}"/>
          </ac:spMkLst>
        </pc:spChg>
      </pc:sldChg>
      <pc:sldChg chg="modSp">
        <pc:chgData name="David Cavrenne (GIM)" userId="S::david.cavrenne@gim.be::e8ca5f70-37d0-410d-9937-f314389d1c79" providerId="AD" clId="Web-{66BF6158-CA50-F86A-4325-3E085D526B78}" dt="2025-09-19T14:20:51.630" v="42" actId="20577"/>
        <pc:sldMkLst>
          <pc:docMk/>
          <pc:sldMk cId="2655140998" sldId="316"/>
        </pc:sldMkLst>
        <pc:spChg chg="mod">
          <ac:chgData name="David Cavrenne (GIM)" userId="S::david.cavrenne@gim.be::e8ca5f70-37d0-410d-9937-f314389d1c79" providerId="AD" clId="Web-{66BF6158-CA50-F86A-4325-3E085D526B78}" dt="2025-09-19T14:20:51.630" v="42" actId="20577"/>
          <ac:spMkLst>
            <pc:docMk/>
            <pc:sldMk cId="2655140998" sldId="316"/>
            <ac:spMk id="4" creationId="{32356CE5-F2F6-4820-603D-C4DD7CAABE13}"/>
          </ac:spMkLst>
        </pc:spChg>
      </pc:sldChg>
      <pc:sldChg chg="modSp">
        <pc:chgData name="David Cavrenne (GIM)" userId="S::david.cavrenne@gim.be::e8ca5f70-37d0-410d-9937-f314389d1c79" providerId="AD" clId="Web-{66BF6158-CA50-F86A-4325-3E085D526B78}" dt="2025-09-19T14:22:24.632" v="69" actId="20577"/>
        <pc:sldMkLst>
          <pc:docMk/>
          <pc:sldMk cId="3033628950" sldId="317"/>
        </pc:sldMkLst>
        <pc:spChg chg="mod">
          <ac:chgData name="David Cavrenne (GIM)" userId="S::david.cavrenne@gim.be::e8ca5f70-37d0-410d-9937-f314389d1c79" providerId="AD" clId="Web-{66BF6158-CA50-F86A-4325-3E085D526B78}" dt="2025-09-19T14:21:47.725" v="65" actId="20577"/>
          <ac:spMkLst>
            <pc:docMk/>
            <pc:sldMk cId="3033628950" sldId="317"/>
            <ac:spMk id="2" creationId="{402B472E-DB0C-4E66-D765-A4C8AB6B870E}"/>
          </ac:spMkLst>
        </pc:spChg>
        <pc:spChg chg="mod">
          <ac:chgData name="David Cavrenne (GIM)" userId="S::david.cavrenne@gim.be::e8ca5f70-37d0-410d-9937-f314389d1c79" providerId="AD" clId="Web-{66BF6158-CA50-F86A-4325-3E085D526B78}" dt="2025-09-19T14:22:24.632" v="69" actId="20577"/>
          <ac:spMkLst>
            <pc:docMk/>
            <pc:sldMk cId="3033628950" sldId="317"/>
            <ac:spMk id="3" creationId="{3624499F-8E5A-67E9-5C0E-612B8D17F90A}"/>
          </ac:spMkLst>
        </pc:spChg>
      </pc:sldChg>
      <pc:sldChg chg="modSp">
        <pc:chgData name="David Cavrenne (GIM)" userId="S::david.cavrenne@gim.be::e8ca5f70-37d0-410d-9937-f314389d1c79" providerId="AD" clId="Web-{66BF6158-CA50-F86A-4325-3E085D526B78}" dt="2025-09-19T14:25:53.854" v="113" actId="20577"/>
        <pc:sldMkLst>
          <pc:docMk/>
          <pc:sldMk cId="3382686246" sldId="318"/>
        </pc:sldMkLst>
        <pc:spChg chg="mod">
          <ac:chgData name="David Cavrenne (GIM)" userId="S::david.cavrenne@gim.be::e8ca5f70-37d0-410d-9937-f314389d1c79" providerId="AD" clId="Web-{66BF6158-CA50-F86A-4325-3E085D526B78}" dt="2025-09-19T14:25:53.854" v="113" actId="20577"/>
          <ac:spMkLst>
            <pc:docMk/>
            <pc:sldMk cId="3382686246" sldId="318"/>
            <ac:spMk id="3" creationId="{9E34DBB3-F236-DAF7-2F71-6445398EC5F7}"/>
          </ac:spMkLst>
        </pc:spChg>
      </pc:sldChg>
      <pc:sldChg chg="modSp">
        <pc:chgData name="David Cavrenne (GIM)" userId="S::david.cavrenne@gim.be::e8ca5f70-37d0-410d-9937-f314389d1c79" providerId="AD" clId="Web-{66BF6158-CA50-F86A-4325-3E085D526B78}" dt="2025-09-19T14:35:15.893" v="137" actId="1076"/>
        <pc:sldMkLst>
          <pc:docMk/>
          <pc:sldMk cId="566305513" sldId="321"/>
        </pc:sldMkLst>
        <pc:spChg chg="mod">
          <ac:chgData name="David Cavrenne (GIM)" userId="S::david.cavrenne@gim.be::e8ca5f70-37d0-410d-9937-f314389d1c79" providerId="AD" clId="Web-{66BF6158-CA50-F86A-4325-3E085D526B78}" dt="2025-09-19T14:35:15.893" v="137" actId="1076"/>
          <ac:spMkLst>
            <pc:docMk/>
            <pc:sldMk cId="566305513" sldId="321"/>
            <ac:spMk id="3" creationId="{328F2B96-6208-D223-A2B2-1142FD43FC73}"/>
          </ac:spMkLst>
        </pc:spChg>
      </pc:sldChg>
      <pc:sldChg chg="modSp">
        <pc:chgData name="David Cavrenne (GIM)" userId="S::david.cavrenne@gim.be::e8ca5f70-37d0-410d-9937-f314389d1c79" providerId="AD" clId="Web-{66BF6158-CA50-F86A-4325-3E085D526B78}" dt="2025-09-19T14:23:56.868" v="74" actId="14100"/>
        <pc:sldMkLst>
          <pc:docMk/>
          <pc:sldMk cId="1575802337" sldId="326"/>
        </pc:sldMkLst>
        <pc:spChg chg="mod">
          <ac:chgData name="David Cavrenne (GIM)" userId="S::david.cavrenne@gim.be::e8ca5f70-37d0-410d-9937-f314389d1c79" providerId="AD" clId="Web-{66BF6158-CA50-F86A-4325-3E085D526B78}" dt="2025-09-19T14:23:56.868" v="74" actId="14100"/>
          <ac:spMkLst>
            <pc:docMk/>
            <pc:sldMk cId="1575802337" sldId="326"/>
            <ac:spMk id="8" creationId="{F7C2C769-1B30-4FAA-9B6C-2E946FD611CD}"/>
          </ac:spMkLst>
        </pc:spChg>
      </pc:sldChg>
    </pc:docChg>
  </pc:docChgLst>
</pc:chgInfo>
</file>

<file path=ppt/comments/modernComment_139_33A806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7923E3-B08E-43D3-A1C9-806D6E456877}" authorId="{6A1646DA-8A21-F195-B253-00587FFF9ED3}" created="2025-09-19T14:18:47.487">
    <pc:sldMkLst xmlns:pc="http://schemas.microsoft.com/office/powerpoint/2013/main/command">
      <pc:docMk/>
      <pc:sldMk cId="866649613" sldId="313"/>
    </pc:sldMkLst>
    <p188:txBody>
      <a:bodyPr/>
      <a:lstStyle/>
      <a:p>
        <a:r>
          <a:rPr lang="en-US"/>
          <a:t>[@Amandine Holemans (GIM)] 
Peut-être intéressant de mettre l'unité des quotas entre [ ] 
Je suppose que ce sont des calls au service ?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C3322-467D-47DA-8525-B4C3EF47055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08AAA2E-59BE-4942-8DC9-5D333747393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noProof="0" dirty="0"/>
            <a:t>Purpose</a:t>
          </a:r>
          <a:r>
            <a:rPr lang="en-US" noProof="0" dirty="0"/>
            <a:t>: </a:t>
          </a:r>
          <a:r>
            <a:rPr lang="en-US" noProof="0" dirty="0">
              <a:latin typeface="Verdana"/>
            </a:rPr>
            <a:t>Analyse the optimal</a:t>
          </a:r>
          <a:r>
            <a:rPr lang="en-US" noProof="0" dirty="0"/>
            <a:t> configuration for the location of emergency services</a:t>
          </a:r>
        </a:p>
      </dgm:t>
    </dgm:pt>
    <dgm:pt modelId="{3CC966A5-72D8-444B-9F5A-62982EE982ED}" type="parTrans" cxnId="{0ECA63E7-4F39-40DB-8A31-23C98F1DB879}">
      <dgm:prSet/>
      <dgm:spPr/>
      <dgm:t>
        <a:bodyPr/>
        <a:lstStyle/>
        <a:p>
          <a:endParaRPr lang="en-US"/>
        </a:p>
      </dgm:t>
    </dgm:pt>
    <dgm:pt modelId="{3C1B8503-5E2A-4413-AA31-68585513DE5B}" type="sibTrans" cxnId="{0ECA63E7-4F39-40DB-8A31-23C98F1DB879}">
      <dgm:prSet/>
      <dgm:spPr/>
      <dgm:t>
        <a:bodyPr/>
        <a:lstStyle/>
        <a:p>
          <a:endParaRPr lang="en-US"/>
        </a:p>
      </dgm:t>
    </dgm:pt>
    <dgm:pt modelId="{E32E54A2-317B-4C11-B02E-D9A5F2B8FA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noProof="0" dirty="0"/>
            <a:t>Use of the </a:t>
          </a:r>
          <a:r>
            <a:rPr lang="en-US" b="1" noProof="0" dirty="0" err="1"/>
            <a:t>Qgis</a:t>
          </a:r>
          <a:r>
            <a:rPr lang="en-US" b="1" noProof="0" dirty="0"/>
            <a:t> project</a:t>
          </a:r>
          <a:r>
            <a:rPr lang="en-US" noProof="0" dirty="0"/>
            <a:t>: </a:t>
          </a:r>
          <a:r>
            <a:rPr lang="en-US" noProof="0" dirty="0">
              <a:latin typeface="Verdana"/>
            </a:rPr>
            <a:t>Analyse</a:t>
          </a:r>
          <a:r>
            <a:rPr lang="en-US" noProof="0" dirty="0"/>
            <a:t>, present and convince</a:t>
          </a:r>
        </a:p>
      </dgm:t>
    </dgm:pt>
    <dgm:pt modelId="{B36B7FE3-9D6C-48DF-BB82-783812BA44DA}" type="parTrans" cxnId="{686B2ED2-DB20-497B-BC67-A31D95046BAB}">
      <dgm:prSet/>
      <dgm:spPr/>
      <dgm:t>
        <a:bodyPr/>
        <a:lstStyle/>
        <a:p>
          <a:endParaRPr lang="en-US"/>
        </a:p>
      </dgm:t>
    </dgm:pt>
    <dgm:pt modelId="{6423D0B9-7B70-425C-A22B-61C8DD45D35F}" type="sibTrans" cxnId="{686B2ED2-DB20-497B-BC67-A31D95046BAB}">
      <dgm:prSet/>
      <dgm:spPr/>
      <dgm:t>
        <a:bodyPr/>
        <a:lstStyle/>
        <a:p>
          <a:endParaRPr lang="en-US"/>
        </a:p>
      </dgm:t>
    </dgm:pt>
    <dgm:pt modelId="{A1F75896-D5E3-4FED-B61C-1BA7993297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noProof="0" dirty="0"/>
            <a:t>Challenges</a:t>
          </a:r>
          <a:r>
            <a:rPr lang="en-US" noProof="0" dirty="0"/>
            <a:t>: </a:t>
          </a:r>
        </a:p>
      </dgm:t>
    </dgm:pt>
    <dgm:pt modelId="{3916312D-75AE-4637-9E27-77256266C15E}" type="parTrans" cxnId="{8539A87A-00B0-49DE-9F8A-BB1FE45D5028}">
      <dgm:prSet/>
      <dgm:spPr/>
      <dgm:t>
        <a:bodyPr/>
        <a:lstStyle/>
        <a:p>
          <a:endParaRPr lang="en-US"/>
        </a:p>
      </dgm:t>
    </dgm:pt>
    <dgm:pt modelId="{BC6F26A9-4445-43D1-80A5-533E3A306454}" type="sibTrans" cxnId="{8539A87A-00B0-49DE-9F8A-BB1FE45D5028}">
      <dgm:prSet/>
      <dgm:spPr/>
      <dgm:t>
        <a:bodyPr/>
        <a:lstStyle/>
        <a:p>
          <a:endParaRPr lang="en-US"/>
        </a:p>
      </dgm:t>
    </dgm:pt>
    <dgm:pt modelId="{0CED6A44-CA55-4337-9D27-71DAC7035F9D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noProof="0" dirty="0"/>
            <a:t>Different types of </a:t>
          </a:r>
          <a:r>
            <a:rPr lang="en-US" noProof="0" dirty="0">
              <a:latin typeface="Verdana"/>
            </a:rPr>
            <a:t>required response</a:t>
          </a:r>
          <a:r>
            <a:rPr lang="en-US" noProof="0" dirty="0"/>
            <a:t> time</a:t>
          </a:r>
        </a:p>
      </dgm:t>
    </dgm:pt>
    <dgm:pt modelId="{C0844E7B-F23E-4B28-8321-6CF3BE5E8717}" type="parTrans" cxnId="{94FB7585-72BF-43FA-B5DB-3B1D5FB5015D}">
      <dgm:prSet/>
      <dgm:spPr/>
      <dgm:t>
        <a:bodyPr/>
        <a:lstStyle/>
        <a:p>
          <a:endParaRPr lang="en-US"/>
        </a:p>
      </dgm:t>
    </dgm:pt>
    <dgm:pt modelId="{443D58A4-409E-4749-A120-B4B38EBAAC82}" type="sibTrans" cxnId="{94FB7585-72BF-43FA-B5DB-3B1D5FB5015D}">
      <dgm:prSet/>
      <dgm:spPr/>
      <dgm:t>
        <a:bodyPr/>
        <a:lstStyle/>
        <a:p>
          <a:endParaRPr lang="en-US"/>
        </a:p>
      </dgm:t>
    </dgm:pt>
    <dgm:pt modelId="{533A122F-7D4E-46DF-94B2-C0C12C46D8F6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noProof="0" dirty="0"/>
            <a:t>Different types of </a:t>
          </a:r>
          <a:r>
            <a:rPr lang="en-US" noProof="0" dirty="0">
              <a:latin typeface="Verdana"/>
            </a:rPr>
            <a:t>possible scenario</a:t>
          </a:r>
          <a:r>
            <a:rPr lang="en-US" noProof="0" dirty="0"/>
            <a:t> to present </a:t>
          </a:r>
        </a:p>
        <a:p>
          <a:pPr>
            <a:lnSpc>
              <a:spcPct val="100000"/>
            </a:lnSpc>
          </a:pPr>
          <a:r>
            <a:rPr lang="en-US" noProof="0" dirty="0"/>
            <a:t>Presentation made by nonuser of </a:t>
          </a:r>
          <a:r>
            <a:rPr lang="en-US" noProof="0" dirty="0" err="1"/>
            <a:t>Qgis</a:t>
          </a:r>
          <a:endParaRPr lang="en-US" noProof="0" dirty="0"/>
        </a:p>
      </dgm:t>
    </dgm:pt>
    <dgm:pt modelId="{5639FE62-E965-4192-8B77-D02719AB5094}" type="parTrans" cxnId="{CD0DA528-5B42-4848-A050-EDE7C22242B2}">
      <dgm:prSet/>
      <dgm:spPr/>
      <dgm:t>
        <a:bodyPr/>
        <a:lstStyle/>
        <a:p>
          <a:endParaRPr lang="en-US"/>
        </a:p>
      </dgm:t>
    </dgm:pt>
    <dgm:pt modelId="{8E624C17-C082-4B34-9ED5-E9FD153A8220}" type="sibTrans" cxnId="{CD0DA528-5B42-4848-A050-EDE7C22242B2}">
      <dgm:prSet/>
      <dgm:spPr/>
      <dgm:t>
        <a:bodyPr/>
        <a:lstStyle/>
        <a:p>
          <a:endParaRPr lang="en-US"/>
        </a:p>
      </dgm:t>
    </dgm:pt>
    <dgm:pt modelId="{45C880AC-02C0-43EF-A2EF-98994401BF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noProof="0" dirty="0"/>
            <a:t>Presentation</a:t>
          </a:r>
          <a:r>
            <a:rPr lang="en-US" noProof="0" dirty="0"/>
            <a:t>:</a:t>
          </a:r>
        </a:p>
      </dgm:t>
    </dgm:pt>
    <dgm:pt modelId="{425660A1-02B0-4E60-BEFB-2A6EFC349786}" type="parTrans" cxnId="{07FF273E-0D03-4152-BCC8-89C9D72BFF3E}">
      <dgm:prSet/>
      <dgm:spPr/>
      <dgm:t>
        <a:bodyPr/>
        <a:lstStyle/>
        <a:p>
          <a:endParaRPr lang="fr-BE"/>
        </a:p>
      </dgm:t>
    </dgm:pt>
    <dgm:pt modelId="{316155B6-1F58-4051-BAFE-44A4614421FD}" type="sibTrans" cxnId="{07FF273E-0D03-4152-BCC8-89C9D72BFF3E}">
      <dgm:prSet/>
      <dgm:spPr/>
      <dgm:t>
        <a:bodyPr/>
        <a:lstStyle/>
        <a:p>
          <a:endParaRPr lang="fr-BE"/>
        </a:p>
      </dgm:t>
    </dgm:pt>
    <dgm:pt modelId="{EE7EC641-EB44-4E23-A812-FDF9E19DB0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Use of fictive data</a:t>
          </a:r>
        </a:p>
      </dgm:t>
    </dgm:pt>
    <dgm:pt modelId="{B28DD5C3-0B5E-4688-9C1B-AEE2950BF0CA}" type="parTrans" cxnId="{8987747A-7F2C-4637-936D-E79DB4B1D7BB}">
      <dgm:prSet/>
      <dgm:spPr/>
      <dgm:t>
        <a:bodyPr/>
        <a:lstStyle/>
        <a:p>
          <a:endParaRPr lang="fr-BE"/>
        </a:p>
      </dgm:t>
    </dgm:pt>
    <dgm:pt modelId="{CB1DC3D3-FFF9-4C53-9EB7-B34B30CADCC7}" type="sibTrans" cxnId="{8987747A-7F2C-4637-936D-E79DB4B1D7BB}">
      <dgm:prSet/>
      <dgm:spPr/>
      <dgm:t>
        <a:bodyPr/>
        <a:lstStyle/>
        <a:p>
          <a:endParaRPr lang="fr-BE"/>
        </a:p>
      </dgm:t>
    </dgm:pt>
    <dgm:pt modelId="{64DA4B59-AF3F-494F-A967-CCFECC2FA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Could be applied to different types of services</a:t>
          </a:r>
        </a:p>
      </dgm:t>
    </dgm:pt>
    <dgm:pt modelId="{19EFCD9A-B2C9-46D7-8CFD-4FB535551582}" type="parTrans" cxnId="{F038961B-31B4-4F42-90C0-757802BFED28}">
      <dgm:prSet/>
      <dgm:spPr/>
      <dgm:t>
        <a:bodyPr/>
        <a:lstStyle/>
        <a:p>
          <a:endParaRPr lang="fr-BE"/>
        </a:p>
      </dgm:t>
    </dgm:pt>
    <dgm:pt modelId="{61B3D446-B376-4FF8-907C-1F63D3E06DB9}" type="sibTrans" cxnId="{F038961B-31B4-4F42-90C0-757802BFED28}">
      <dgm:prSet/>
      <dgm:spPr/>
      <dgm:t>
        <a:bodyPr/>
        <a:lstStyle/>
        <a:p>
          <a:endParaRPr lang="fr-BE"/>
        </a:p>
      </dgm:t>
    </dgm:pt>
    <dgm:pt modelId="{A49444DE-17B6-4617-BF95-A26EC980CA01}" type="pres">
      <dgm:prSet presAssocID="{12DC3322-467D-47DA-8525-B4C3EF470558}" presName="root" presStyleCnt="0">
        <dgm:presLayoutVars>
          <dgm:dir/>
          <dgm:resizeHandles val="exact"/>
        </dgm:presLayoutVars>
      </dgm:prSet>
      <dgm:spPr/>
    </dgm:pt>
    <dgm:pt modelId="{570A73D0-A63C-42CC-B25A-08FC280B3158}" type="pres">
      <dgm:prSet presAssocID="{608AAA2E-59BE-4942-8DC9-5D3337473933}" presName="compNode" presStyleCnt="0"/>
      <dgm:spPr/>
    </dgm:pt>
    <dgm:pt modelId="{D3FBB300-1076-4192-AA39-4978B5191C19}" type="pres">
      <dgm:prSet presAssocID="{608AAA2E-59BE-4942-8DC9-5D3337473933}" presName="bgRect" presStyleLbl="bgShp" presStyleIdx="0" presStyleCnt="4"/>
      <dgm:spPr/>
    </dgm:pt>
    <dgm:pt modelId="{6CC090B5-A3D6-4DB2-A3E7-24BE2C3791C6}" type="pres">
      <dgm:prSet presAssocID="{608AAA2E-59BE-4942-8DC9-5D33374739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s"/>
        </a:ext>
      </dgm:extLst>
    </dgm:pt>
    <dgm:pt modelId="{AE7E2AA9-14FF-4F09-A781-5992321AA1DB}" type="pres">
      <dgm:prSet presAssocID="{608AAA2E-59BE-4942-8DC9-5D3337473933}" presName="spaceRect" presStyleCnt="0"/>
      <dgm:spPr/>
    </dgm:pt>
    <dgm:pt modelId="{E32EF28E-9C2E-4422-B24E-96E8D0D3739F}" type="pres">
      <dgm:prSet presAssocID="{608AAA2E-59BE-4942-8DC9-5D3337473933}" presName="parTx" presStyleLbl="revTx" presStyleIdx="0" presStyleCnt="6">
        <dgm:presLayoutVars>
          <dgm:chMax val="0"/>
          <dgm:chPref val="0"/>
        </dgm:presLayoutVars>
      </dgm:prSet>
      <dgm:spPr/>
    </dgm:pt>
    <dgm:pt modelId="{CC73CFD6-6639-4C08-AD7E-70DB311415B6}" type="pres">
      <dgm:prSet presAssocID="{3C1B8503-5E2A-4413-AA31-68585513DE5B}" presName="sibTrans" presStyleCnt="0"/>
      <dgm:spPr/>
    </dgm:pt>
    <dgm:pt modelId="{125C5864-FB8A-4BD3-A309-62D35D5CDB78}" type="pres">
      <dgm:prSet presAssocID="{E32E54A2-317B-4C11-B02E-D9A5F2B8FACA}" presName="compNode" presStyleCnt="0"/>
      <dgm:spPr/>
    </dgm:pt>
    <dgm:pt modelId="{6DF26112-3B58-46D6-935F-B27689A43E69}" type="pres">
      <dgm:prSet presAssocID="{E32E54A2-317B-4C11-B02E-D9A5F2B8FACA}" presName="bgRect" presStyleLbl="bgShp" presStyleIdx="1" presStyleCnt="4"/>
      <dgm:spPr/>
    </dgm:pt>
    <dgm:pt modelId="{03BD8793-BD93-4383-8901-412D494CAB9F}" type="pres">
      <dgm:prSet presAssocID="{E32E54A2-317B-4C11-B02E-D9A5F2B8FAC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érencier"/>
        </a:ext>
      </dgm:extLst>
    </dgm:pt>
    <dgm:pt modelId="{91A89A80-7334-4DC7-A0DD-D700F1F892A1}" type="pres">
      <dgm:prSet presAssocID="{E32E54A2-317B-4C11-B02E-D9A5F2B8FACA}" presName="spaceRect" presStyleCnt="0"/>
      <dgm:spPr/>
    </dgm:pt>
    <dgm:pt modelId="{18F4D420-61C7-4FA9-AD52-F443916B0FF0}" type="pres">
      <dgm:prSet presAssocID="{E32E54A2-317B-4C11-B02E-D9A5F2B8FACA}" presName="parTx" presStyleLbl="revTx" presStyleIdx="1" presStyleCnt="6">
        <dgm:presLayoutVars>
          <dgm:chMax val="0"/>
          <dgm:chPref val="0"/>
        </dgm:presLayoutVars>
      </dgm:prSet>
      <dgm:spPr/>
    </dgm:pt>
    <dgm:pt modelId="{FE892F1E-1E0F-4705-86E5-4E8806713BBF}" type="pres">
      <dgm:prSet presAssocID="{6423D0B9-7B70-425C-A22B-61C8DD45D35F}" presName="sibTrans" presStyleCnt="0"/>
      <dgm:spPr/>
    </dgm:pt>
    <dgm:pt modelId="{C9ADCC2A-C4D6-4139-96B8-2113E8E98FC0}" type="pres">
      <dgm:prSet presAssocID="{A1F75896-D5E3-4FED-B61C-1BA799329731}" presName="compNode" presStyleCnt="0"/>
      <dgm:spPr/>
    </dgm:pt>
    <dgm:pt modelId="{9EFF76D7-8FBA-44D7-894D-16ECB9532EFC}" type="pres">
      <dgm:prSet presAssocID="{A1F75896-D5E3-4FED-B61C-1BA799329731}" presName="bgRect" presStyleLbl="bgShp" presStyleIdx="2" presStyleCnt="4"/>
      <dgm:spPr/>
    </dgm:pt>
    <dgm:pt modelId="{8BB17B37-C71F-48F7-9F3F-43173B35B3E7}" type="pres">
      <dgm:prSet presAssocID="{A1F75896-D5E3-4FED-B61C-1BA7993297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ronomètre"/>
        </a:ext>
      </dgm:extLst>
    </dgm:pt>
    <dgm:pt modelId="{2EDB1042-0830-42F3-9443-FFF1BC70D6A2}" type="pres">
      <dgm:prSet presAssocID="{A1F75896-D5E3-4FED-B61C-1BA799329731}" presName="spaceRect" presStyleCnt="0"/>
      <dgm:spPr/>
    </dgm:pt>
    <dgm:pt modelId="{89C5333B-0C07-4284-9EFD-B374F0D40A3F}" type="pres">
      <dgm:prSet presAssocID="{A1F75896-D5E3-4FED-B61C-1BA799329731}" presName="parTx" presStyleLbl="revTx" presStyleIdx="2" presStyleCnt="6">
        <dgm:presLayoutVars>
          <dgm:chMax val="0"/>
          <dgm:chPref val="0"/>
        </dgm:presLayoutVars>
      </dgm:prSet>
      <dgm:spPr/>
    </dgm:pt>
    <dgm:pt modelId="{2C4571C9-605E-448C-B9FD-D91959EE3275}" type="pres">
      <dgm:prSet presAssocID="{A1F75896-D5E3-4FED-B61C-1BA799329731}" presName="desTx" presStyleLbl="revTx" presStyleIdx="3" presStyleCnt="6">
        <dgm:presLayoutVars/>
      </dgm:prSet>
      <dgm:spPr/>
    </dgm:pt>
    <dgm:pt modelId="{AA7F6549-EF07-4DC8-A19F-354AB6488BDB}" type="pres">
      <dgm:prSet presAssocID="{BC6F26A9-4445-43D1-80A5-533E3A306454}" presName="sibTrans" presStyleCnt="0"/>
      <dgm:spPr/>
    </dgm:pt>
    <dgm:pt modelId="{B0993F64-A2CA-4612-8BDD-A138F63EA095}" type="pres">
      <dgm:prSet presAssocID="{45C880AC-02C0-43EF-A2EF-98994401BF2E}" presName="compNode" presStyleCnt="0"/>
      <dgm:spPr/>
    </dgm:pt>
    <dgm:pt modelId="{64FCCA28-5366-4E76-A976-2027F0928A2F}" type="pres">
      <dgm:prSet presAssocID="{45C880AC-02C0-43EF-A2EF-98994401BF2E}" presName="bgRect" presStyleLbl="bgShp" presStyleIdx="3" presStyleCnt="4" custLinFactNeighborX="-16"/>
      <dgm:spPr/>
    </dgm:pt>
    <dgm:pt modelId="{72B2487E-CBB4-4A9F-94D0-FE8D919C69A0}" type="pres">
      <dgm:prSet presAssocID="{45C880AC-02C0-43EF-A2EF-98994401BF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ésentation avec graphique à barres contour"/>
        </a:ext>
      </dgm:extLst>
    </dgm:pt>
    <dgm:pt modelId="{F42745F3-05F0-46E7-9E26-6604295B6C47}" type="pres">
      <dgm:prSet presAssocID="{45C880AC-02C0-43EF-A2EF-98994401BF2E}" presName="spaceRect" presStyleCnt="0"/>
      <dgm:spPr/>
    </dgm:pt>
    <dgm:pt modelId="{8230584C-195F-49DD-8F92-66EDB1E6D990}" type="pres">
      <dgm:prSet presAssocID="{45C880AC-02C0-43EF-A2EF-98994401BF2E}" presName="parTx" presStyleLbl="revTx" presStyleIdx="4" presStyleCnt="6">
        <dgm:presLayoutVars>
          <dgm:chMax val="0"/>
          <dgm:chPref val="0"/>
        </dgm:presLayoutVars>
      </dgm:prSet>
      <dgm:spPr/>
    </dgm:pt>
    <dgm:pt modelId="{8BA1D6E1-F559-427F-9646-D77E16720621}" type="pres">
      <dgm:prSet presAssocID="{45C880AC-02C0-43EF-A2EF-98994401BF2E}" presName="desTx" presStyleLbl="revTx" presStyleIdx="5" presStyleCnt="6">
        <dgm:presLayoutVars/>
      </dgm:prSet>
      <dgm:spPr/>
    </dgm:pt>
  </dgm:ptLst>
  <dgm:cxnLst>
    <dgm:cxn modelId="{37FC0B1A-A654-4C0D-8BFD-6290DE0557E7}" type="presOf" srcId="{608AAA2E-59BE-4942-8DC9-5D3337473933}" destId="{E32EF28E-9C2E-4422-B24E-96E8D0D3739F}" srcOrd="0" destOrd="0" presId="urn:microsoft.com/office/officeart/2018/2/layout/IconVerticalSolidList"/>
    <dgm:cxn modelId="{F038961B-31B4-4F42-90C0-757802BFED28}" srcId="{45C880AC-02C0-43EF-A2EF-98994401BF2E}" destId="{64DA4B59-AF3F-494F-A967-CCFECC2FAE19}" srcOrd="1" destOrd="0" parTransId="{19EFCD9A-B2C9-46D7-8CFD-4FB535551582}" sibTransId="{61B3D446-B376-4FF8-907C-1F63D3E06DB9}"/>
    <dgm:cxn modelId="{CD0DA528-5B42-4848-A050-EDE7C22242B2}" srcId="{A1F75896-D5E3-4FED-B61C-1BA799329731}" destId="{533A122F-7D4E-46DF-94B2-C0C12C46D8F6}" srcOrd="1" destOrd="0" parTransId="{5639FE62-E965-4192-8B77-D02719AB5094}" sibTransId="{8E624C17-C082-4B34-9ED5-E9FD153A8220}"/>
    <dgm:cxn modelId="{07FF273E-0D03-4152-BCC8-89C9D72BFF3E}" srcId="{12DC3322-467D-47DA-8525-B4C3EF470558}" destId="{45C880AC-02C0-43EF-A2EF-98994401BF2E}" srcOrd="3" destOrd="0" parTransId="{425660A1-02B0-4E60-BEFB-2A6EFC349786}" sibTransId="{316155B6-1F58-4051-BAFE-44A4614421FD}"/>
    <dgm:cxn modelId="{2E5EBD5B-7E29-43C9-A4EC-9B60CAC1607E}" type="presOf" srcId="{A1F75896-D5E3-4FED-B61C-1BA799329731}" destId="{89C5333B-0C07-4284-9EFD-B374F0D40A3F}" srcOrd="0" destOrd="0" presId="urn:microsoft.com/office/officeart/2018/2/layout/IconVerticalSolidList"/>
    <dgm:cxn modelId="{A3365048-5FFB-4B46-B7C4-9A77A372F777}" type="presOf" srcId="{EE7EC641-EB44-4E23-A812-FDF9E19DB07E}" destId="{8BA1D6E1-F559-427F-9646-D77E16720621}" srcOrd="0" destOrd="0" presId="urn:microsoft.com/office/officeart/2018/2/layout/IconVerticalSolidList"/>
    <dgm:cxn modelId="{95B61D4C-EC7F-4E12-ACAC-70D8EC5FCD2C}" type="presOf" srcId="{E32E54A2-317B-4C11-B02E-D9A5F2B8FACA}" destId="{18F4D420-61C7-4FA9-AD52-F443916B0FF0}" srcOrd="0" destOrd="0" presId="urn:microsoft.com/office/officeart/2018/2/layout/IconVerticalSolidList"/>
    <dgm:cxn modelId="{4D22B34E-4F22-46B4-AF1F-80312184C887}" type="presOf" srcId="{12DC3322-467D-47DA-8525-B4C3EF470558}" destId="{A49444DE-17B6-4617-BF95-A26EC980CA01}" srcOrd="0" destOrd="0" presId="urn:microsoft.com/office/officeart/2018/2/layout/IconVerticalSolidList"/>
    <dgm:cxn modelId="{B8467073-EC40-4660-92A2-B1FA4BE68F97}" type="presOf" srcId="{533A122F-7D4E-46DF-94B2-C0C12C46D8F6}" destId="{2C4571C9-605E-448C-B9FD-D91959EE3275}" srcOrd="0" destOrd="1" presId="urn:microsoft.com/office/officeart/2018/2/layout/IconVerticalSolidList"/>
    <dgm:cxn modelId="{8987747A-7F2C-4637-936D-E79DB4B1D7BB}" srcId="{45C880AC-02C0-43EF-A2EF-98994401BF2E}" destId="{EE7EC641-EB44-4E23-A812-FDF9E19DB07E}" srcOrd="0" destOrd="0" parTransId="{B28DD5C3-0B5E-4688-9C1B-AEE2950BF0CA}" sibTransId="{CB1DC3D3-FFF9-4C53-9EB7-B34B30CADCC7}"/>
    <dgm:cxn modelId="{8539A87A-00B0-49DE-9F8A-BB1FE45D5028}" srcId="{12DC3322-467D-47DA-8525-B4C3EF470558}" destId="{A1F75896-D5E3-4FED-B61C-1BA799329731}" srcOrd="2" destOrd="0" parTransId="{3916312D-75AE-4637-9E27-77256266C15E}" sibTransId="{BC6F26A9-4445-43D1-80A5-533E3A306454}"/>
    <dgm:cxn modelId="{80186E7F-7906-4C37-9399-4EEAB69BC7F5}" type="presOf" srcId="{0CED6A44-CA55-4337-9D27-71DAC7035F9D}" destId="{2C4571C9-605E-448C-B9FD-D91959EE3275}" srcOrd="0" destOrd="0" presId="urn:microsoft.com/office/officeart/2018/2/layout/IconVerticalSolidList"/>
    <dgm:cxn modelId="{B6B81080-E61A-4F95-A8FF-87A92A0C2989}" type="presOf" srcId="{64DA4B59-AF3F-494F-A967-CCFECC2FAE19}" destId="{8BA1D6E1-F559-427F-9646-D77E16720621}" srcOrd="0" destOrd="1" presId="urn:microsoft.com/office/officeart/2018/2/layout/IconVerticalSolidList"/>
    <dgm:cxn modelId="{94FB7585-72BF-43FA-B5DB-3B1D5FB5015D}" srcId="{A1F75896-D5E3-4FED-B61C-1BA799329731}" destId="{0CED6A44-CA55-4337-9D27-71DAC7035F9D}" srcOrd="0" destOrd="0" parTransId="{C0844E7B-F23E-4B28-8321-6CF3BE5E8717}" sibTransId="{443D58A4-409E-4749-A120-B4B38EBAAC82}"/>
    <dgm:cxn modelId="{B80CE2C5-22AE-4612-A394-EF7EC3DB7DF3}" type="presOf" srcId="{45C880AC-02C0-43EF-A2EF-98994401BF2E}" destId="{8230584C-195F-49DD-8F92-66EDB1E6D990}" srcOrd="0" destOrd="0" presId="urn:microsoft.com/office/officeart/2018/2/layout/IconVerticalSolidList"/>
    <dgm:cxn modelId="{686B2ED2-DB20-497B-BC67-A31D95046BAB}" srcId="{12DC3322-467D-47DA-8525-B4C3EF470558}" destId="{E32E54A2-317B-4C11-B02E-D9A5F2B8FACA}" srcOrd="1" destOrd="0" parTransId="{B36B7FE3-9D6C-48DF-BB82-783812BA44DA}" sibTransId="{6423D0B9-7B70-425C-A22B-61C8DD45D35F}"/>
    <dgm:cxn modelId="{0ECA63E7-4F39-40DB-8A31-23C98F1DB879}" srcId="{12DC3322-467D-47DA-8525-B4C3EF470558}" destId="{608AAA2E-59BE-4942-8DC9-5D3337473933}" srcOrd="0" destOrd="0" parTransId="{3CC966A5-72D8-444B-9F5A-62982EE982ED}" sibTransId="{3C1B8503-5E2A-4413-AA31-68585513DE5B}"/>
    <dgm:cxn modelId="{3F406FBD-FF8C-4D28-B6BD-BD47B8236978}" type="presParOf" srcId="{A49444DE-17B6-4617-BF95-A26EC980CA01}" destId="{570A73D0-A63C-42CC-B25A-08FC280B3158}" srcOrd="0" destOrd="0" presId="urn:microsoft.com/office/officeart/2018/2/layout/IconVerticalSolidList"/>
    <dgm:cxn modelId="{DD02F7C8-4906-4C44-97DC-19FB68DB69F4}" type="presParOf" srcId="{570A73D0-A63C-42CC-B25A-08FC280B3158}" destId="{D3FBB300-1076-4192-AA39-4978B5191C19}" srcOrd="0" destOrd="0" presId="urn:microsoft.com/office/officeart/2018/2/layout/IconVerticalSolidList"/>
    <dgm:cxn modelId="{37ED48C7-A4FD-4275-99D0-C4DA08C160BE}" type="presParOf" srcId="{570A73D0-A63C-42CC-B25A-08FC280B3158}" destId="{6CC090B5-A3D6-4DB2-A3E7-24BE2C3791C6}" srcOrd="1" destOrd="0" presId="urn:microsoft.com/office/officeart/2018/2/layout/IconVerticalSolidList"/>
    <dgm:cxn modelId="{7936668D-16B8-43AA-B17D-A42F9DCE75CB}" type="presParOf" srcId="{570A73D0-A63C-42CC-B25A-08FC280B3158}" destId="{AE7E2AA9-14FF-4F09-A781-5992321AA1DB}" srcOrd="2" destOrd="0" presId="urn:microsoft.com/office/officeart/2018/2/layout/IconVerticalSolidList"/>
    <dgm:cxn modelId="{BD1A8806-3A5F-4F96-ACE5-1D1FEFE2D43D}" type="presParOf" srcId="{570A73D0-A63C-42CC-B25A-08FC280B3158}" destId="{E32EF28E-9C2E-4422-B24E-96E8D0D3739F}" srcOrd="3" destOrd="0" presId="urn:microsoft.com/office/officeart/2018/2/layout/IconVerticalSolidList"/>
    <dgm:cxn modelId="{BB7F8A02-5235-4C7D-8154-819096E5C7D4}" type="presParOf" srcId="{A49444DE-17B6-4617-BF95-A26EC980CA01}" destId="{CC73CFD6-6639-4C08-AD7E-70DB311415B6}" srcOrd="1" destOrd="0" presId="urn:microsoft.com/office/officeart/2018/2/layout/IconVerticalSolidList"/>
    <dgm:cxn modelId="{0989BC80-8112-4928-8B70-6499718CDFCD}" type="presParOf" srcId="{A49444DE-17B6-4617-BF95-A26EC980CA01}" destId="{125C5864-FB8A-4BD3-A309-62D35D5CDB78}" srcOrd="2" destOrd="0" presId="urn:microsoft.com/office/officeart/2018/2/layout/IconVerticalSolidList"/>
    <dgm:cxn modelId="{40765D81-9183-42C8-AFF4-DE06B75083CF}" type="presParOf" srcId="{125C5864-FB8A-4BD3-A309-62D35D5CDB78}" destId="{6DF26112-3B58-46D6-935F-B27689A43E69}" srcOrd="0" destOrd="0" presId="urn:microsoft.com/office/officeart/2018/2/layout/IconVerticalSolidList"/>
    <dgm:cxn modelId="{8513ED1A-3A2E-4EA4-8A43-47C21456EAD0}" type="presParOf" srcId="{125C5864-FB8A-4BD3-A309-62D35D5CDB78}" destId="{03BD8793-BD93-4383-8901-412D494CAB9F}" srcOrd="1" destOrd="0" presId="urn:microsoft.com/office/officeart/2018/2/layout/IconVerticalSolidList"/>
    <dgm:cxn modelId="{0BC5AE57-A68E-4583-B1D4-B40C8D01F1AB}" type="presParOf" srcId="{125C5864-FB8A-4BD3-A309-62D35D5CDB78}" destId="{91A89A80-7334-4DC7-A0DD-D700F1F892A1}" srcOrd="2" destOrd="0" presId="urn:microsoft.com/office/officeart/2018/2/layout/IconVerticalSolidList"/>
    <dgm:cxn modelId="{89551439-E480-4299-91AA-D974C95F4193}" type="presParOf" srcId="{125C5864-FB8A-4BD3-A309-62D35D5CDB78}" destId="{18F4D420-61C7-4FA9-AD52-F443916B0FF0}" srcOrd="3" destOrd="0" presId="urn:microsoft.com/office/officeart/2018/2/layout/IconVerticalSolidList"/>
    <dgm:cxn modelId="{061E2CF0-9A36-4A1B-A7D2-7F84A0328965}" type="presParOf" srcId="{A49444DE-17B6-4617-BF95-A26EC980CA01}" destId="{FE892F1E-1E0F-4705-86E5-4E8806713BBF}" srcOrd="3" destOrd="0" presId="urn:microsoft.com/office/officeart/2018/2/layout/IconVerticalSolidList"/>
    <dgm:cxn modelId="{A8301D0F-2943-4E77-B299-D340018A3F68}" type="presParOf" srcId="{A49444DE-17B6-4617-BF95-A26EC980CA01}" destId="{C9ADCC2A-C4D6-4139-96B8-2113E8E98FC0}" srcOrd="4" destOrd="0" presId="urn:microsoft.com/office/officeart/2018/2/layout/IconVerticalSolidList"/>
    <dgm:cxn modelId="{55116B4D-0B87-46EF-9915-2E86524AC811}" type="presParOf" srcId="{C9ADCC2A-C4D6-4139-96B8-2113E8E98FC0}" destId="{9EFF76D7-8FBA-44D7-894D-16ECB9532EFC}" srcOrd="0" destOrd="0" presId="urn:microsoft.com/office/officeart/2018/2/layout/IconVerticalSolidList"/>
    <dgm:cxn modelId="{0671FEFD-BDAB-4094-9DFD-1BADA416C048}" type="presParOf" srcId="{C9ADCC2A-C4D6-4139-96B8-2113E8E98FC0}" destId="{8BB17B37-C71F-48F7-9F3F-43173B35B3E7}" srcOrd="1" destOrd="0" presId="urn:microsoft.com/office/officeart/2018/2/layout/IconVerticalSolidList"/>
    <dgm:cxn modelId="{29BF2EBB-3A51-4F86-86E4-5ED9F459E9BE}" type="presParOf" srcId="{C9ADCC2A-C4D6-4139-96B8-2113E8E98FC0}" destId="{2EDB1042-0830-42F3-9443-FFF1BC70D6A2}" srcOrd="2" destOrd="0" presId="urn:microsoft.com/office/officeart/2018/2/layout/IconVerticalSolidList"/>
    <dgm:cxn modelId="{2EEAC111-E279-4A7D-9294-6C709C38FE91}" type="presParOf" srcId="{C9ADCC2A-C4D6-4139-96B8-2113E8E98FC0}" destId="{89C5333B-0C07-4284-9EFD-B374F0D40A3F}" srcOrd="3" destOrd="0" presId="urn:microsoft.com/office/officeart/2018/2/layout/IconVerticalSolidList"/>
    <dgm:cxn modelId="{F0EDC6D2-02A8-47E1-AA46-1391E35BAF05}" type="presParOf" srcId="{C9ADCC2A-C4D6-4139-96B8-2113E8E98FC0}" destId="{2C4571C9-605E-448C-B9FD-D91959EE3275}" srcOrd="4" destOrd="0" presId="urn:microsoft.com/office/officeart/2018/2/layout/IconVerticalSolidList"/>
    <dgm:cxn modelId="{ACCB11C8-1382-4C59-B575-5C49086811FB}" type="presParOf" srcId="{A49444DE-17B6-4617-BF95-A26EC980CA01}" destId="{AA7F6549-EF07-4DC8-A19F-354AB6488BDB}" srcOrd="5" destOrd="0" presId="urn:microsoft.com/office/officeart/2018/2/layout/IconVerticalSolidList"/>
    <dgm:cxn modelId="{30F6E0F2-F97C-48C1-A7A5-64B9AC8A5D13}" type="presParOf" srcId="{A49444DE-17B6-4617-BF95-A26EC980CA01}" destId="{B0993F64-A2CA-4612-8BDD-A138F63EA095}" srcOrd="6" destOrd="0" presId="urn:microsoft.com/office/officeart/2018/2/layout/IconVerticalSolidList"/>
    <dgm:cxn modelId="{0F83F1E8-CFFE-48B1-9A95-EA3840EFC8E3}" type="presParOf" srcId="{B0993F64-A2CA-4612-8BDD-A138F63EA095}" destId="{64FCCA28-5366-4E76-A976-2027F0928A2F}" srcOrd="0" destOrd="0" presId="urn:microsoft.com/office/officeart/2018/2/layout/IconVerticalSolidList"/>
    <dgm:cxn modelId="{7733107E-4A3F-4AD7-B8BD-A78CE124B30F}" type="presParOf" srcId="{B0993F64-A2CA-4612-8BDD-A138F63EA095}" destId="{72B2487E-CBB4-4A9F-94D0-FE8D919C69A0}" srcOrd="1" destOrd="0" presId="urn:microsoft.com/office/officeart/2018/2/layout/IconVerticalSolidList"/>
    <dgm:cxn modelId="{AEEBAD5C-E810-4A86-A6D0-6EB71C8D54F1}" type="presParOf" srcId="{B0993F64-A2CA-4612-8BDD-A138F63EA095}" destId="{F42745F3-05F0-46E7-9E26-6604295B6C47}" srcOrd="2" destOrd="0" presId="urn:microsoft.com/office/officeart/2018/2/layout/IconVerticalSolidList"/>
    <dgm:cxn modelId="{0DF29323-CC8D-4982-AC8F-B17D66D2BB0F}" type="presParOf" srcId="{B0993F64-A2CA-4612-8BDD-A138F63EA095}" destId="{8230584C-195F-49DD-8F92-66EDB1E6D990}" srcOrd="3" destOrd="0" presId="urn:microsoft.com/office/officeart/2018/2/layout/IconVerticalSolidList"/>
    <dgm:cxn modelId="{A58D0DEA-1F40-4591-B758-E046030C339F}" type="presParOf" srcId="{B0993F64-A2CA-4612-8BDD-A138F63EA095}" destId="{8BA1D6E1-F559-427F-9646-D77E1672062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BB300-1076-4192-AA39-4978B5191C19}">
      <dsp:nvSpPr>
        <dsp:cNvPr id="0" name=""/>
        <dsp:cNvSpPr/>
      </dsp:nvSpPr>
      <dsp:spPr>
        <a:xfrm>
          <a:off x="0" y="1805"/>
          <a:ext cx="918867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090B5-A3D6-4DB2-A3E7-24BE2C3791C6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EF28E-9C2E-4422-B24E-96E8D0D3739F}">
      <dsp:nvSpPr>
        <dsp:cNvPr id="0" name=""/>
        <dsp:cNvSpPr/>
      </dsp:nvSpPr>
      <dsp:spPr>
        <a:xfrm>
          <a:off x="1057183" y="1805"/>
          <a:ext cx="813148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noProof="0" dirty="0"/>
            <a:t>Purpose</a:t>
          </a:r>
          <a:r>
            <a:rPr lang="en-US" sz="2200" kern="1200" noProof="0" dirty="0"/>
            <a:t>: </a:t>
          </a:r>
          <a:r>
            <a:rPr lang="en-US" sz="2200" kern="1200" noProof="0" dirty="0">
              <a:latin typeface="Verdana"/>
            </a:rPr>
            <a:t>Analyse the optimal</a:t>
          </a:r>
          <a:r>
            <a:rPr lang="en-US" sz="2200" kern="1200" noProof="0" dirty="0"/>
            <a:t> configuration for the location of emergency services</a:t>
          </a:r>
        </a:p>
      </dsp:txBody>
      <dsp:txXfrm>
        <a:off x="1057183" y="1805"/>
        <a:ext cx="8131486" cy="915310"/>
      </dsp:txXfrm>
    </dsp:sp>
    <dsp:sp modelId="{6DF26112-3B58-46D6-935F-B27689A43E69}">
      <dsp:nvSpPr>
        <dsp:cNvPr id="0" name=""/>
        <dsp:cNvSpPr/>
      </dsp:nvSpPr>
      <dsp:spPr>
        <a:xfrm>
          <a:off x="0" y="1145944"/>
          <a:ext cx="918867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BD8793-BD93-4383-8901-412D494CAB9F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4D420-61C7-4FA9-AD52-F443916B0FF0}">
      <dsp:nvSpPr>
        <dsp:cNvPr id="0" name=""/>
        <dsp:cNvSpPr/>
      </dsp:nvSpPr>
      <dsp:spPr>
        <a:xfrm>
          <a:off x="1057183" y="1145944"/>
          <a:ext cx="813148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noProof="0" dirty="0"/>
            <a:t>Use of the </a:t>
          </a:r>
          <a:r>
            <a:rPr lang="en-US" sz="2200" b="1" kern="1200" noProof="0" dirty="0" err="1"/>
            <a:t>Qgis</a:t>
          </a:r>
          <a:r>
            <a:rPr lang="en-US" sz="2200" b="1" kern="1200" noProof="0" dirty="0"/>
            <a:t> project</a:t>
          </a:r>
          <a:r>
            <a:rPr lang="en-US" sz="2200" kern="1200" noProof="0" dirty="0"/>
            <a:t>: </a:t>
          </a:r>
          <a:r>
            <a:rPr lang="en-US" sz="2200" kern="1200" noProof="0" dirty="0">
              <a:latin typeface="Verdana"/>
            </a:rPr>
            <a:t>Analyse</a:t>
          </a:r>
          <a:r>
            <a:rPr lang="en-US" sz="2200" kern="1200" noProof="0" dirty="0"/>
            <a:t>, present and convince</a:t>
          </a:r>
        </a:p>
      </dsp:txBody>
      <dsp:txXfrm>
        <a:off x="1057183" y="1145944"/>
        <a:ext cx="8131486" cy="915310"/>
      </dsp:txXfrm>
    </dsp:sp>
    <dsp:sp modelId="{9EFF76D7-8FBA-44D7-894D-16ECB9532EFC}">
      <dsp:nvSpPr>
        <dsp:cNvPr id="0" name=""/>
        <dsp:cNvSpPr/>
      </dsp:nvSpPr>
      <dsp:spPr>
        <a:xfrm>
          <a:off x="0" y="2290082"/>
          <a:ext cx="918867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17B37-C71F-48F7-9F3F-43173B35B3E7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5333B-0C07-4284-9EFD-B374F0D40A3F}">
      <dsp:nvSpPr>
        <dsp:cNvPr id="0" name=""/>
        <dsp:cNvSpPr/>
      </dsp:nvSpPr>
      <dsp:spPr>
        <a:xfrm>
          <a:off x="1057183" y="2290082"/>
          <a:ext cx="413490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noProof="0" dirty="0"/>
            <a:t>Challenges</a:t>
          </a:r>
          <a:r>
            <a:rPr lang="en-US" sz="2200" kern="1200" noProof="0" dirty="0"/>
            <a:t>: </a:t>
          </a:r>
        </a:p>
      </dsp:txBody>
      <dsp:txXfrm>
        <a:off x="1057183" y="2290082"/>
        <a:ext cx="4134901" cy="915310"/>
      </dsp:txXfrm>
    </dsp:sp>
    <dsp:sp modelId="{2C4571C9-605E-448C-B9FD-D91959EE3275}">
      <dsp:nvSpPr>
        <dsp:cNvPr id="0" name=""/>
        <dsp:cNvSpPr/>
      </dsp:nvSpPr>
      <dsp:spPr>
        <a:xfrm>
          <a:off x="5192085" y="2290082"/>
          <a:ext cx="3996584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Different types of </a:t>
          </a:r>
          <a:r>
            <a:rPr lang="en-US" sz="1200" kern="1200" noProof="0" dirty="0">
              <a:latin typeface="Verdana"/>
            </a:rPr>
            <a:t>required response</a:t>
          </a:r>
          <a:r>
            <a:rPr lang="en-US" sz="1200" kern="1200" noProof="0" dirty="0"/>
            <a:t> time</a:t>
          </a:r>
        </a:p>
        <a:p>
          <a:pPr marL="0" lvl="0" indent="0" algn="l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Different types of </a:t>
          </a:r>
          <a:r>
            <a:rPr lang="en-US" sz="1200" kern="1200" noProof="0" dirty="0">
              <a:latin typeface="Verdana"/>
            </a:rPr>
            <a:t>possible scenario</a:t>
          </a:r>
          <a:r>
            <a:rPr lang="en-US" sz="1200" kern="1200" noProof="0" dirty="0"/>
            <a:t> to present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Presentation made by nonuser of </a:t>
          </a:r>
          <a:r>
            <a:rPr lang="en-US" sz="1200" kern="1200" noProof="0" dirty="0" err="1"/>
            <a:t>Qgis</a:t>
          </a:r>
          <a:endParaRPr lang="en-US" sz="1200" kern="1200" noProof="0" dirty="0"/>
        </a:p>
      </dsp:txBody>
      <dsp:txXfrm>
        <a:off x="5192085" y="2290082"/>
        <a:ext cx="3996584" cy="915310"/>
      </dsp:txXfrm>
    </dsp:sp>
    <dsp:sp modelId="{64FCCA28-5366-4E76-A976-2027F0928A2F}">
      <dsp:nvSpPr>
        <dsp:cNvPr id="0" name=""/>
        <dsp:cNvSpPr/>
      </dsp:nvSpPr>
      <dsp:spPr>
        <a:xfrm>
          <a:off x="0" y="3434221"/>
          <a:ext cx="918867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2487E-CBB4-4A9F-94D0-FE8D919C69A0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0584C-195F-49DD-8F92-66EDB1E6D990}">
      <dsp:nvSpPr>
        <dsp:cNvPr id="0" name=""/>
        <dsp:cNvSpPr/>
      </dsp:nvSpPr>
      <dsp:spPr>
        <a:xfrm>
          <a:off x="1057183" y="3434221"/>
          <a:ext cx="4134901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noProof="0" dirty="0"/>
            <a:t>Presentation</a:t>
          </a:r>
          <a:r>
            <a:rPr lang="en-US" sz="2200" kern="1200" noProof="0" dirty="0"/>
            <a:t>:</a:t>
          </a:r>
        </a:p>
      </dsp:txBody>
      <dsp:txXfrm>
        <a:off x="1057183" y="3434221"/>
        <a:ext cx="4134901" cy="915310"/>
      </dsp:txXfrm>
    </dsp:sp>
    <dsp:sp modelId="{8BA1D6E1-F559-427F-9646-D77E16720621}">
      <dsp:nvSpPr>
        <dsp:cNvPr id="0" name=""/>
        <dsp:cNvSpPr/>
      </dsp:nvSpPr>
      <dsp:spPr>
        <a:xfrm>
          <a:off x="5192085" y="3434221"/>
          <a:ext cx="3996584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Use of fictive data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noProof="0" dirty="0"/>
            <a:t>Could be applied to different types of services</a:t>
          </a:r>
        </a:p>
      </dsp:txBody>
      <dsp:txXfrm>
        <a:off x="5192085" y="3434221"/>
        <a:ext cx="3996584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3F864-DF6A-4B86-9A3F-F83E6500F29A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E5AEA-A85F-46A3-A763-CC9091BB5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35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184CF-9CD4-4567-A284-DC3E33C5BC9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1EC73-9326-4E0B-89BD-758C5212D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5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Ajouter GIFF d’une animation si le temps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1EC73-9326-4E0B-89BD-758C5212D3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4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-717" y="6528122"/>
            <a:ext cx="12193434" cy="3298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92213" y="1545023"/>
            <a:ext cx="7008911" cy="1883977"/>
          </a:xfr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92213" y="3559581"/>
            <a:ext cx="7008912" cy="113624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date or author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10239016" y="6539696"/>
            <a:ext cx="1952984" cy="3183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400" b="1" dirty="0"/>
              <a:t>www.gim.be</a:t>
            </a:r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0" y="6210300"/>
            <a:ext cx="651134" cy="647700"/>
            <a:chOff x="0" y="5997375"/>
            <a:chExt cx="865188" cy="860625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426000"/>
              <a:ext cx="432000" cy="43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433188" y="6426000"/>
              <a:ext cx="432000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5997375"/>
              <a:ext cx="432000" cy="43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33188" y="6213375"/>
              <a:ext cx="216000" cy="2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41148" cy="16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34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1323" userDrawn="1">
          <p15:clr>
            <a:srgbClr val="FBAE40"/>
          </p15:clr>
        </p15:guide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89"/>
            <a:ext cx="12192692" cy="6858389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10239016" y="6221875"/>
            <a:ext cx="1952984" cy="320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400" b="1" dirty="0"/>
              <a:t>www.gim.be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717" y="6534000"/>
            <a:ext cx="12193434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41148" cy="1630800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0" y="6210300"/>
            <a:ext cx="651134" cy="647700"/>
            <a:chOff x="0" y="5997375"/>
            <a:chExt cx="865188" cy="860625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426000"/>
              <a:ext cx="432000" cy="43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433188" y="6426000"/>
              <a:ext cx="432000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5997375"/>
              <a:ext cx="432000" cy="43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33188" y="6213375"/>
              <a:ext cx="216000" cy="2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8384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717" y="0"/>
            <a:ext cx="7864916" cy="6532880"/>
          </a:xfrm>
          <a:prstGeom prst="rect">
            <a:avLst/>
          </a:prstGeom>
          <a:gradFill flip="none" rotWithShape="1">
            <a:gsLst>
              <a:gs pos="16000">
                <a:srgbClr val="009B7D"/>
              </a:gs>
              <a:gs pos="0">
                <a:srgbClr val="009B7D"/>
              </a:gs>
              <a:gs pos="100000">
                <a:srgbClr val="91C3BE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199" y="0"/>
            <a:ext cx="4328160" cy="6858000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10239016" y="6221875"/>
            <a:ext cx="1952984" cy="320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400" b="1" dirty="0"/>
              <a:t>www.gim.be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717" y="6534000"/>
            <a:ext cx="12193434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0" y="6210300"/>
            <a:ext cx="651134" cy="647700"/>
            <a:chOff x="0" y="5997375"/>
            <a:chExt cx="865188" cy="860625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426000"/>
              <a:ext cx="432000" cy="43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433188" y="6426000"/>
              <a:ext cx="432000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5997375"/>
              <a:ext cx="432000" cy="43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33188" y="6213375"/>
              <a:ext cx="216000" cy="2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2904046" y="1593383"/>
            <a:ext cx="4669342" cy="2774950"/>
          </a:xfrm>
        </p:spPr>
        <p:txBody>
          <a:bodyPr anchor="b" anchorCtr="0"/>
          <a:lstStyle>
            <a:lvl1pPr>
              <a:lnSpc>
                <a:spcPct val="85000"/>
              </a:lnSpc>
              <a:spcBef>
                <a:spcPts val="0"/>
              </a:spcBef>
              <a:defRPr sz="6000" b="1" spc="-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add </a:t>
            </a:r>
            <a:br>
              <a:rPr lang="en-US" dirty="0"/>
            </a:br>
            <a:r>
              <a:rPr lang="en-US" dirty="0"/>
              <a:t>title text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41148" cy="16307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2246"/>
            <a:ext cx="3330000" cy="264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738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1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717" y="0"/>
            <a:ext cx="7864916" cy="6532880"/>
          </a:xfrm>
          <a:prstGeom prst="rect">
            <a:avLst/>
          </a:prstGeom>
          <a:gradFill flip="none" rotWithShape="1">
            <a:gsLst>
              <a:gs pos="16000">
                <a:srgbClr val="0FA0C8"/>
              </a:gs>
              <a:gs pos="0">
                <a:srgbClr val="0FA0C8"/>
              </a:gs>
              <a:gs pos="100000">
                <a:srgbClr val="1EAAA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199" y="0"/>
            <a:ext cx="4328160" cy="6858000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10239016" y="6221875"/>
            <a:ext cx="1952984" cy="320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400" b="1" dirty="0"/>
              <a:t>www.gim.be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717" y="6534000"/>
            <a:ext cx="12193434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0" y="6210300"/>
            <a:ext cx="651134" cy="647700"/>
            <a:chOff x="0" y="5997375"/>
            <a:chExt cx="865188" cy="860625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426000"/>
              <a:ext cx="432000" cy="43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433188" y="6426000"/>
              <a:ext cx="432000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5997375"/>
              <a:ext cx="432000" cy="43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33188" y="6213375"/>
              <a:ext cx="216000" cy="2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41148" cy="1630799"/>
          </a:xfrm>
          <a:prstGeom prst="rect">
            <a:avLst/>
          </a:prstGeom>
        </p:spPr>
      </p:pic>
      <p:sp>
        <p:nvSpPr>
          <p:cNvPr id="15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904046" y="1593383"/>
            <a:ext cx="4669342" cy="2774950"/>
          </a:xfrm>
        </p:spPr>
        <p:txBody>
          <a:bodyPr anchor="b" anchorCtr="0"/>
          <a:lstStyle>
            <a:lvl1pPr>
              <a:lnSpc>
                <a:spcPct val="85000"/>
              </a:lnSpc>
              <a:spcBef>
                <a:spcPts val="0"/>
              </a:spcBef>
              <a:defRPr sz="6000" b="1" spc="-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add </a:t>
            </a:r>
            <a:br>
              <a:rPr lang="en-US" dirty="0"/>
            </a:br>
            <a:r>
              <a:rPr lang="en-US" dirty="0"/>
              <a:t>title text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2246"/>
            <a:ext cx="3330000" cy="264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95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191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717" y="0"/>
            <a:ext cx="7864916" cy="6532880"/>
          </a:xfrm>
          <a:prstGeom prst="rect">
            <a:avLst/>
          </a:prstGeom>
          <a:gradFill flip="none" rotWithShape="1">
            <a:gsLst>
              <a:gs pos="16000">
                <a:srgbClr val="E65028"/>
              </a:gs>
              <a:gs pos="0">
                <a:srgbClr val="E65028"/>
              </a:gs>
              <a:gs pos="100000">
                <a:srgbClr val="F5821E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199" y="0"/>
            <a:ext cx="4328160" cy="6858000"/>
          </a:xfrm>
          <a:prstGeom prst="rect">
            <a:avLst/>
          </a:prstGeom>
        </p:spPr>
      </p:pic>
      <p:sp>
        <p:nvSpPr>
          <p:cNvPr id="18" name="Rectangle 17"/>
          <p:cNvSpPr/>
          <p:nvPr userDrawn="1"/>
        </p:nvSpPr>
        <p:spPr>
          <a:xfrm>
            <a:off x="10239016" y="6221875"/>
            <a:ext cx="1952984" cy="320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400" b="1" dirty="0"/>
              <a:t>www.gim.be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717" y="6534000"/>
            <a:ext cx="12193434" cy="3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0" y="6210300"/>
            <a:ext cx="651134" cy="647700"/>
            <a:chOff x="0" y="5997375"/>
            <a:chExt cx="865188" cy="860625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426000"/>
              <a:ext cx="432000" cy="43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433188" y="6426000"/>
              <a:ext cx="432000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0" y="5997375"/>
              <a:ext cx="432000" cy="43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33188" y="6213375"/>
              <a:ext cx="216000" cy="2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2904046" y="1593383"/>
            <a:ext cx="4669342" cy="2774950"/>
          </a:xfrm>
        </p:spPr>
        <p:txBody>
          <a:bodyPr anchor="b" anchorCtr="0"/>
          <a:lstStyle>
            <a:lvl1pPr>
              <a:lnSpc>
                <a:spcPct val="85000"/>
              </a:lnSpc>
              <a:spcBef>
                <a:spcPts val="0"/>
              </a:spcBef>
              <a:defRPr sz="6000" b="1" spc="-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</a:t>
            </a:r>
            <a:br>
              <a:rPr lang="en-US" dirty="0"/>
            </a:br>
            <a:r>
              <a:rPr lang="en-US" dirty="0"/>
              <a:t>to add </a:t>
            </a:r>
            <a:br>
              <a:rPr lang="en-US" dirty="0"/>
            </a:br>
            <a:r>
              <a:rPr lang="en-US" dirty="0"/>
              <a:t>title text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41148" cy="16307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2246"/>
            <a:ext cx="3330000" cy="264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19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191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1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2165130" y="962024"/>
            <a:ext cx="9187200" cy="612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165130" y="384174"/>
            <a:ext cx="9188669" cy="654051"/>
          </a:xfrm>
        </p:spPr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51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Oran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130" y="2241550"/>
            <a:ext cx="918867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165350" y="1825625"/>
            <a:ext cx="9186863" cy="360000"/>
          </a:xfrm>
          <a:solidFill>
            <a:schemeClr val="accent2"/>
          </a:solidFill>
        </p:spPr>
        <p:txBody>
          <a:bodyPr tIns="0" b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0460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Gree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130" y="2241550"/>
            <a:ext cx="918867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165350" y="1825625"/>
            <a:ext cx="9186863" cy="360000"/>
          </a:xfrm>
          <a:solidFill>
            <a:schemeClr val="accent1"/>
          </a:solidFill>
        </p:spPr>
        <p:txBody>
          <a:bodyPr tIns="0" b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75287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1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Blu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130" y="2241550"/>
            <a:ext cx="9188670" cy="39449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165350" y="1825625"/>
            <a:ext cx="9186863" cy="360000"/>
          </a:xfrm>
          <a:solidFill>
            <a:schemeClr val="tx2"/>
          </a:solidFill>
        </p:spPr>
        <p:txBody>
          <a:bodyPr tIns="0" b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98773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1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3 Ban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130" y="2241550"/>
            <a:ext cx="9188670" cy="936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165350" y="1825625"/>
            <a:ext cx="9186863" cy="360000"/>
          </a:xfrm>
          <a:solidFill>
            <a:schemeClr val="accent2"/>
          </a:solidFill>
        </p:spPr>
        <p:txBody>
          <a:bodyPr tIns="0" b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4"/>
          </p:nvPr>
        </p:nvSpPr>
        <p:spPr>
          <a:xfrm>
            <a:off x="2165130" y="3752406"/>
            <a:ext cx="9188670" cy="936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2165350" y="3336481"/>
            <a:ext cx="9186863" cy="360000"/>
          </a:xfrm>
          <a:solidFill>
            <a:schemeClr val="accent1"/>
          </a:solidFill>
        </p:spPr>
        <p:txBody>
          <a:bodyPr tIns="0" b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2163543" y="5263262"/>
            <a:ext cx="9188670" cy="936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2163763" y="4847337"/>
            <a:ext cx="9186863" cy="360000"/>
          </a:xfrm>
          <a:solidFill>
            <a:schemeClr val="tx2"/>
          </a:solidFill>
        </p:spPr>
        <p:txBody>
          <a:bodyPr tIns="0" b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87877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65130" y="1825625"/>
            <a:ext cx="4500000" cy="4351338"/>
          </a:xfrm>
        </p:spPr>
        <p:txBody>
          <a:bodyPr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2213" y="1825625"/>
            <a:ext cx="4500000" cy="4351338"/>
          </a:xfrm>
        </p:spPr>
        <p:txBody>
          <a:bodyPr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0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Orang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5130" y="1825625"/>
            <a:ext cx="9188670" cy="2124000"/>
          </a:xfrm>
        </p:spPr>
        <p:txBody>
          <a:bodyPr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2163543" y="4058210"/>
            <a:ext cx="9188670" cy="2124000"/>
          </a:xfrm>
          <a:solidFill>
            <a:srgbClr val="EB7323">
              <a:alpha val="50196"/>
            </a:srgbClr>
          </a:solidFill>
        </p:spPr>
        <p:txBody>
          <a:bodyPr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</p:txBody>
      </p:sp>
    </p:spTree>
    <p:extLst>
      <p:ext uri="{BB962C8B-B14F-4D97-AF65-F5344CB8AC3E}">
        <p14:creationId xmlns:p14="http://schemas.microsoft.com/office/powerpoint/2010/main" val="2058226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Foss4G 25/09/2025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1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 userDrawn="1"/>
        </p:nvGrpSpPr>
        <p:grpSpPr>
          <a:xfrm>
            <a:off x="-717" y="6528122"/>
            <a:ext cx="12193434" cy="329877"/>
            <a:chOff x="-717" y="6426000"/>
            <a:chExt cx="12193434" cy="432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-717" y="6426000"/>
              <a:ext cx="12193434" cy="43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11706000" y="6426000"/>
              <a:ext cx="486000" cy="43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6210300"/>
            <a:ext cx="651134" cy="647700"/>
            <a:chOff x="0" y="5997375"/>
            <a:chExt cx="865188" cy="860625"/>
          </a:xfrm>
        </p:grpSpPr>
        <p:sp>
          <p:nvSpPr>
            <p:cNvPr id="10" name="Rectangle 9"/>
            <p:cNvSpPr/>
            <p:nvPr userDrawn="1"/>
          </p:nvSpPr>
          <p:spPr>
            <a:xfrm>
              <a:off x="0" y="6426000"/>
              <a:ext cx="432000" cy="43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433188" y="6426000"/>
              <a:ext cx="432000" cy="43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0" y="5997375"/>
              <a:ext cx="432000" cy="43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433188" y="6213375"/>
              <a:ext cx="216000" cy="216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165130" y="384175"/>
            <a:ext cx="9188669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2165130" y="1825625"/>
            <a:ext cx="918867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1268506" y="6495450"/>
            <a:ext cx="5532344" cy="43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Foss4G 25/09/2025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723475" y="6495450"/>
            <a:ext cx="432000" cy="432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800" b="0" baseline="0">
                <a:solidFill>
                  <a:schemeClr val="bg1"/>
                </a:solidFill>
              </a:defRPr>
            </a:lvl1pPr>
          </a:lstStyle>
          <a:p>
            <a:fld id="{09D93A37-9107-4767-A6AC-0EE4D26656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19397" cy="136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61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6" r:id="rId2"/>
    <p:sldLayoutId id="2147483670" r:id="rId3"/>
    <p:sldLayoutId id="2147483671" r:id="rId4"/>
    <p:sldLayoutId id="2147483672" r:id="rId5"/>
    <p:sldLayoutId id="2147483656" r:id="rId6"/>
    <p:sldLayoutId id="2147483650" r:id="rId7"/>
    <p:sldLayoutId id="2147483661" r:id="rId8"/>
    <p:sldLayoutId id="2147483662" r:id="rId9"/>
    <p:sldLayoutId id="2147483663" r:id="rId10"/>
    <p:sldLayoutId id="2147483664" r:id="rId11"/>
    <p:sldLayoutId id="2147483652" r:id="rId12"/>
    <p:sldLayoutId id="2147483657" r:id="rId13"/>
    <p:sldLayoutId id="2147483654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2000"/>
        </a:lnSpc>
        <a:spcBef>
          <a:spcPts val="18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12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1950" indent="-180975" algn="l" defTabSz="914400" rtl="0" eaLnBrk="1" latinLnBrk="0" hangingPunct="1">
        <a:lnSpc>
          <a:spcPct val="112000"/>
        </a:lnSpc>
        <a:spcBef>
          <a:spcPts val="6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2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2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1413" userDrawn="1">
          <p15:clr>
            <a:srgbClr val="F26B43"/>
          </p15:clr>
        </p15:guide>
        <p15:guide id="3" pos="7151" userDrawn="1">
          <p15:clr>
            <a:srgbClr val="F26B43"/>
          </p15:clr>
        </p15:guide>
        <p15:guide id="4" orient="horz" pos="1207" userDrawn="1">
          <p15:clr>
            <a:srgbClr val="F26B43"/>
          </p15:clr>
        </p15:guide>
        <p15:guide id="5" orient="horz" pos="527" userDrawn="1">
          <p15:clr>
            <a:srgbClr val="F26B43"/>
          </p15:clr>
        </p15:guide>
        <p15:guide id="6" orient="horz" pos="39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8/10/relationships/comments" Target="../comments/modernComment_139_33A8060D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EFB4D-C235-41CF-82D9-C52AAB7EF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Service Analysis with </a:t>
            </a:r>
            <a:r>
              <a:rPr lang="en-US" noProof="0" dirty="0" err="1"/>
              <a:t>Openrouteservice</a:t>
            </a:r>
            <a:endParaRPr lang="en-US" noProof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32FC744-F2CC-4CBC-BCC4-80CC7ABBF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Amandine Holemans</a:t>
            </a:r>
          </a:p>
        </p:txBody>
      </p:sp>
    </p:spTree>
    <p:extLst>
      <p:ext uri="{BB962C8B-B14F-4D97-AF65-F5344CB8AC3E}">
        <p14:creationId xmlns:p14="http://schemas.microsoft.com/office/powerpoint/2010/main" val="2469562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189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3FC82-3E3D-4ECB-B4D5-37A5C1115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130" y="384175"/>
            <a:ext cx="9188669" cy="1325563"/>
          </a:xfrm>
        </p:spPr>
        <p:txBody>
          <a:bodyPr anchor="t">
            <a:normAutofit/>
          </a:bodyPr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8CAA70D-DBAD-48B8-AD81-4FF78F46F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5130" y="1825625"/>
            <a:ext cx="4500000" cy="4351338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Description of the project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Description of the tools</a:t>
            </a:r>
          </a:p>
          <a:p>
            <a:pPr marL="523875" lvl="1" indent="-342900">
              <a:buFont typeface="+mj-lt"/>
              <a:buAutoNum type="arabicPeriod"/>
            </a:pPr>
            <a:r>
              <a:rPr lang="en-US" noProof="0" dirty="0" err="1"/>
              <a:t>Openroadservice</a:t>
            </a:r>
            <a:endParaRPr lang="en-US" noProof="0" dirty="0"/>
          </a:p>
          <a:p>
            <a:pPr marL="523875" lvl="1" indent="-342900">
              <a:buFont typeface="+mj-lt"/>
              <a:buAutoNum type="arabicPeriod"/>
            </a:pPr>
            <a:r>
              <a:rPr lang="en-US" noProof="0" dirty="0"/>
              <a:t>QGIS and plugin</a:t>
            </a:r>
          </a:p>
          <a:p>
            <a:pPr marL="523875" lvl="1" indent="-342900">
              <a:buFont typeface="+mj-lt"/>
              <a:buAutoNum type="arabicPeriod"/>
            </a:pPr>
            <a:r>
              <a:rPr lang="en-US" noProof="0" dirty="0"/>
              <a:t>Dynamic temporal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Step by step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Conclusion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C63F04B-E085-40E0-8473-F118F2AA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8506" y="6495450"/>
            <a:ext cx="5532344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Foss4G 25/09/2025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D2EBFC7-8440-499D-A455-26B80BB4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3475" y="6495450"/>
            <a:ext cx="432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D93A37-9107-4767-A6AC-0EE4D266568E}" type="slidenum">
              <a:rPr lang="en-US" noProof="0" smtClean="0"/>
              <a:pPr>
                <a:spcAft>
                  <a:spcPts val="600"/>
                </a:spcAft>
              </a:pPr>
              <a:t>3</a:t>
            </a:fld>
            <a:endParaRPr lang="en-US" noProof="0" dirty="0"/>
          </a:p>
        </p:txBody>
      </p:sp>
      <p:pic>
        <p:nvPicPr>
          <p:cNvPr id="6" name="Espace réservé du contenu 5" descr="Une image contenant carte, texte, atlas, Monde&#10;&#10;Le contenu généré par l’IA peut être incorrect.">
            <a:extLst>
              <a:ext uri="{FF2B5EF4-FFF2-40B4-BE49-F238E27FC236}">
                <a16:creationId xmlns:a16="http://schemas.microsoft.com/office/drawing/2014/main" id="{17AB72E3-8E01-CBFF-0588-97C6E5D4BE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8"/>
          <a:stretch>
            <a:fillRect/>
          </a:stretch>
        </p:blipFill>
        <p:spPr>
          <a:xfrm>
            <a:off x="6296534" y="1471576"/>
            <a:ext cx="5426941" cy="39148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29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47031675-5BCC-4690-942D-B1BB2775AF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2621" y="1593383"/>
            <a:ext cx="4669342" cy="2774950"/>
          </a:xfrm>
        </p:spPr>
        <p:txBody>
          <a:bodyPr/>
          <a:lstStyle/>
          <a:p>
            <a:r>
              <a:rPr lang="en-US" noProof="0" dirty="0"/>
              <a:t>1. Project</a:t>
            </a:r>
          </a:p>
        </p:txBody>
      </p:sp>
    </p:spTree>
    <p:extLst>
      <p:ext uri="{BB962C8B-B14F-4D97-AF65-F5344CB8AC3E}">
        <p14:creationId xmlns:p14="http://schemas.microsoft.com/office/powerpoint/2010/main" val="475098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08B7CEA-F2B0-1C59-B442-E66B1976D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8506" y="6495450"/>
            <a:ext cx="5532344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C88C1B-00DC-827F-FDAD-548F3FCE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3475" y="6495450"/>
            <a:ext cx="432000" cy="43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D93A37-9107-4767-A6AC-0EE4D266568E}" type="slidenum">
              <a:rPr lang="en-US" noProof="0" smtClean="0"/>
              <a:pPr>
                <a:spcAft>
                  <a:spcPts val="600"/>
                </a:spcAft>
              </a:pPr>
              <a:t>5</a:t>
            </a:fld>
            <a:endParaRPr lang="en-US" noProof="0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28FBFF4-2707-4D3D-288B-EFC2EA6DA4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5130" y="962024"/>
            <a:ext cx="9187200" cy="6120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In collaboration with SPI (Liège)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6C7228E-629A-A61D-DF96-27BB6DA1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5130" y="384174"/>
            <a:ext cx="9188669" cy="654051"/>
          </a:xfrm>
        </p:spPr>
        <p:txBody>
          <a:bodyPr anchor="t">
            <a:normAutofit fontScale="90000"/>
          </a:bodyPr>
          <a:lstStyle/>
          <a:p>
            <a:r>
              <a:rPr lang="en-US" sz="3300" noProof="0" dirty="0"/>
              <a:t>Analysis of Emergency service locations</a:t>
            </a: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EB518A09-3D46-56A2-CFD4-0B399D2315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209334"/>
              </p:ext>
            </p:extLst>
          </p:nvPr>
        </p:nvGraphicFramePr>
        <p:xfrm>
          <a:off x="2165130" y="1825625"/>
          <a:ext cx="918867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063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5784-A055-F863-D8C6-9C076F87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E5EB6FBC-0C30-4E13-05EA-AFB545E7E8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2. Tools</a:t>
            </a:r>
          </a:p>
        </p:txBody>
      </p:sp>
    </p:spTree>
    <p:extLst>
      <p:ext uri="{BB962C8B-B14F-4D97-AF65-F5344CB8AC3E}">
        <p14:creationId xmlns:p14="http://schemas.microsoft.com/office/powerpoint/2010/main" val="248056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B29B2CC-C4E6-484D-942B-28F3849365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5488" y="1593383"/>
            <a:ext cx="7097900" cy="2774950"/>
          </a:xfrm>
        </p:spPr>
        <p:txBody>
          <a:bodyPr/>
          <a:lstStyle/>
          <a:p>
            <a:r>
              <a:rPr lang="en-US" noProof="0" dirty="0" err="1"/>
              <a:t>Openroadservice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87053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721A63F-6BBB-4214-835A-216809391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5" y="1820211"/>
            <a:ext cx="6400800" cy="4351338"/>
          </a:xfrm>
        </p:spPr>
        <p:txBody>
          <a:bodyPr/>
          <a:lstStyle/>
          <a:p>
            <a:r>
              <a:rPr lang="en-US" noProof="0" dirty="0"/>
              <a:t>A </a:t>
            </a:r>
            <a:r>
              <a:rPr lang="en-US" b="1" noProof="0" dirty="0"/>
              <a:t>web API </a:t>
            </a:r>
            <a:r>
              <a:rPr lang="en-US" noProof="0" dirty="0"/>
              <a:t>providing access to </a:t>
            </a:r>
            <a:r>
              <a:rPr lang="en-US" b="1" noProof="0" dirty="0"/>
              <a:t>road network data</a:t>
            </a:r>
            <a:r>
              <a:rPr lang="en-US" noProof="0" dirty="0"/>
              <a:t> and routing capabilities.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Powered by </a:t>
            </a:r>
            <a:r>
              <a:rPr lang="en-US" b="1" noProof="0" dirty="0"/>
              <a:t>OSM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Delivers </a:t>
            </a:r>
            <a:r>
              <a:rPr lang="en-US" b="1" noProof="0" dirty="0"/>
              <a:t>road information </a:t>
            </a:r>
            <a:r>
              <a:rPr lang="en-US" noProof="0" dirty="0"/>
              <a:t>and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Supports </a:t>
            </a:r>
            <a:r>
              <a:rPr lang="en-US" b="1" noProof="0" dirty="0"/>
              <a:t>route calculation </a:t>
            </a:r>
            <a:r>
              <a:rPr lang="en-US" noProof="0" dirty="0"/>
              <a:t>and spatial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Based on </a:t>
            </a:r>
            <a:r>
              <a:rPr lang="en-US" b="1" noProof="0" dirty="0"/>
              <a:t>open standards </a:t>
            </a:r>
            <a:r>
              <a:rPr lang="en-US" noProof="0" dirty="0"/>
              <a:t>for easy integration (REST / OGC)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Enables </a:t>
            </a:r>
            <a:r>
              <a:rPr lang="en-US" b="1" noProof="0" dirty="0"/>
              <a:t>smarter mobility</a:t>
            </a:r>
            <a:endParaRPr lang="en-US" noProof="0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E24F081-2F36-43E2-A31C-B6A2C01C9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C38852D-E558-4A01-A7A3-00B2A868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1FE3F7A-E0CA-4521-8015-DC1C5A4869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9B5AF90-EB5F-4048-9B0F-6CA7A3B2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Openroad</a:t>
            </a:r>
            <a:r>
              <a:rPr lang="en-US" dirty="0"/>
              <a:t>s</a:t>
            </a:r>
            <a:r>
              <a:rPr lang="en-US" noProof="0" dirty="0" err="1"/>
              <a:t>ervice</a:t>
            </a:r>
            <a:r>
              <a:rPr lang="en-US" noProof="0" dirty="0"/>
              <a:t> (ORS)</a:t>
            </a:r>
          </a:p>
        </p:txBody>
      </p:sp>
      <p:pic>
        <p:nvPicPr>
          <p:cNvPr id="1026" name="Picture 2" descr="openrouteservice">
            <a:extLst>
              <a:ext uri="{FF2B5EF4-FFF2-40B4-BE49-F238E27FC236}">
                <a16:creationId xmlns:a16="http://schemas.microsoft.com/office/drawing/2014/main" id="{59887D92-0C92-766D-648C-CE6E7BCF7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63" y="1268024"/>
            <a:ext cx="1857375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F45CBEC-D123-246D-AC95-123239211836}"/>
              </a:ext>
            </a:extLst>
          </p:cNvPr>
          <p:cNvSpPr txBox="1"/>
          <p:nvPr/>
        </p:nvSpPr>
        <p:spPr>
          <a:xfrm>
            <a:off x="539208" y="6189226"/>
            <a:ext cx="4037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https://openrouteservice.org/services/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FAE0606-A3C5-B271-8676-9E87495E9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63" y="1902036"/>
            <a:ext cx="3248024" cy="18448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B5BE1AC-874D-3254-AC06-8BA1E5526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45" y="3171699"/>
            <a:ext cx="3248024" cy="16305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34" name="Picture 10" descr="Route optimization for two vehicles and multiple waypoints">
            <a:extLst>
              <a:ext uri="{FF2B5EF4-FFF2-40B4-BE49-F238E27FC236}">
                <a16:creationId xmlns:a16="http://schemas.microsoft.com/office/drawing/2014/main" id="{2891E867-FBAE-1624-44E7-969A3C4DA6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7" t="2068" r="587" b="14795"/>
          <a:stretch>
            <a:fillRect/>
          </a:stretch>
        </p:blipFill>
        <p:spPr bwMode="auto">
          <a:xfrm>
            <a:off x="1748679" y="4226992"/>
            <a:ext cx="3249017" cy="16206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28283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47FAA-F039-5356-D5DF-BCDDC949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F144585-0583-6FE4-7FAA-B7E6A5D39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6000" y="1772849"/>
            <a:ext cx="6400800" cy="412312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Isochrones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Time-distance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Geocoding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Poi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Elevation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…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52480CBE-3D75-A40B-D767-A9153D577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BAB0CAF-DF3A-4D7B-726F-1E92B8B8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DC35FC8-602E-C0DA-4041-65EF88CF7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Types of services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9E92F59-7174-1E8E-28D5-FCB92D9F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Openroad</a:t>
            </a:r>
            <a:r>
              <a:rPr lang="en-US" noProof="0" dirty="0"/>
              <a:t> Service (ORS)</a:t>
            </a:r>
          </a:p>
        </p:txBody>
      </p:sp>
      <p:pic>
        <p:nvPicPr>
          <p:cNvPr id="1026" name="Picture 2" descr="openrouteservice">
            <a:extLst>
              <a:ext uri="{FF2B5EF4-FFF2-40B4-BE49-F238E27FC236}">
                <a16:creationId xmlns:a16="http://schemas.microsoft.com/office/drawing/2014/main" id="{2E907BD1-F299-41DE-2C1B-E1E4DF89F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63" y="1268024"/>
            <a:ext cx="1857375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5579A0D-1136-37F3-0D19-EF2AB3728E25}"/>
              </a:ext>
            </a:extLst>
          </p:cNvPr>
          <p:cNvSpPr txBox="1"/>
          <p:nvPr/>
        </p:nvSpPr>
        <p:spPr>
          <a:xfrm>
            <a:off x="539208" y="6189226"/>
            <a:ext cx="4037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https://openrouteservice.org/services/ 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163C60F1-D4A4-016A-BCBF-AB6D6817E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63" y="1902036"/>
            <a:ext cx="3248024" cy="184487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6B4C4EB-A82D-2C1F-A906-1410BA68A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45" y="3171699"/>
            <a:ext cx="3248024" cy="163050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034" name="Picture 10" descr="Route optimization for two vehicles and multiple waypoints">
            <a:extLst>
              <a:ext uri="{FF2B5EF4-FFF2-40B4-BE49-F238E27FC236}">
                <a16:creationId xmlns:a16="http://schemas.microsoft.com/office/drawing/2014/main" id="{A9EC49D4-7504-5F2B-EED3-2AD625AB3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7" t="2068" r="587" b="14795"/>
          <a:stretch>
            <a:fillRect/>
          </a:stretch>
        </p:blipFill>
        <p:spPr bwMode="auto">
          <a:xfrm>
            <a:off x="1748679" y="4226992"/>
            <a:ext cx="3249017" cy="16206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822869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9536D-D017-0F90-334A-E7B3DDB5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1F85AC-07C8-F466-6940-5660AF7ED1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 err="1"/>
              <a:t>Qgis</a:t>
            </a:r>
            <a:r>
              <a:rPr lang="en-US" noProof="0" dirty="0"/>
              <a:t> and plugin</a:t>
            </a:r>
          </a:p>
        </p:txBody>
      </p:sp>
    </p:spTree>
    <p:extLst>
      <p:ext uri="{BB962C8B-B14F-4D97-AF65-F5344CB8AC3E}">
        <p14:creationId xmlns:p14="http://schemas.microsoft.com/office/powerpoint/2010/main" val="44274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9C3AE-A21C-6611-365F-9E5DAB1E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QGIS and ORS plugin 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789B98-84DA-C79A-ACC1-805E07AB7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25625"/>
            <a:ext cx="5256213" cy="435133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Easy</a:t>
            </a:r>
            <a:r>
              <a:rPr lang="en-US" noProof="0" dirty="0"/>
              <a:t> to use, no API knowledge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Integrates </a:t>
            </a:r>
            <a:r>
              <a:rPr lang="en-US" b="1" dirty="0"/>
              <a:t>all ORS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Free sign up </a:t>
            </a:r>
            <a:r>
              <a:rPr lang="en-US" noProof="0" dirty="0"/>
              <a:t>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Quotas</a:t>
            </a:r>
            <a:r>
              <a:rPr lang="en-US" noProof="0" dirty="0"/>
              <a:t> by minutes and by days linked to the user (can be upgraded)</a:t>
            </a:r>
          </a:p>
          <a:p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4FB70E-6ADA-4200-D10E-578101BD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F2702B-9F38-810B-A2E3-0B7D0327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2050" name="Picture 2" descr="Plugin icon">
            <a:extLst>
              <a:ext uri="{FF2B5EF4-FFF2-40B4-BE49-F238E27FC236}">
                <a16:creationId xmlns:a16="http://schemas.microsoft.com/office/drawing/2014/main" id="{C0FEAF17-159A-2EDB-71FA-80F1AE792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925" y="488431"/>
            <a:ext cx="112395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45335B6-1965-2C49-AA2C-038B32304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1459981"/>
            <a:ext cx="3067403" cy="39380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C84018E3-DB0B-EAB9-65DF-9138E6DE6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0325" y="2422006"/>
            <a:ext cx="3064846" cy="39380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A6E0E76B-C7E2-750A-D294-A76B8537F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751636"/>
              </p:ext>
            </p:extLst>
          </p:nvPr>
        </p:nvGraphicFramePr>
        <p:xfrm>
          <a:off x="6111127" y="4333658"/>
          <a:ext cx="5532345" cy="1827112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564052">
                  <a:extLst>
                    <a:ext uri="{9D8B030D-6E8A-4147-A177-3AD203B41FA5}">
                      <a16:colId xmlns:a16="http://schemas.microsoft.com/office/drawing/2014/main" val="3770623670"/>
                    </a:ext>
                  </a:extLst>
                </a:gridCol>
                <a:gridCol w="2124178">
                  <a:extLst>
                    <a:ext uri="{9D8B030D-6E8A-4147-A177-3AD203B41FA5}">
                      <a16:colId xmlns:a16="http://schemas.microsoft.com/office/drawing/2014/main" val="3345214566"/>
                    </a:ext>
                  </a:extLst>
                </a:gridCol>
                <a:gridCol w="1844115">
                  <a:extLst>
                    <a:ext uri="{9D8B030D-6E8A-4147-A177-3AD203B41FA5}">
                      <a16:colId xmlns:a16="http://schemas.microsoft.com/office/drawing/2014/main" val="3635647339"/>
                    </a:ext>
                  </a:extLst>
                </a:gridCol>
              </a:tblGrid>
              <a:tr h="263175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b="0" noProof="0" dirty="0">
                          <a:effectLst/>
                        </a:rPr>
                        <a:t>Main Endpoints</a:t>
                      </a:r>
                      <a:endParaRPr lang="en-US" sz="16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b="0" noProof="0" dirty="0">
                          <a:effectLst/>
                        </a:rPr>
                        <a:t>Total Quota Left</a:t>
                      </a:r>
                      <a:endParaRPr lang="en-US" sz="16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600" b="0" noProof="0" dirty="0">
                          <a:effectLst/>
                        </a:rPr>
                        <a:t>Quota per Minute</a:t>
                      </a:r>
                      <a:endParaRPr lang="en-US" sz="16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extLst>
                  <a:ext uri="{0D108BD9-81ED-4DB2-BD59-A6C34878D82A}">
                    <a16:rowId xmlns:a16="http://schemas.microsoft.com/office/drawing/2014/main" val="714669562"/>
                  </a:ext>
                </a:extLst>
              </a:tr>
              <a:tr h="26317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Directions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2000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40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extLst>
                  <a:ext uri="{0D108BD9-81ED-4DB2-BD59-A6C34878D82A}">
                    <a16:rowId xmlns:a16="http://schemas.microsoft.com/office/drawing/2014/main" val="1224925344"/>
                  </a:ext>
                </a:extLst>
              </a:tr>
              <a:tr h="26317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Export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100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5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extLst>
                  <a:ext uri="{0D108BD9-81ED-4DB2-BD59-A6C34878D82A}">
                    <a16:rowId xmlns:a16="http://schemas.microsoft.com/office/drawing/2014/main" val="3243575908"/>
                  </a:ext>
                </a:extLst>
              </a:tr>
              <a:tr h="26317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Isochrones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500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20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extLst>
                  <a:ext uri="{0D108BD9-81ED-4DB2-BD59-A6C34878D82A}">
                    <a16:rowId xmlns:a16="http://schemas.microsoft.com/office/drawing/2014/main" val="2447108164"/>
                  </a:ext>
                </a:extLst>
              </a:tr>
              <a:tr h="26317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Matrix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500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40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extLst>
                  <a:ext uri="{0D108BD9-81ED-4DB2-BD59-A6C34878D82A}">
                    <a16:rowId xmlns:a16="http://schemas.microsoft.com/office/drawing/2014/main" val="1125359446"/>
                  </a:ext>
                </a:extLst>
              </a:tr>
              <a:tr h="263175"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Snap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2000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500"/>
                        </a:lnSpc>
                        <a:buNone/>
                      </a:pPr>
                      <a:r>
                        <a:rPr lang="en-US" sz="1400" b="0" noProof="0" dirty="0">
                          <a:effectLst/>
                        </a:rPr>
                        <a:t>100</a:t>
                      </a:r>
                      <a:endParaRPr lang="en-US" sz="1400" b="0" noProof="0" dirty="0">
                        <a:effectLst/>
                        <a:latin typeface="Manrope"/>
                      </a:endParaRPr>
                    </a:p>
                  </a:txBody>
                  <a:tcPr marL="81675" marR="81675" marT="40838" marB="40838" anchor="ctr"/>
                </a:tc>
                <a:extLst>
                  <a:ext uri="{0D108BD9-81ED-4DB2-BD59-A6C34878D82A}">
                    <a16:rowId xmlns:a16="http://schemas.microsoft.com/office/drawing/2014/main" val="1563651597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E2EA9CC6-3995-500E-F80E-652C87B6075C}"/>
              </a:ext>
            </a:extLst>
          </p:cNvPr>
          <p:cNvSpPr txBox="1"/>
          <p:nvPr/>
        </p:nvSpPr>
        <p:spPr>
          <a:xfrm>
            <a:off x="6096000" y="6176963"/>
            <a:ext cx="4037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https://account.heigit.org/manage/key</a:t>
            </a:r>
          </a:p>
        </p:txBody>
      </p:sp>
    </p:spTree>
    <p:extLst>
      <p:ext uri="{BB962C8B-B14F-4D97-AF65-F5344CB8AC3E}">
        <p14:creationId xmlns:p14="http://schemas.microsoft.com/office/powerpoint/2010/main" val="8666496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46604-258F-26FD-BB03-3994B51B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EC081D09-362B-8625-6D48-60EB19A41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Dynamic temporal control</a:t>
            </a:r>
          </a:p>
        </p:txBody>
      </p:sp>
    </p:spTree>
    <p:extLst>
      <p:ext uri="{BB962C8B-B14F-4D97-AF65-F5344CB8AC3E}">
        <p14:creationId xmlns:p14="http://schemas.microsoft.com/office/powerpoint/2010/main" val="257095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1EE28-905E-7B88-9CC6-9403BD364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Presentation of the tool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4A97F5A-2E22-E0FB-3EAC-201215F92E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91909" y="1518397"/>
            <a:ext cx="4947316" cy="41664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356CE5-F2F6-4820-603D-C4DD7CAAB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9869" y="1709738"/>
            <a:ext cx="5980222" cy="44672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 </a:t>
            </a:r>
            <a:r>
              <a:rPr lang="en-US" b="1" noProof="0" dirty="0"/>
              <a:t>displaying</a:t>
            </a:r>
            <a:r>
              <a:rPr lang="en-US" noProof="0" dirty="0"/>
              <a:t> </a:t>
            </a:r>
            <a:r>
              <a:rPr lang="en-US" b="1" noProof="0" dirty="0"/>
              <a:t>layers </a:t>
            </a:r>
            <a:r>
              <a:rPr lang="en-US" noProof="0" dirty="0"/>
              <a:t>according to a configured </a:t>
            </a:r>
            <a:r>
              <a:rPr lang="en-US" b="1" noProof="0" dirty="0"/>
              <a:t>time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Steps</a:t>
            </a:r>
            <a:r>
              <a:rPr lang="en-US" noProof="0" dirty="0"/>
              <a:t> to configure:</a:t>
            </a:r>
            <a:endParaRPr lang="en-US" noProof="0" dirty="0">
              <a:ea typeface="Verdana"/>
            </a:endParaRPr>
          </a:p>
          <a:p>
            <a:pPr marL="523875" lvl="1" indent="-342900">
              <a:buFont typeface="+mj-lt"/>
              <a:buAutoNum type="arabicPeriod"/>
            </a:pPr>
            <a:r>
              <a:rPr lang="en-US" noProof="0" dirty="0"/>
              <a:t>Set the </a:t>
            </a:r>
            <a:r>
              <a:rPr lang="en-US" b="1" noProof="0" dirty="0"/>
              <a:t>time range </a:t>
            </a:r>
            <a:r>
              <a:rPr lang="en-US" noProof="0" dirty="0"/>
              <a:t>by layer (in the properties: by attribute or manually)</a:t>
            </a:r>
          </a:p>
          <a:p>
            <a:pPr marL="523875" lvl="1" indent="-342900">
              <a:buFont typeface="+mj-lt"/>
              <a:buAutoNum type="arabicPeriod"/>
            </a:pPr>
            <a:r>
              <a:rPr lang="en-US" b="1" noProof="0" dirty="0"/>
              <a:t>Enable</a:t>
            </a:r>
            <a:r>
              <a:rPr lang="en-US" noProof="0" dirty="0"/>
              <a:t> temporal controller </a:t>
            </a:r>
          </a:p>
          <a:p>
            <a:pPr marL="523875" lvl="1" indent="-342900">
              <a:buFont typeface="+mj-lt"/>
              <a:buAutoNum type="arabicPeriod"/>
            </a:pPr>
            <a:r>
              <a:rPr lang="en-US" noProof="0" dirty="0"/>
              <a:t>Choose the </a:t>
            </a:r>
            <a:r>
              <a:rPr lang="en-US" b="1" noProof="0" dirty="0"/>
              <a:t>time</a:t>
            </a:r>
            <a:r>
              <a:rPr lang="en-US" noProof="0" dirty="0"/>
              <a:t> </a:t>
            </a:r>
            <a:r>
              <a:rPr lang="en-US" b="1" noProof="0" dirty="0"/>
              <a:t>mode</a:t>
            </a:r>
            <a:r>
              <a:rPr lang="en-US" noProof="0" dirty="0"/>
              <a:t> (fixed or animated)</a:t>
            </a:r>
          </a:p>
          <a:p>
            <a:pPr marL="523875" lvl="1" indent="-342900">
              <a:buFont typeface="+mj-lt"/>
              <a:buAutoNum type="arabicPeriod"/>
            </a:pPr>
            <a:r>
              <a:rPr lang="en-US" b="1" noProof="0" dirty="0"/>
              <a:t>Launch</a:t>
            </a:r>
            <a:r>
              <a:rPr lang="en-US" noProof="0" dirty="0"/>
              <a:t> the animation (if selected)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Can export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0564FC-6F97-8A14-C84A-F4853FFC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57D538-6010-0ED1-BA03-1022DFBD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13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267610-27CE-0CD9-3587-3DA050E2A7AD}"/>
              </a:ext>
            </a:extLst>
          </p:cNvPr>
          <p:cNvSpPr/>
          <p:nvPr/>
        </p:nvSpPr>
        <p:spPr>
          <a:xfrm>
            <a:off x="1576658" y="2600325"/>
            <a:ext cx="3762568" cy="69070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D912F0-8178-76FB-89A1-28E6FAE186D3}"/>
              </a:ext>
            </a:extLst>
          </p:cNvPr>
          <p:cNvSpPr/>
          <p:nvPr/>
        </p:nvSpPr>
        <p:spPr>
          <a:xfrm>
            <a:off x="4076700" y="1789713"/>
            <a:ext cx="266700" cy="22958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6" name="Connecteur : en arc 25">
            <a:extLst>
              <a:ext uri="{FF2B5EF4-FFF2-40B4-BE49-F238E27FC236}">
                <a16:creationId xmlns:a16="http://schemas.microsoft.com/office/drawing/2014/main" id="{F0F862D3-9D2B-F572-5FA3-CCB677174620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78455" y="1953611"/>
            <a:ext cx="1882489" cy="1752600"/>
          </a:xfrm>
          <a:prstGeom prst="curvedConnector2">
            <a:avLst/>
          </a:prstGeom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140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2B472E-DB0C-4E66-D765-A4C8AB6B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use</a:t>
            </a:r>
            <a:r>
              <a:rPr lang="en-US" noProof="0" dirty="0"/>
              <a:t> </a:t>
            </a:r>
            <a:r>
              <a:rPr lang="en-US" dirty="0"/>
              <a:t>of this tool within this</a:t>
            </a:r>
            <a:r>
              <a:rPr lang="en-US" noProof="0" dirty="0"/>
              <a:t> project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24499F-8E5A-67E9-5C0E-612B8D17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474" y="1825625"/>
            <a:ext cx="6410325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Should be used for </a:t>
            </a:r>
            <a:r>
              <a:rPr lang="en-US" b="1" noProof="0" dirty="0"/>
              <a:t>evolution in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Here used to </a:t>
            </a:r>
            <a:r>
              <a:rPr lang="en-US" b="1" noProof="0" dirty="0"/>
              <a:t>present different scenario</a:t>
            </a:r>
          </a:p>
          <a:p>
            <a:pPr marL="647700" lvl="2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Allow </a:t>
            </a:r>
            <a:r>
              <a:rPr lang="en-US" b="1" noProof="0" dirty="0">
                <a:sym typeface="Wingdings" panose="05000000000000000000" pitchFamily="2" charset="2"/>
              </a:rPr>
              <a:t>non-QGIS user </a:t>
            </a:r>
            <a:r>
              <a:rPr lang="en-US" noProof="0" dirty="0">
                <a:sym typeface="Wingdings" panose="05000000000000000000" pitchFamily="2" charset="2"/>
              </a:rPr>
              <a:t>to present different scenario quickly (</a:t>
            </a:r>
            <a:r>
              <a:rPr lang="en-US" dirty="0">
                <a:sym typeface="Wingdings" panose="05000000000000000000" pitchFamily="2" charset="2"/>
              </a:rPr>
              <a:t>no need</a:t>
            </a:r>
            <a:r>
              <a:rPr lang="en-US" noProof="0" dirty="0">
                <a:sym typeface="Wingdings" panose="05000000000000000000" pitchFamily="2" charset="2"/>
              </a:rPr>
              <a:t> to play with layers)</a:t>
            </a:r>
            <a:endParaRPr lang="en-US" noProof="0" dirty="0">
              <a:ea typeface="Verdana"/>
            </a:endParaRPr>
          </a:p>
          <a:p>
            <a:pPr marL="647700" lvl="2" indent="-285750">
              <a:buFont typeface="Wingdings" panose="05000000000000000000" pitchFamily="2" charset="2"/>
              <a:buChar char="à"/>
            </a:pPr>
            <a:r>
              <a:rPr lang="en-US" b="1" noProof="0" dirty="0">
                <a:sym typeface="Wingdings" panose="05000000000000000000" pitchFamily="2" charset="2"/>
              </a:rPr>
              <a:t>Switch </a:t>
            </a:r>
            <a:r>
              <a:rPr lang="en-US" dirty="0">
                <a:sym typeface="Wingdings" panose="05000000000000000000" pitchFamily="2" charset="2"/>
              </a:rPr>
              <a:t>a set of layer </a:t>
            </a:r>
            <a:r>
              <a:rPr lang="en-US" b="1" noProof="0" dirty="0">
                <a:sym typeface="Wingdings" panose="05000000000000000000" pitchFamily="2" charset="2"/>
              </a:rPr>
              <a:t>on and off </a:t>
            </a:r>
            <a:r>
              <a:rPr lang="en-US" noProof="0" dirty="0">
                <a:sym typeface="Wingdings" panose="05000000000000000000" pitchFamily="2" charset="2"/>
              </a:rPr>
              <a:t>automatically</a:t>
            </a:r>
          </a:p>
          <a:p>
            <a:pPr marL="647700" lvl="2" indent="-285750">
              <a:buFont typeface="Wingdings" panose="05000000000000000000" pitchFamily="2" charset="2"/>
              <a:buChar char="à"/>
            </a:pPr>
            <a:r>
              <a:rPr lang="en-US" noProof="0" dirty="0">
                <a:sym typeface="Wingdings" panose="05000000000000000000" pitchFamily="2" charset="2"/>
              </a:rPr>
              <a:t>Why not only use PDF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noProof="0" dirty="0">
                <a:sym typeface="Wingdings" panose="05000000000000000000" pitchFamily="2" charset="2"/>
              </a:rPr>
              <a:t>?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Allow the user to </a:t>
            </a:r>
            <a:r>
              <a:rPr lang="en-US" b="1" noProof="0" dirty="0">
                <a:sym typeface="Wingdings" panose="05000000000000000000" pitchFamily="2" charset="2"/>
              </a:rPr>
              <a:t>improvise a scenario</a:t>
            </a:r>
            <a:r>
              <a:rPr lang="en-US" noProof="0" dirty="0">
                <a:sym typeface="Wingdings" panose="05000000000000000000" pitchFamily="2" charset="2"/>
              </a:rPr>
              <a:t> by activating other layers during the presentation if needed</a:t>
            </a:r>
            <a:endParaRPr lang="en-US" noProof="0" dirty="0">
              <a:ea typeface="Verdana"/>
            </a:endParaRPr>
          </a:p>
          <a:p>
            <a:endParaRPr lang="en-US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1606FC-04E9-1D0E-CDC5-5875E1CA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2FCAFB-A3BF-1DDA-2C22-94642F44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14</a:t>
            </a:fld>
            <a:endParaRPr lang="en-US" noProof="0" dirty="0"/>
          </a:p>
        </p:txBody>
      </p:sp>
      <p:pic>
        <p:nvPicPr>
          <p:cNvPr id="9" name="Image 8" descr="Une image contenant carte, texte, atlas, Monde&#10;&#10;Le contenu généré par l’IA peut être incorrect.">
            <a:extLst>
              <a:ext uri="{FF2B5EF4-FFF2-40B4-BE49-F238E27FC236}">
                <a16:creationId xmlns:a16="http://schemas.microsoft.com/office/drawing/2014/main" id="{F1013EA8-13C8-C0DF-48A1-478DF8170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8"/>
          <a:stretch>
            <a:fillRect/>
          </a:stretch>
        </p:blipFill>
        <p:spPr>
          <a:xfrm>
            <a:off x="372106" y="1852312"/>
            <a:ext cx="4371344" cy="31533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33628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57C6-74B2-186B-77E7-F7F9E6DB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9EBE369-360F-F542-BB45-4567471132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3. Step by step</a:t>
            </a:r>
          </a:p>
        </p:txBody>
      </p:sp>
    </p:spTree>
    <p:extLst>
      <p:ext uri="{BB962C8B-B14F-4D97-AF65-F5344CB8AC3E}">
        <p14:creationId xmlns:p14="http://schemas.microsoft.com/office/powerpoint/2010/main" val="1650319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ACDB46-291D-C230-AE47-2A84EB35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by step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84C2AA2-8BFA-2C98-0FBE-3644D291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ACEF27-D9F2-A2F4-C1D9-F990B3D1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16</a:t>
            </a:fld>
            <a:endParaRPr lang="en-US" noProof="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1DD44F0-DCCC-E33A-E5C3-F31DAF45FA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450" y="1902234"/>
            <a:ext cx="5238750" cy="36924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8A64AAC6-D5FE-DC40-010F-1257DAEFE676}"/>
              </a:ext>
            </a:extLst>
          </p:cNvPr>
          <p:cNvSpPr txBox="1">
            <a:spLocks/>
          </p:cNvSpPr>
          <p:nvPr/>
        </p:nvSpPr>
        <p:spPr>
          <a:xfrm>
            <a:off x="5550408" y="1825625"/>
            <a:ext cx="580339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18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b="1" dirty="0"/>
              <a:t>Creation of the point layer for</a:t>
            </a:r>
            <a:r>
              <a:rPr lang="en-US" dirty="0"/>
              <a:t> service centers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528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ABD4B-A4C2-A925-86EE-C7845982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100164-FBE3-A7A6-935A-B564B10A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by step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0C1146-23C1-7AA8-CD6E-E271676DC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BEAD8E6-230C-5FF3-6B30-1827D30D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17</a:t>
            </a:fld>
            <a:endParaRPr lang="en-US" noProof="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A0D2F5A-9937-EF63-B99D-42A8620A51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450" y="1902234"/>
            <a:ext cx="5238750" cy="36924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A6E2550F-75A7-1840-1555-016A61B20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0408" y="1825625"/>
            <a:ext cx="5803392" cy="435133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Creation of the point layer for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service centers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Creation of the isochrones (</a:t>
            </a:r>
            <a:r>
              <a:rPr lang="en-US" b="1" noProof="0" dirty="0"/>
              <a:t>with ORS Plugin</a:t>
            </a:r>
            <a:r>
              <a:rPr lang="en-US" noProof="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2437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E0D7-6156-13A9-A1D5-AE05352D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340F9-006A-EC6A-D2FB-10CEF392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Creation of the isochrones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D073A90-75D2-182A-506E-11BDF423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89066C0-BAE4-7709-0B4F-BA49CA7C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7C2C769-1B30-4FAA-9B6C-2E946FD61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639" y="1825625"/>
            <a:ext cx="664354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noProof="0" dirty="0"/>
              <a:t>Parameters</a:t>
            </a:r>
            <a:r>
              <a:rPr lang="en-US" noProof="0" dirty="0"/>
              <a:t>: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dirty="0"/>
              <a:t>Isochrones from layer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Tr</a:t>
            </a:r>
            <a:r>
              <a:rPr lang="en-US" dirty="0"/>
              <a:t>avel mode: </a:t>
            </a:r>
            <a:r>
              <a:rPr lang="en-US" i="1" dirty="0"/>
              <a:t>Driving by car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Input </a:t>
            </a:r>
            <a:r>
              <a:rPr lang="en-US" dirty="0"/>
              <a:t>point layer: </a:t>
            </a:r>
            <a:r>
              <a:rPr lang="en-US" i="1" dirty="0"/>
              <a:t>Service centers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In</a:t>
            </a:r>
            <a:r>
              <a:rPr lang="en-US" dirty="0"/>
              <a:t>put layer ID: </a:t>
            </a:r>
            <a:r>
              <a:rPr lang="en-US" i="1" dirty="0"/>
              <a:t>Name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Dimension: </a:t>
            </a:r>
            <a:r>
              <a:rPr lang="en-US" i="1" noProof="0" dirty="0"/>
              <a:t>Time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dirty="0"/>
              <a:t>Ranges: </a:t>
            </a:r>
            <a:r>
              <a:rPr lang="en-US" i="1" dirty="0"/>
              <a:t>5</a:t>
            </a:r>
            <a:r>
              <a:rPr lang="en-US" dirty="0"/>
              <a:t>, </a:t>
            </a:r>
            <a:r>
              <a:rPr lang="en-US" i="1" dirty="0"/>
              <a:t>10, 15, 20 min</a:t>
            </a:r>
          </a:p>
          <a:p>
            <a:pPr lvl="1" indent="0">
              <a:buNone/>
            </a:pPr>
            <a:r>
              <a:rPr lang="en-US" dirty="0"/>
              <a:t>(always better to avoid more time ranges at this step)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Location </a:t>
            </a:r>
            <a:r>
              <a:rPr lang="en-US" dirty="0"/>
              <a:t>type: </a:t>
            </a:r>
            <a:r>
              <a:rPr lang="en-US" i="1" dirty="0"/>
              <a:t>Start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3681EFC-1FB1-F7E9-BFB6-C302CBD05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31" y="1582937"/>
            <a:ext cx="4466227" cy="43185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75802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A61C4A-D365-7001-5AB9-4F2D1C3B5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Good to know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3CA9B0-9F2A-72A8-C518-B7621B92D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9464" y="2576112"/>
            <a:ext cx="5267162" cy="428295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Isochrones generated by ORS plugin are not </a:t>
            </a:r>
            <a:r>
              <a:rPr lang="en-US" b="1" noProof="0" dirty="0"/>
              <a:t>ordered correctly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To </a:t>
            </a:r>
            <a:r>
              <a:rPr lang="en-US" dirty="0"/>
              <a:t>display the smallest</a:t>
            </a:r>
            <a:r>
              <a:rPr lang="en-US" noProof="0" dirty="0"/>
              <a:t> isochrones </a:t>
            </a:r>
            <a:r>
              <a:rPr lang="en-US" dirty="0"/>
              <a:t>on top</a:t>
            </a:r>
            <a:endParaRPr lang="en-US" noProof="0" dirty="0">
              <a:ea typeface="Verdana"/>
            </a:endParaRPr>
          </a:p>
          <a:p>
            <a:r>
              <a:rPr lang="en-US" noProof="0" dirty="0">
                <a:sym typeface="Wingdings" panose="05000000000000000000" pitchFamily="2" charset="2"/>
              </a:rPr>
              <a:t> Use the « </a:t>
            </a:r>
            <a:r>
              <a:rPr lang="en-US" b="1" i="1" noProof="0" dirty="0">
                <a:sym typeface="Wingdings" panose="05000000000000000000" pitchFamily="2" charset="2"/>
              </a:rPr>
              <a:t>Control feature rendering order </a:t>
            </a:r>
            <a:r>
              <a:rPr lang="en-US" b="1" noProof="0" dirty="0">
                <a:sym typeface="Wingdings" panose="05000000000000000000" pitchFamily="2" charset="2"/>
              </a:rPr>
              <a:t>»</a:t>
            </a:r>
            <a:r>
              <a:rPr lang="en-US" noProof="0" dirty="0">
                <a:sym typeface="Wingdings" panose="05000000000000000000" pitchFamily="2" charset="2"/>
              </a:rPr>
              <a:t> of the symbology panel</a:t>
            </a:r>
            <a:r>
              <a:rPr lang="en-US" noProof="0" dirty="0"/>
              <a:t> 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0A5848-B03A-2CD0-7C2D-B0AC28E36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B0A1D5-3228-B4DE-2446-43EAA7AE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19</a:t>
            </a:fld>
            <a:endParaRPr lang="en-US" noProof="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D8DB458-EFEE-54E1-149E-6DD2B0EEA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923" y="1046956"/>
            <a:ext cx="4432835" cy="287184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9E4CC1F-DD8B-98B1-AEC1-B111D7D4A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923" y="3677324"/>
            <a:ext cx="4432834" cy="2899774"/>
          </a:xfrm>
          <a:prstGeom prst="rect">
            <a:avLst/>
          </a:prstGeom>
        </p:spPr>
      </p:pic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9E293847-E6E8-7922-F840-ACF24F213C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198" y="2052303"/>
            <a:ext cx="5323569" cy="32500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85FA72-BE47-9C5A-49A5-BCB40C34088C}"/>
              </a:ext>
            </a:extLst>
          </p:cNvPr>
          <p:cNvSpPr/>
          <p:nvPr/>
        </p:nvSpPr>
        <p:spPr>
          <a:xfrm>
            <a:off x="1871932" y="4808557"/>
            <a:ext cx="3908835" cy="22554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084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3549-128D-0FD3-EF07-6C250E07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307A0-4B45-A008-64E0-D37BE4CA4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by step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D223114-982C-575C-69F8-C4680B95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978FE2-4071-B04E-ADAE-FD3551D99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20</a:t>
            </a:fld>
            <a:endParaRPr lang="en-US" noProof="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F1C112C-3DB0-C36A-F9F9-080EFE42C9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450" y="1902234"/>
            <a:ext cx="5238750" cy="36924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F57C049-09D9-5E1A-A581-4594F83BDEC7}"/>
              </a:ext>
            </a:extLst>
          </p:cNvPr>
          <p:cNvSpPr txBox="1">
            <a:spLocks/>
          </p:cNvSpPr>
          <p:nvPr/>
        </p:nvSpPr>
        <p:spPr>
          <a:xfrm>
            <a:off x="5550408" y="1825625"/>
            <a:ext cx="580339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18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Creation of the point layer for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service centers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Creation of the isochrones (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with ORS Plugin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Split by center localization (</a:t>
            </a:r>
            <a:r>
              <a:rPr lang="en-US" b="1" dirty="0"/>
              <a:t>Tool split vector layer</a:t>
            </a:r>
            <a:r>
              <a:rPr lang="en-US" dirty="0"/>
              <a:t>) </a:t>
            </a:r>
            <a:r>
              <a:rPr lang="en-US" i="1" dirty="0">
                <a:sym typeface="Wingdings" panose="05000000000000000000" pitchFamily="2" charset="2"/>
              </a:rPr>
              <a:t> One center : one layer</a:t>
            </a:r>
            <a:endParaRPr lang="en-US" i="1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862A425-D0A2-6257-F276-493B069D1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7" t="-296" r="-2972" b="-1291"/>
          <a:stretch>
            <a:fillRect/>
          </a:stretch>
        </p:blipFill>
        <p:spPr>
          <a:xfrm>
            <a:off x="1798320" y="2084247"/>
            <a:ext cx="3282696" cy="42519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8988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BAE1D-2408-3795-0217-1A6C3CD6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Good to know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34DBB3-F236-DAF7-2F71-6445398EC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7880" y="1825625"/>
            <a:ext cx="545592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 dirty="0"/>
              <a:t>Set layer style – </a:t>
            </a:r>
            <a:r>
              <a:rPr lang="en-US" b="1" noProof="0" dirty="0"/>
              <a:t>Batch processing</a:t>
            </a:r>
            <a:r>
              <a:rPr lang="en-US" noProof="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For the temporal control, need to split data by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</a:t>
            </a:r>
            <a:r>
              <a:rPr lang="en-US" noProof="0" dirty="0"/>
              <a:t> </a:t>
            </a:r>
            <a:r>
              <a:rPr lang="en-US" dirty="0"/>
              <a:t>quickly change </a:t>
            </a:r>
            <a:r>
              <a:rPr lang="en-US" noProof="0" dirty="0"/>
              <a:t>the style of </a:t>
            </a:r>
            <a:r>
              <a:rPr lang="en-US" dirty="0"/>
              <a:t>all layers</a:t>
            </a:r>
            <a:endParaRPr lang="en-US" noProof="0" dirty="0">
              <a:ea typeface="Verdana"/>
            </a:endParaRP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Save a </a:t>
            </a:r>
            <a:r>
              <a:rPr lang="en-US" b="1" noProof="0" dirty="0"/>
              <a:t>template of the style </a:t>
            </a:r>
            <a:r>
              <a:rPr lang="en-US" noProof="0" dirty="0"/>
              <a:t>(.</a:t>
            </a:r>
            <a:r>
              <a:rPr lang="en-US" noProof="0" dirty="0" err="1"/>
              <a:t>qml</a:t>
            </a:r>
            <a:r>
              <a:rPr lang="en-US" noProof="0" dirty="0"/>
              <a:t>)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Tool: « </a:t>
            </a:r>
            <a:r>
              <a:rPr lang="en-US" b="1" noProof="0" dirty="0"/>
              <a:t>Set layer style </a:t>
            </a:r>
            <a:r>
              <a:rPr lang="en-US" noProof="0" dirty="0"/>
              <a:t>»</a:t>
            </a:r>
          </a:p>
          <a:p>
            <a:pPr marL="466725" lvl="1" indent="-285750">
              <a:buFont typeface="Arial" panose="020B0604020202020204" pitchFamily="34" charset="0"/>
              <a:buChar char="•"/>
            </a:pPr>
            <a:r>
              <a:rPr lang="en-US" b="1" noProof="0" dirty="0"/>
              <a:t>Batch processing option </a:t>
            </a:r>
            <a:r>
              <a:rPr lang="en-US" noProof="0" dirty="0"/>
              <a:t>to apply the style to all layer at a time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FFC123-3DD9-F431-0879-866912C8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24783A-E298-F724-636F-2A6AA398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21</a:t>
            </a:fld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8A0EDBD-C4FA-8074-02FA-710E62930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66198"/>
            <a:ext cx="3510832" cy="16271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2EF6C54-BEC6-F165-29D1-97BF633BF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59672"/>
            <a:ext cx="3510833" cy="33546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4CB4E6-89A1-6CF7-27B9-8EFEC8DEB856}"/>
              </a:ext>
            </a:extLst>
          </p:cNvPr>
          <p:cNvSpPr/>
          <p:nvPr/>
        </p:nvSpPr>
        <p:spPr>
          <a:xfrm>
            <a:off x="1362074" y="2615688"/>
            <a:ext cx="774481" cy="248527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1" name="Connecteur : en arc 10">
            <a:extLst>
              <a:ext uri="{FF2B5EF4-FFF2-40B4-BE49-F238E27FC236}">
                <a16:creationId xmlns:a16="http://schemas.microsoft.com/office/drawing/2014/main" id="{64AC7AF4-3EC4-6837-5DF8-3C19A5FFCB46}"/>
              </a:ext>
            </a:extLst>
          </p:cNvPr>
          <p:cNvCxnSpPr>
            <a:cxnSpLocks/>
          </p:cNvCxnSpPr>
          <p:nvPr/>
        </p:nvCxnSpPr>
        <p:spPr>
          <a:xfrm rot="10800000">
            <a:off x="2282078" y="2739952"/>
            <a:ext cx="3698098" cy="2133801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686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5658-62E4-C19E-56B1-8F91D083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DE7B83-369D-33A1-2562-6398CDB8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by step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3E8C01-E1D5-017E-77CA-DF2441A2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EA2377-2593-E4D5-BB66-A4FA1356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22</a:t>
            </a:fld>
            <a:endParaRPr lang="en-US" noProof="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05CEEF2-6FB4-E953-9427-2EC25D0B0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450" y="1902234"/>
            <a:ext cx="5238750" cy="36924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CF9686FD-9F09-538E-937B-35A245BB51A2}"/>
              </a:ext>
            </a:extLst>
          </p:cNvPr>
          <p:cNvSpPr txBox="1">
            <a:spLocks/>
          </p:cNvSpPr>
          <p:nvPr/>
        </p:nvSpPr>
        <p:spPr>
          <a:xfrm>
            <a:off x="5550408" y="1825625"/>
            <a:ext cx="580339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18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Creation of the point layer for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service centers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Creation of the isochrones (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with ORS Plugin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Split by center localization (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Tool split vector layer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One center : one layer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Choice of the </a:t>
            </a:r>
            <a:r>
              <a:rPr lang="en-US" b="1" dirty="0"/>
              <a:t>time range by center</a:t>
            </a:r>
            <a:r>
              <a:rPr lang="en-US" dirty="0"/>
              <a:t> (according to the center type)</a:t>
            </a:r>
            <a:endParaRPr lang="en-US" b="1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Establishment of the </a:t>
            </a:r>
            <a:r>
              <a:rPr lang="en-US" b="1" dirty="0"/>
              <a:t>temporal propriety</a:t>
            </a:r>
          </a:p>
          <a:p>
            <a:pPr marL="342900" indent="-342900">
              <a:buFont typeface="+mj-lt"/>
              <a:buAutoNum type="arabicPeriod"/>
            </a:pPr>
            <a:endParaRPr lang="en-US" i="1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670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C57557-5251-AC34-9120-EB13F794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Apply scenario to temporal control</a:t>
            </a:r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5CE0B7F6-F1BB-7939-BBE8-874F2E8F7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45767"/>
              </p:ext>
            </p:extLst>
          </p:nvPr>
        </p:nvGraphicFramePr>
        <p:xfrm>
          <a:off x="500652" y="1938528"/>
          <a:ext cx="4876021" cy="1992170"/>
        </p:xfrm>
        <a:graphic>
          <a:graphicData uri="http://schemas.openxmlformats.org/drawingml/2006/table">
            <a:tbl>
              <a:tblPr/>
              <a:tblGrid>
                <a:gridCol w="1029061">
                  <a:extLst>
                    <a:ext uri="{9D8B030D-6E8A-4147-A177-3AD203B41FA5}">
                      <a16:colId xmlns:a16="http://schemas.microsoft.com/office/drawing/2014/main" val="2757877431"/>
                    </a:ext>
                  </a:extLst>
                </a:gridCol>
                <a:gridCol w="769392">
                  <a:extLst>
                    <a:ext uri="{9D8B030D-6E8A-4147-A177-3AD203B41FA5}">
                      <a16:colId xmlns:a16="http://schemas.microsoft.com/office/drawing/2014/main" val="3329292044"/>
                    </a:ext>
                  </a:extLst>
                </a:gridCol>
                <a:gridCol w="769392">
                  <a:extLst>
                    <a:ext uri="{9D8B030D-6E8A-4147-A177-3AD203B41FA5}">
                      <a16:colId xmlns:a16="http://schemas.microsoft.com/office/drawing/2014/main" val="1311287167"/>
                    </a:ext>
                  </a:extLst>
                </a:gridCol>
                <a:gridCol w="769392">
                  <a:extLst>
                    <a:ext uri="{9D8B030D-6E8A-4147-A177-3AD203B41FA5}">
                      <a16:colId xmlns:a16="http://schemas.microsoft.com/office/drawing/2014/main" val="2764876268"/>
                    </a:ext>
                  </a:extLst>
                </a:gridCol>
                <a:gridCol w="769392">
                  <a:extLst>
                    <a:ext uri="{9D8B030D-6E8A-4147-A177-3AD203B41FA5}">
                      <a16:colId xmlns:a16="http://schemas.microsoft.com/office/drawing/2014/main" val="2288203437"/>
                    </a:ext>
                  </a:extLst>
                </a:gridCol>
                <a:gridCol w="769392">
                  <a:extLst>
                    <a:ext uri="{9D8B030D-6E8A-4147-A177-3AD203B41FA5}">
                      <a16:colId xmlns:a16="http://schemas.microsoft.com/office/drawing/2014/main" val="2370015453"/>
                    </a:ext>
                  </a:extLst>
                </a:gridCol>
              </a:tblGrid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01-janv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02-janv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03-janv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04-janv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05-janv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94261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Scenario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Scenario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Scenario 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Scenario 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Scenario 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301700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Braine </a:t>
                      </a:r>
                      <a:r>
                        <a:rPr lang="en-US" sz="11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l'Alleud</a:t>
                      </a:r>
                      <a:endParaRPr lang="en-US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12186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Braine-le-Comte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32033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Charleroi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037275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Gembloux 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934505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Gembloux 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775261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 </a:t>
                      </a:r>
                      <a:r>
                        <a:rPr lang="en-US" sz="11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Louvière</a:t>
                      </a:r>
                      <a:endParaRPr lang="en-US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452995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Namur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573633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Ottignies</a:t>
                      </a:r>
                      <a:endParaRPr lang="en-US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142428"/>
                  </a:ext>
                </a:extLst>
              </a:tr>
              <a:tr h="1812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Villers-la-Ville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80822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6662096-D308-240B-2863-41CFDA9C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5D9A0DC-08C1-AD7A-2D99-9D0016F8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23</a:t>
            </a:fld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A1DC43-1C49-F61A-A150-09174646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51" y="4253450"/>
            <a:ext cx="4876020" cy="14985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C1CF8AC6-E8BF-B897-0390-2490AEE8B815}"/>
              </a:ext>
            </a:extLst>
          </p:cNvPr>
          <p:cNvSpPr txBox="1">
            <a:spLocks/>
          </p:cNvSpPr>
          <p:nvPr/>
        </p:nvSpPr>
        <p:spPr>
          <a:xfrm>
            <a:off x="5920083" y="2666873"/>
            <a:ext cx="580339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18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50" indent="-180975" algn="l" defTabSz="914400" rtl="0" eaLnBrk="1" latinLnBrk="0" hangingPunct="1">
              <a:lnSpc>
                <a:spcPct val="112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2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Scenario </a:t>
            </a:r>
            <a:r>
              <a:rPr lang="en-US" b="1" dirty="0"/>
              <a:t>fixed</a:t>
            </a:r>
            <a:r>
              <a:rPr lang="en-US" dirty="0"/>
              <a:t> previously in a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use the temporal tool here </a:t>
            </a:r>
          </a:p>
          <a:p>
            <a:r>
              <a:rPr lang="en-US" dirty="0">
                <a:sym typeface="Wingdings" panose="05000000000000000000" pitchFamily="2" charset="2"/>
              </a:rPr>
              <a:t>	 </a:t>
            </a:r>
            <a:r>
              <a:rPr lang="en-US" b="1" dirty="0">
                <a:sym typeface="Wingdings" panose="05000000000000000000" pitchFamily="2" charset="2"/>
              </a:rPr>
              <a:t>one day : one scenario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Set in the </a:t>
            </a:r>
            <a:r>
              <a:rPr lang="en-US" b="1" dirty="0"/>
              <a:t>properties</a:t>
            </a:r>
            <a:r>
              <a:rPr lang="en-US" dirty="0"/>
              <a:t> (can be set with attribute)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4F62D46-1165-3A5D-86A3-0AEE67BBA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5" y="1900730"/>
            <a:ext cx="3897408" cy="354817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36433BF-D112-9CF0-7AB3-7A3247B866DD}"/>
              </a:ext>
            </a:extLst>
          </p:cNvPr>
          <p:cNvSpPr/>
          <p:nvPr/>
        </p:nvSpPr>
        <p:spPr>
          <a:xfrm>
            <a:off x="4700016" y="2359152"/>
            <a:ext cx="370877" cy="2907791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539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AAB1-FE38-C09B-2475-7F2B2D90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15C10E-BD54-5A04-7FD0-5A74940A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by step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44FCB5-DA95-88BE-12FA-694BD7409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26460D-20F6-DECF-20C1-7294F0BC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3D36EE4-C97D-725D-F584-F02A51100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0408" y="1825625"/>
            <a:ext cx="5803392" cy="435133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Creation of the point layer for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service centers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chemeClr val="bg1">
                    <a:lumMod val="65000"/>
                  </a:schemeClr>
                </a:solidFill>
              </a:rPr>
              <a:t>Creation of the isochrones (</a:t>
            </a:r>
            <a:r>
              <a:rPr lang="en-US" b="1" noProof="0" dirty="0">
                <a:solidFill>
                  <a:schemeClr val="bg1">
                    <a:lumMod val="65000"/>
                  </a:schemeClr>
                </a:solidFill>
              </a:rPr>
              <a:t>with ORS Plugin</a:t>
            </a:r>
            <a:r>
              <a:rPr lang="en-US" noProof="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chemeClr val="bg1">
                    <a:lumMod val="65000"/>
                  </a:schemeClr>
                </a:solidFill>
              </a:rPr>
              <a:t>Split by center localization (</a:t>
            </a:r>
            <a:r>
              <a:rPr lang="en-US" b="1" noProof="0" dirty="0">
                <a:solidFill>
                  <a:schemeClr val="bg1">
                    <a:lumMod val="65000"/>
                  </a:schemeClr>
                </a:solidFill>
              </a:rPr>
              <a:t>Tool split vector layer</a:t>
            </a:r>
            <a:r>
              <a:rPr lang="en-US" noProof="0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One center : one layer</a:t>
            </a:r>
            <a:endParaRPr lang="en-US" i="1" noProof="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noProof="0" dirty="0">
                <a:solidFill>
                  <a:schemeClr val="bg1">
                    <a:lumMod val="65000"/>
                  </a:schemeClr>
                </a:solidFill>
              </a:rPr>
              <a:t>Establishment of the </a:t>
            </a:r>
            <a:r>
              <a:rPr lang="en-US" b="1" noProof="0" dirty="0">
                <a:solidFill>
                  <a:schemeClr val="bg1">
                    <a:lumMod val="65000"/>
                  </a:schemeClr>
                </a:solidFill>
              </a:rPr>
              <a:t>temporal propriety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Choice of the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time range by center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(according to the center type)</a:t>
            </a:r>
            <a:endParaRPr lang="en-US" noProof="0" dirty="0">
              <a:solidFill>
                <a:schemeClr val="bg1">
                  <a:lumMod val="6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Configuration of the temporal </a:t>
            </a:r>
            <a:r>
              <a:rPr lang="en-US" b="1" noProof="0" dirty="0"/>
              <a:t>dynamic control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</p:txBody>
      </p:sp>
      <p:pic>
        <p:nvPicPr>
          <p:cNvPr id="9" name="Image 8" descr="Une image contenant carte, texte, atlas, Monde&#10;&#10;Le contenu généré par l’IA peut être incorrect.">
            <a:extLst>
              <a:ext uri="{FF2B5EF4-FFF2-40B4-BE49-F238E27FC236}">
                <a16:creationId xmlns:a16="http://schemas.microsoft.com/office/drawing/2014/main" id="{2E11BE05-F83E-4857-481E-A754E7CD4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8"/>
          <a:stretch>
            <a:fillRect/>
          </a:stretch>
        </p:blipFill>
        <p:spPr>
          <a:xfrm>
            <a:off x="372106" y="1852312"/>
            <a:ext cx="4371344" cy="31533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8647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FE2F-13EA-00E3-023D-688031FA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7D445036-9639-5EC3-E107-76629EA55D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4. Conclusion</a:t>
            </a:r>
          </a:p>
        </p:txBody>
      </p:sp>
    </p:spTree>
    <p:extLst>
      <p:ext uri="{BB962C8B-B14F-4D97-AF65-F5344CB8AC3E}">
        <p14:creationId xmlns:p14="http://schemas.microsoft.com/office/powerpoint/2010/main" val="3825394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5D3BCD-6C9F-9DFC-B1CE-4A551BF6C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8F2B96-6208-D223-A2B2-1142FD43F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25133"/>
            <a:ext cx="5257800" cy="39449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Easy to create </a:t>
            </a:r>
            <a:r>
              <a:rPr lang="en-US" dirty="0"/>
              <a:t>– No API knowledge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Qgis</a:t>
            </a:r>
            <a:r>
              <a:rPr lang="en-US" noProof="0" dirty="0"/>
              <a:t> project created: </a:t>
            </a:r>
            <a:r>
              <a:rPr lang="en-US" b="1" noProof="0" dirty="0"/>
              <a:t>decision-making tool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Offers </a:t>
            </a:r>
            <a:r>
              <a:rPr lang="en-US" dirty="0"/>
              <a:t>a </a:t>
            </a:r>
            <a:r>
              <a:rPr lang="en-US" b="1" dirty="0" err="1"/>
              <a:t>customisable</a:t>
            </a:r>
            <a:r>
              <a:rPr lang="en-US" dirty="0"/>
              <a:t> presentation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Ability to </a:t>
            </a:r>
            <a:r>
              <a:rPr lang="en-US" b="1" dirty="0"/>
              <a:t>switch between scenario </a:t>
            </a:r>
            <a:r>
              <a:rPr lang="en-US" dirty="0"/>
              <a:t>during the discussion and create new ones</a:t>
            </a:r>
            <a:endParaRPr lang="en-US" dirty="0">
              <a:ea typeface="Verdan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Qgis</a:t>
            </a:r>
            <a:r>
              <a:rPr lang="en-US" noProof="0" dirty="0"/>
              <a:t> project </a:t>
            </a:r>
            <a:r>
              <a:rPr lang="en-US" b="1" noProof="0" dirty="0"/>
              <a:t>final output </a:t>
            </a:r>
            <a:r>
              <a:rPr lang="en-US" noProof="0" dirty="0"/>
              <a:t>for the 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6520112-7E07-6A41-FC29-26A32D5A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Foss4G 25/09/2025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64703E4-E477-4815-33FE-2F326294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93A37-9107-4767-A6AC-0EE4D266568E}" type="slidenum">
              <a:rPr lang="en-US" noProof="0" smtClean="0"/>
              <a:t>26</a:t>
            </a:fld>
            <a:endParaRPr lang="en-US" noProof="0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BF6933B-B2B4-7C08-5901-54FCE083AE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65130" y="1349738"/>
            <a:ext cx="9186863" cy="360000"/>
          </a:xfrm>
        </p:spPr>
        <p:txBody>
          <a:bodyPr/>
          <a:lstStyle/>
          <a:p>
            <a:r>
              <a:rPr lang="en-US" noProof="0" dirty="0"/>
              <a:t>Use of QGIS and ORS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48E6BB7-60FF-A092-785D-F018CD8DA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15" y="2130125"/>
            <a:ext cx="5716134" cy="39449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566305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461903D-09D9-4CCA-9771-CE50FA4DD6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645317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GIM2018">
      <a:dk1>
        <a:sysClr val="windowText" lastClr="000000"/>
      </a:dk1>
      <a:lt1>
        <a:sysClr val="window" lastClr="FFFFFF"/>
      </a:lt1>
      <a:dk2>
        <a:srgbClr val="00A0C8"/>
      </a:dk2>
      <a:lt2>
        <a:srgbClr val="F0F5F5"/>
      </a:lt2>
      <a:accent1>
        <a:srgbClr val="1EAAA0"/>
      </a:accent1>
      <a:accent2>
        <a:srgbClr val="EB7323"/>
      </a:accent2>
      <a:accent3>
        <a:srgbClr val="B4D7D7"/>
      </a:accent3>
      <a:accent4>
        <a:srgbClr val="00A0C8"/>
      </a:accent4>
      <a:accent5>
        <a:srgbClr val="A5B9BE"/>
      </a:accent5>
      <a:accent6>
        <a:srgbClr val="2F6F95"/>
      </a:accent6>
      <a:hlink>
        <a:srgbClr val="00A0C8"/>
      </a:hlink>
      <a:folHlink>
        <a:srgbClr val="A5B9BE"/>
      </a:folHlink>
    </a:clrScheme>
    <a:fontScheme name="GIM2018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IM_PPT_TEMPLATE_WIDE.potx" id="{80F119D9-6DBF-41DF-862C-3CB7DF779124}" vid="{18588599-1733-4F0C-B582-AF51C0B7B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ncours xmlns="cc8cca9f-433a-429d-aa10-2da712f259be">true</Encours>
    <TaxCatchAll xmlns="c9d7b9fc-2433-4651-a45d-46cee7852aea" xsi:nil="true"/>
    <Cone xmlns="cc8cca9f-433a-429d-aa10-2da712f259be" xsi:nil="true"/>
    <Circle xmlns="cc8cca9f-433a-429d-aa10-2da712f259be" xsi:nil="true"/>
    <Company xmlns="cc8cca9f-433a-429d-aa10-2da712f259be" xsi:nil="true"/>
    <lcf76f155ced4ddcb4097134ff3c332f xmlns="cc8cca9f-433a-429d-aa10-2da712f259be">
      <Terms xmlns="http://schemas.microsoft.com/office/infopath/2007/PartnerControls"/>
    </lcf76f155ced4ddcb4097134ff3c332f>
    <Details xmlns="cc8cca9f-433a-429d-aa10-2da712f259b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DEDC06025AE44F87000A345D19CBC8" ma:contentTypeVersion="28" ma:contentTypeDescription="Create a new document." ma:contentTypeScope="" ma:versionID="ec3eb218c4e1ca752a95093dc457a9d9">
  <xsd:schema xmlns:xsd="http://www.w3.org/2001/XMLSchema" xmlns:xs="http://www.w3.org/2001/XMLSchema" xmlns:p="http://schemas.microsoft.com/office/2006/metadata/properties" xmlns:ns2="c9d7b9fc-2433-4651-a45d-46cee7852aea" xmlns:ns3="cc8cca9f-433a-429d-aa10-2da712f259be" targetNamespace="http://schemas.microsoft.com/office/2006/metadata/properties" ma:root="true" ma:fieldsID="fe4aebcd9054194181d33a844b124b08" ns2:_="" ns3:_="">
    <xsd:import namespace="c9d7b9fc-2433-4651-a45d-46cee7852aea"/>
    <xsd:import namespace="cc8cca9f-433a-429d-aa10-2da712f259b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Company" minOccurs="0"/>
                <xsd:element ref="ns3:Circle" minOccurs="0"/>
                <xsd:element ref="ns3:Cone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Details" minOccurs="0"/>
                <xsd:element ref="ns3:MediaLengthInSeconds" minOccurs="0"/>
                <xsd:element ref="ns3:Encour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7b9fc-2433-4651-a45d-46cee7852ae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cbb3a3a1-887b-435a-8b7a-81c1adce0cb0}" ma:internalName="TaxCatchAll" ma:showField="CatchAllData" ma:web="c9d7b9fc-2433-4651-a45d-46cee7852a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8cca9f-433a-429d-aa10-2da712f259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Company" ma:index="12" nillable="true" ma:displayName="Company" ma:format="Dropdown" ma:internalName="Company">
      <xsd:simpleType>
        <xsd:restriction base="dms:Text">
          <xsd:maxLength value="255"/>
        </xsd:restriction>
      </xsd:simpleType>
    </xsd:element>
    <xsd:element name="Circle" ma:index="13" nillable="true" ma:displayName="Circle" ma:format="Dropdown" ma:indexed="true" ma:internalName="Circle">
      <xsd:simpleType>
        <xsd:restriction base="dms:Choice">
          <xsd:enumeration value="ANCH"/>
          <xsd:enumeration value="CASE"/>
          <xsd:enumeration value="FINA"/>
          <xsd:enumeration value="GDPM"/>
          <xsd:enumeration value="GOVF"/>
          <xsd:enumeration value="GOVW"/>
          <xsd:enumeration value="HRES"/>
          <xsd:enumeration value="INNO"/>
          <xsd:enumeration value="ITIN"/>
          <xsd:enumeration value="PRIV"/>
          <xsd:enumeration value="SAMA"/>
          <xsd:enumeration value="UTIL"/>
        </xsd:restriction>
      </xsd:simpleType>
    </xsd:element>
    <xsd:element name="Cone" ma:index="14" nillable="true" ma:displayName="Cone" ma:format="Dropdown" ma:internalName="Cone">
      <xsd:simpleType>
        <xsd:restriction base="dms:Choice">
          <xsd:enumeration value="ANCH - Not attributed"/>
          <xsd:enumeration value="CASE - Not attributed"/>
          <xsd:enumeration value="CASE - Utilities"/>
          <xsd:enumeration value="FINA - Not attributed"/>
          <xsd:enumeration value="GDPM - Belmap"/>
          <xsd:enumeration value="GDPM - Not attributed"/>
          <xsd:enumeration value="GDPM - Product Sales"/>
          <xsd:enumeration value="GOVF - Geo-ICT Solutions"/>
          <xsd:enumeration value="GOVF - Geodata Engineering"/>
          <xsd:enumeration value="GOVF - Grip op Geo"/>
          <xsd:enumeration value="GOVF - Inspire and SDI"/>
          <xsd:enumeration value="GOVF - Not attributed"/>
          <xsd:enumeration value="GOVF - Smart Cities"/>
          <xsd:enumeration value="GOVW - Geo-ICT Solutions"/>
          <xsd:enumeration value="GOVW - Geodata Engineering"/>
          <xsd:enumeration value="GOVW - Inspire and SDI"/>
          <xsd:enumeration value="GOVW - Mobility"/>
          <xsd:enumeration value="GOVW - Not attributed"/>
          <xsd:enumeration value="GOVW - Smart Cities"/>
          <xsd:enumeration value="HRES - Not attributed"/>
          <xsd:enumeration value="INNO - Maturing Technology"/>
          <xsd:enumeration value="INNO - Not attributed"/>
          <xsd:enumeration value="ITIN - Not attributed"/>
          <xsd:enumeration value="PRIV - Belmap MAM"/>
          <xsd:enumeration value="PRIV - Data Brokerage"/>
          <xsd:enumeration value="PRIV - Digital Underwriting"/>
          <xsd:enumeration value="PRIV - Feature Extraction"/>
          <xsd:enumeration value="PRIV - Industrial Risk Modelling"/>
          <xsd:enumeration value="PRIV - Location Data for Marketing"/>
          <xsd:enumeration value="PRIV - Not attributed"/>
          <xsd:enumeration value="PRIV - Retail"/>
          <xsd:enumeration value="SAMA - Not attributed"/>
          <xsd:enumeration value="UTIL - Belmap MAM"/>
          <xsd:enumeration value="UTIL - Geodata Engineering"/>
          <xsd:enumeration value="UTIL - KLIP/KLIM-CICC"/>
          <xsd:enumeration value="UTIL - Not attributed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etails" ma:index="23" nillable="true" ma:displayName="Label" ma:format="Dropdown" ma:indexed="true" ma:internalName="Details">
      <xsd:simpleType>
        <xsd:restriction base="dms:Text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Encours" ma:index="25" nillable="true" ma:displayName="En cours" ma:default="1" ma:format="Dropdown" ma:internalName="Encours">
      <xsd:simpleType>
        <xsd:restriction base="dms:Boolea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708bbc48-b98a-45d0-bee4-f50db2a6a6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14353E-F8C3-4522-89A4-2F8FF251DCA4}">
  <ds:schemaRefs>
    <ds:schemaRef ds:uri="http://schemas.microsoft.com/office/2006/metadata/properties"/>
    <ds:schemaRef ds:uri="http://schemas.microsoft.com/office/infopath/2007/PartnerControls"/>
    <ds:schemaRef ds:uri="cc8cca9f-433a-429d-aa10-2da712f259be"/>
    <ds:schemaRef ds:uri="c9d7b9fc-2433-4651-a45d-46cee7852aea"/>
  </ds:schemaRefs>
</ds:datastoreItem>
</file>

<file path=customXml/itemProps2.xml><?xml version="1.0" encoding="utf-8"?>
<ds:datastoreItem xmlns:ds="http://schemas.openxmlformats.org/officeDocument/2006/customXml" ds:itemID="{7D8269A3-1176-4DAA-8C95-617EE75341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d7b9fc-2433-4651-a45d-46cee7852aea"/>
    <ds:schemaRef ds:uri="cc8cca9f-433a-429d-aa10-2da712f259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5DB64D1-2D35-4D03-ADBE-F147A33929C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935</Words>
  <Application>Microsoft Office PowerPoint</Application>
  <PresentationFormat>Widescreen</PresentationFormat>
  <Paragraphs>243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Office-thema</vt:lpstr>
      <vt:lpstr>Service Analysis with Openrouteservice</vt:lpstr>
      <vt:lpstr>PowerPoint Presentation</vt:lpstr>
      <vt:lpstr>Agenda</vt:lpstr>
      <vt:lpstr>PowerPoint Presentation</vt:lpstr>
      <vt:lpstr>Analysis of Emergency service locations</vt:lpstr>
      <vt:lpstr>PowerPoint Presentation</vt:lpstr>
      <vt:lpstr>PowerPoint Presentation</vt:lpstr>
      <vt:lpstr>Openroadservice (ORS)</vt:lpstr>
      <vt:lpstr>Openroad Service (ORS)</vt:lpstr>
      <vt:lpstr>PowerPoint Presentation</vt:lpstr>
      <vt:lpstr>QGIS and ORS plugin </vt:lpstr>
      <vt:lpstr>PowerPoint Presentation</vt:lpstr>
      <vt:lpstr>Presentation of the tool</vt:lpstr>
      <vt:lpstr>Specific use of this tool within this project</vt:lpstr>
      <vt:lpstr>PowerPoint Presentation</vt:lpstr>
      <vt:lpstr>Step by step</vt:lpstr>
      <vt:lpstr>Step by step</vt:lpstr>
      <vt:lpstr>Creation of the isochrones</vt:lpstr>
      <vt:lpstr>Good to know</vt:lpstr>
      <vt:lpstr>Step by step</vt:lpstr>
      <vt:lpstr>Good to know</vt:lpstr>
      <vt:lpstr>Step by step</vt:lpstr>
      <vt:lpstr>Apply scenario to temporal control</vt:lpstr>
      <vt:lpstr>Step by step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Bert Vandenbosch</dc:creator>
  <cp:lastModifiedBy>Amandine Holemans (GIM)</cp:lastModifiedBy>
  <cp:revision>58</cp:revision>
  <dcterms:created xsi:type="dcterms:W3CDTF">2021-02-15T17:00:39Z</dcterms:created>
  <dcterms:modified xsi:type="dcterms:W3CDTF">2025-09-19T14:35:20Z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0x01010081DEDC06025AE44F87000A345D19CBC8</vt:lpwstr>
  </property>
  <property fmtid="{D5CDD505-2E9C-101B-9397-08002B2CF9AE}" pid="3" name="MediaServiceImageTags">
    <vt:lpwstr/>
  </property>
</Properties>
</file>