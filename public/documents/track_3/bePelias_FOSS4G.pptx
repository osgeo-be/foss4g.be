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12192000"/>
  <p:notesSz cx="6858000" cy="9144000"/>
  <p:embeddedFontLst>
    <p:embeddedFont>
      <p:font typeface="Source Code Pro Light"/>
      <p:regular r:id="rId29"/>
      <p:bold r:id="rId30"/>
      <p:italic r:id="rId31"/>
      <p:boldItalic r:id="rId32"/>
    </p:embeddedFont>
    <p:embeddedFont>
      <p:font typeface="Source Code Pr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E7v2+JuIrd9kBKmY65nsh0fWE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7A082E-1477-45C7-80DF-6C81E1841A54}">
  <a:tblStyle styleId="{077A082E-1477-45C7-80DF-6C81E1841A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urceCodeProLight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urceCodeProLight-italic.fntdata"/><Relationship Id="rId30" Type="http://schemas.openxmlformats.org/officeDocument/2006/relationships/font" Target="fonts/SourceCodeProLight-bold.fntdata"/><Relationship Id="rId11" Type="http://schemas.openxmlformats.org/officeDocument/2006/relationships/slide" Target="slides/slide4.xml"/><Relationship Id="rId33" Type="http://schemas.openxmlformats.org/officeDocument/2006/relationships/font" Target="fonts/SourceCodePro-regular.fntdata"/><Relationship Id="rId10" Type="http://schemas.openxmlformats.org/officeDocument/2006/relationships/slide" Target="slides/slide3.xml"/><Relationship Id="rId32" Type="http://schemas.openxmlformats.org/officeDocument/2006/relationships/font" Target="fonts/SourceCodeProLight-boldItalic.fntdata"/><Relationship Id="rId13" Type="http://schemas.openxmlformats.org/officeDocument/2006/relationships/slide" Target="slides/slide6.xml"/><Relationship Id="rId35" Type="http://schemas.openxmlformats.org/officeDocument/2006/relationships/font" Target="fonts/SourceCodePro-italic.fntdata"/><Relationship Id="rId12" Type="http://schemas.openxmlformats.org/officeDocument/2006/relationships/slide" Target="slides/slide5.xml"/><Relationship Id="rId34" Type="http://schemas.openxmlformats.org/officeDocument/2006/relationships/font" Target="fonts/SourceCodePro-bold.fntdata"/><Relationship Id="rId15" Type="http://schemas.openxmlformats.org/officeDocument/2006/relationships/slide" Target="slides/slide8.xml"/><Relationship Id="rId37" Type="http://customschemas.google.com/relationships/presentationmetadata" Target="metadata"/><Relationship Id="rId14" Type="http://schemas.openxmlformats.org/officeDocument/2006/relationships/slide" Target="slides/slide7.xml"/><Relationship Id="rId36" Type="http://schemas.openxmlformats.org/officeDocument/2006/relationships/font" Target="fonts/SourceCodePro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B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Note: we exclude POI search from our definition (exm: « Smals, Brussels »)</a:t>
            </a:r>
            <a:endParaRPr/>
          </a:p>
        </p:txBody>
      </p:sp>
      <p:sp>
        <p:nvSpPr>
          <p:cNvPr id="272" name="Google Shape;27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9" name="Google Shape;30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Pelias : souvent city-level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Nominatim: souvent street-level (! Pas de stats calculées quand pas de résultat)</a:t>
            </a:r>
            <a:endParaRPr/>
          </a:p>
        </p:txBody>
      </p:sp>
      <p:sp>
        <p:nvSpPr>
          <p:cNvPr id="435" name="Google Shape;43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1200"/>
              <a:t>Cannot trust parsed input! {“street”  : “Av. Fonsny 20”,  “housenbr”: “”, “city”: “1060 Bruxelles”…}</a:t>
            </a:r>
            <a:endParaRPr/>
          </a:p>
        </p:txBody>
      </p:sp>
      <p:sp>
        <p:nvSpPr>
          <p:cNvPr id="484" name="Google Shape;48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Verger vs Berger, Filleul vs Tilleul, Loyauté vs Royauté, sambre vs Cambre (&gt;50 with only dist=1 in BRU)</a:t>
            </a:r>
            <a:br>
              <a:rPr lang="en-BE"/>
            </a:br>
            <a:r>
              <a:rPr lang="en-BE"/>
              <a:t>Présence prénoms, abréviations (Av, Blvd, …), qualificatif (roi, colonel…), noms de sous-communes/lieux dits…</a:t>
            </a:r>
            <a:endParaRPr/>
          </a:p>
        </p:txBody>
      </p:sp>
      <p:sp>
        <p:nvSpPr>
          <p:cNvPr id="493" name="Google Shape;49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BE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3"/>
          <p:cNvSpPr txBox="1"/>
          <p:nvPr>
            <p:ph type="ctrTitle"/>
          </p:nvPr>
        </p:nvSpPr>
        <p:spPr>
          <a:xfrm>
            <a:off x="1524003" y="107850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subTitle"/>
          </p:nvPr>
        </p:nvSpPr>
        <p:spPr>
          <a:xfrm>
            <a:off x="1524003" y="35581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lean">
  <p:cSld name="1_clean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1" y="0"/>
            <a:ext cx="12192000" cy="530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/>
        </p:nvSpPr>
        <p:spPr>
          <a:xfrm>
            <a:off x="-1" y="6536809"/>
            <a:ext cx="11611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BE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onta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609599" y="2060848"/>
            <a:ext cx="11289932" cy="18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360"/>
              </a:buClr>
              <a:buSzPts val="2400"/>
              <a:buFont typeface="Calibri"/>
              <a:buNone/>
              <a:defRPr sz="2400">
                <a:solidFill>
                  <a:srgbClr val="0023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  <p:sp>
        <p:nvSpPr>
          <p:cNvPr id="30" name="Google Shape;30;p27"/>
          <p:cNvSpPr txBox="1"/>
          <p:nvPr/>
        </p:nvSpPr>
        <p:spPr>
          <a:xfrm>
            <a:off x="623392" y="4133398"/>
            <a:ext cx="11329259" cy="163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800">
                <a:solidFill>
                  <a:srgbClr val="B1027C"/>
                </a:solidFill>
                <a:latin typeface="Arial"/>
                <a:ea typeface="Arial"/>
                <a:cs typeface="Arial"/>
                <a:sym typeface="Arial"/>
              </a:rPr>
              <a:t>Smals, ICT for society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360"/>
              </a:buClr>
              <a:buSzPts val="2000"/>
              <a:buFont typeface="Arial"/>
              <a:buNone/>
            </a:pPr>
            <a:r>
              <a:rPr lang="en-BE" sz="2000">
                <a:solidFill>
                  <a:srgbClr val="002360"/>
                </a:solidFill>
                <a:latin typeface="Arial"/>
                <a:ea typeface="Arial"/>
                <a:cs typeface="Arial"/>
                <a:sym typeface="Arial"/>
              </a:rPr>
              <a:t>02 787 57 11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BE" sz="2000">
                <a:solidFill>
                  <a:srgbClr val="002360"/>
                </a:solidFill>
                <a:latin typeface="Arial"/>
                <a:ea typeface="Arial"/>
                <a:cs typeface="Arial"/>
                <a:sym typeface="Arial"/>
              </a:rPr>
              <a:t>Fonsnylaan 20  /  Avenue Fonsny 20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BE" sz="2000">
                <a:solidFill>
                  <a:srgbClr val="002360"/>
                </a:solidFill>
                <a:latin typeface="Arial"/>
                <a:ea typeface="Arial"/>
                <a:cs typeface="Arial"/>
                <a:sym typeface="Arial"/>
              </a:rPr>
              <a:t>1060 Brussel  /  1060 Bruxelles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7"/>
          <p:cNvSpPr txBox="1"/>
          <p:nvPr/>
        </p:nvSpPr>
        <p:spPr>
          <a:xfrm>
            <a:off x="623392" y="548680"/>
            <a:ext cx="113292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 1">
  <p:cSld name="page de garde 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8"/>
          <p:cNvSpPr txBox="1"/>
          <p:nvPr>
            <p:ph type="ctrTitle"/>
          </p:nvPr>
        </p:nvSpPr>
        <p:spPr>
          <a:xfrm>
            <a:off x="7089058" y="1161694"/>
            <a:ext cx="4264743" cy="21329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7089944" y="3561994"/>
            <a:ext cx="4263912" cy="206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 2">
  <p:cSld name="page de garde 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9"/>
          <p:cNvSpPr txBox="1"/>
          <p:nvPr>
            <p:ph type="ctrTitle"/>
          </p:nvPr>
        </p:nvSpPr>
        <p:spPr>
          <a:xfrm>
            <a:off x="7089058" y="1161694"/>
            <a:ext cx="4264743" cy="21329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7089944" y="3561994"/>
            <a:ext cx="4263912" cy="206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9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 3">
  <p:cSld name="page de garde 3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0"/>
          <p:cNvSpPr txBox="1"/>
          <p:nvPr>
            <p:ph type="ctrTitle"/>
          </p:nvPr>
        </p:nvSpPr>
        <p:spPr>
          <a:xfrm>
            <a:off x="7089058" y="1161694"/>
            <a:ext cx="4264743" cy="21329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7089944" y="3561994"/>
            <a:ext cx="4263912" cy="206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0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">
  <p:cSld name="clea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1"/>
          <p:cNvSpPr txBox="1"/>
          <p:nvPr>
            <p:ph type="ctrTitle"/>
          </p:nvPr>
        </p:nvSpPr>
        <p:spPr>
          <a:xfrm>
            <a:off x="0" y="0"/>
            <a:ext cx="12192000" cy="887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>
  <p:cSld name="index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2"/>
          <p:cNvSpPr txBox="1"/>
          <p:nvPr>
            <p:ph idx="1" type="body"/>
          </p:nvPr>
        </p:nvSpPr>
        <p:spPr>
          <a:xfrm>
            <a:off x="6099176" y="1706565"/>
            <a:ext cx="5254625" cy="4249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4325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F00C0"/>
              </a:buClr>
              <a:buSzPts val="1350"/>
              <a:buChar char="•"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4" name="Google Shape;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4069" y="2491146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2"/>
          <p:cNvSpPr txBox="1"/>
          <p:nvPr>
            <p:ph type="ctrTitle"/>
          </p:nvPr>
        </p:nvSpPr>
        <p:spPr>
          <a:xfrm>
            <a:off x="0" y="0"/>
            <a:ext cx="12192000" cy="887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3"/>
          <p:cNvSpPr txBox="1"/>
          <p:nvPr>
            <p:ph idx="1" type="body"/>
          </p:nvPr>
        </p:nvSpPr>
        <p:spPr>
          <a:xfrm>
            <a:off x="431801" y="1199092"/>
            <a:ext cx="11248923" cy="4769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F00C0"/>
              </a:buClr>
              <a:buSzPts val="2100"/>
              <a:buFont typeface="Arial"/>
              <a:buChar char="•"/>
              <a:defRPr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F00C0"/>
              </a:buClr>
              <a:buSzPts val="1800"/>
              <a:buChar char="•"/>
              <a:defRPr>
                <a:solidFill>
                  <a:schemeClr val="dk2"/>
                </a:solidFill>
              </a:defRPr>
            </a:lvl2pPr>
            <a:lvl3pPr indent="-32385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F00C0"/>
              </a:buClr>
              <a:buSzPts val="1500"/>
              <a:buChar char="•"/>
              <a:defRPr>
                <a:solidFill>
                  <a:schemeClr val="dk2"/>
                </a:solidFill>
              </a:defRPr>
            </a:lvl3pPr>
            <a:lvl4pPr indent="-314325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F00C0"/>
              </a:buClr>
              <a:buSzPts val="1350"/>
              <a:buChar char="•"/>
              <a:defRPr>
                <a:solidFill>
                  <a:schemeClr val="dk2"/>
                </a:solidFill>
              </a:defRPr>
            </a:lvl4pPr>
            <a:lvl5pPr indent="-314325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CF00C0"/>
              </a:buClr>
              <a:buSzPts val="135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type="ctrTitle"/>
          </p:nvPr>
        </p:nvSpPr>
        <p:spPr>
          <a:xfrm>
            <a:off x="0" y="-1"/>
            <a:ext cx="12192000" cy="896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rière">
  <p:cSld name="carrièr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4"/>
          <p:cNvSpPr/>
          <p:nvPr/>
        </p:nvSpPr>
        <p:spPr>
          <a:xfrm>
            <a:off x="9228121" y="896470"/>
            <a:ext cx="1524001" cy="5021388"/>
          </a:xfrm>
          <a:prstGeom prst="rect">
            <a:avLst/>
          </a:prstGeom>
          <a:solidFill>
            <a:srgbClr val="DB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4"/>
          <p:cNvSpPr/>
          <p:nvPr>
            <p:ph idx="2" type="pic"/>
          </p:nvPr>
        </p:nvSpPr>
        <p:spPr>
          <a:xfrm>
            <a:off x="9228121" y="2042723"/>
            <a:ext cx="1524001" cy="1524002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4"/>
          <p:cNvSpPr/>
          <p:nvPr>
            <p:ph idx="3" type="pic"/>
          </p:nvPr>
        </p:nvSpPr>
        <p:spPr>
          <a:xfrm>
            <a:off x="9228121" y="4393858"/>
            <a:ext cx="15240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34"/>
          <p:cNvSpPr txBox="1"/>
          <p:nvPr>
            <p:ph idx="1" type="body"/>
          </p:nvPr>
        </p:nvSpPr>
        <p:spPr>
          <a:xfrm>
            <a:off x="838200" y="2042723"/>
            <a:ext cx="7315200" cy="1524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Calibri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Calibri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4" type="body"/>
          </p:nvPr>
        </p:nvSpPr>
        <p:spPr>
          <a:xfrm>
            <a:off x="838200" y="4393856"/>
            <a:ext cx="7315200" cy="1524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Calibri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Calibri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type="ctrTitle"/>
          </p:nvPr>
        </p:nvSpPr>
        <p:spPr>
          <a:xfrm>
            <a:off x="0" y="2025"/>
            <a:ext cx="12192000" cy="894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35"/>
          <p:cNvCxnSpPr/>
          <p:nvPr/>
        </p:nvCxnSpPr>
        <p:spPr>
          <a:xfrm flipH="1" rot="10800000">
            <a:off x="5874771" y="5752682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" name="Google Shape;74;p35"/>
          <p:cNvSpPr/>
          <p:nvPr/>
        </p:nvSpPr>
        <p:spPr>
          <a:xfrm>
            <a:off x="5808297" y="6204183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5"/>
          <p:cNvSpPr txBox="1"/>
          <p:nvPr>
            <p:ph idx="1" type="body"/>
          </p:nvPr>
        </p:nvSpPr>
        <p:spPr>
          <a:xfrm>
            <a:off x="6400801" y="1848089"/>
            <a:ext cx="4419595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2" type="body"/>
          </p:nvPr>
        </p:nvSpPr>
        <p:spPr>
          <a:xfrm>
            <a:off x="6400802" y="2937137"/>
            <a:ext cx="3952812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3" type="body"/>
          </p:nvPr>
        </p:nvSpPr>
        <p:spPr>
          <a:xfrm>
            <a:off x="6400802" y="3985359"/>
            <a:ext cx="3943225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4" type="body"/>
          </p:nvPr>
        </p:nvSpPr>
        <p:spPr>
          <a:xfrm>
            <a:off x="1913161" y="3471897"/>
            <a:ext cx="3978295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5" type="body"/>
          </p:nvPr>
        </p:nvSpPr>
        <p:spPr>
          <a:xfrm>
            <a:off x="1973124" y="1297782"/>
            <a:ext cx="3901647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6" type="body"/>
          </p:nvPr>
        </p:nvSpPr>
        <p:spPr>
          <a:xfrm>
            <a:off x="1907055" y="4539768"/>
            <a:ext cx="3990503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1" name="Google Shape;81;p35"/>
          <p:cNvCxnSpPr/>
          <p:nvPr/>
        </p:nvCxnSpPr>
        <p:spPr>
          <a:xfrm flipH="1" rot="10800000">
            <a:off x="5861854" y="1472493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35"/>
          <p:cNvCxnSpPr/>
          <p:nvPr/>
        </p:nvCxnSpPr>
        <p:spPr>
          <a:xfrm>
            <a:off x="5861853" y="2011446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35"/>
          <p:cNvCxnSpPr/>
          <p:nvPr/>
        </p:nvCxnSpPr>
        <p:spPr>
          <a:xfrm flipH="1" rot="10800000">
            <a:off x="5874771" y="2547665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" name="Google Shape;84;p35"/>
          <p:cNvCxnSpPr/>
          <p:nvPr/>
        </p:nvCxnSpPr>
        <p:spPr>
          <a:xfrm>
            <a:off x="5879005" y="3086616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" name="Google Shape;85;p35"/>
          <p:cNvCxnSpPr/>
          <p:nvPr/>
        </p:nvCxnSpPr>
        <p:spPr>
          <a:xfrm flipH="1" rot="10800000">
            <a:off x="5879005" y="3622835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" name="Google Shape;86;p35"/>
          <p:cNvCxnSpPr/>
          <p:nvPr/>
        </p:nvCxnSpPr>
        <p:spPr>
          <a:xfrm>
            <a:off x="5879005" y="4159054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" name="Google Shape;87;p35"/>
          <p:cNvCxnSpPr/>
          <p:nvPr/>
        </p:nvCxnSpPr>
        <p:spPr>
          <a:xfrm flipH="1" rot="10800000">
            <a:off x="5879005" y="4692541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35"/>
          <p:cNvCxnSpPr/>
          <p:nvPr/>
        </p:nvCxnSpPr>
        <p:spPr>
          <a:xfrm>
            <a:off x="5879005" y="5222767"/>
            <a:ext cx="538951" cy="538951"/>
          </a:xfrm>
          <a:prstGeom prst="straightConnector1">
            <a:avLst/>
          </a:prstGeom>
          <a:noFill/>
          <a:ln cap="flat" cmpd="sng" w="25400">
            <a:solidFill>
              <a:srgbClr val="0576A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" name="Google Shape;89;p35"/>
          <p:cNvSpPr/>
          <p:nvPr/>
        </p:nvSpPr>
        <p:spPr>
          <a:xfrm>
            <a:off x="6330657" y="1378704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5"/>
          <p:cNvSpPr/>
          <p:nvPr/>
        </p:nvSpPr>
        <p:spPr>
          <a:xfrm>
            <a:off x="5800433" y="1932721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5"/>
          <p:cNvSpPr/>
          <p:nvPr/>
        </p:nvSpPr>
        <p:spPr>
          <a:xfrm>
            <a:off x="6328539" y="2480553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5"/>
          <p:cNvSpPr/>
          <p:nvPr/>
        </p:nvSpPr>
        <p:spPr>
          <a:xfrm>
            <a:off x="5800433" y="3020861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5"/>
          <p:cNvSpPr/>
          <p:nvPr/>
        </p:nvSpPr>
        <p:spPr>
          <a:xfrm>
            <a:off x="6328539" y="3555567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5"/>
          <p:cNvSpPr/>
          <p:nvPr/>
        </p:nvSpPr>
        <p:spPr>
          <a:xfrm>
            <a:off x="5800433" y="4072084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5"/>
          <p:cNvSpPr/>
          <p:nvPr/>
        </p:nvSpPr>
        <p:spPr>
          <a:xfrm>
            <a:off x="6334998" y="4622852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5"/>
          <p:cNvSpPr/>
          <p:nvPr/>
        </p:nvSpPr>
        <p:spPr>
          <a:xfrm>
            <a:off x="5806179" y="5143731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5"/>
          <p:cNvSpPr/>
          <p:nvPr/>
        </p:nvSpPr>
        <p:spPr>
          <a:xfrm>
            <a:off x="6334998" y="5673957"/>
            <a:ext cx="157447" cy="157446"/>
          </a:xfrm>
          <a:prstGeom prst="ellipse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5"/>
          <p:cNvSpPr txBox="1"/>
          <p:nvPr>
            <p:ph idx="7" type="body"/>
          </p:nvPr>
        </p:nvSpPr>
        <p:spPr>
          <a:xfrm>
            <a:off x="1983257" y="2394723"/>
            <a:ext cx="3901647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8" type="body"/>
          </p:nvPr>
        </p:nvSpPr>
        <p:spPr>
          <a:xfrm>
            <a:off x="6400801" y="5057240"/>
            <a:ext cx="3943225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9" type="body"/>
          </p:nvPr>
        </p:nvSpPr>
        <p:spPr>
          <a:xfrm>
            <a:off x="1907055" y="5585926"/>
            <a:ext cx="3990503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3" type="body"/>
          </p:nvPr>
        </p:nvSpPr>
        <p:spPr>
          <a:xfrm>
            <a:off x="6400801" y="6121099"/>
            <a:ext cx="3943225" cy="327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type="ctrTitle"/>
          </p:nvPr>
        </p:nvSpPr>
        <p:spPr>
          <a:xfrm>
            <a:off x="0" y="0"/>
            <a:ext cx="12192000" cy="90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éma">
  <p:cSld name="schéma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6"/>
          <p:cNvSpPr txBox="1"/>
          <p:nvPr>
            <p:ph idx="1" type="body"/>
          </p:nvPr>
        </p:nvSpPr>
        <p:spPr>
          <a:xfrm>
            <a:off x="838201" y="1801078"/>
            <a:ext cx="3213100" cy="17483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sz="135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6"/>
          <p:cNvSpPr/>
          <p:nvPr/>
        </p:nvSpPr>
        <p:spPr>
          <a:xfrm rot="2700000">
            <a:off x="4819139" y="2021381"/>
            <a:ext cx="1155700" cy="1155700"/>
          </a:xfrm>
          <a:prstGeom prst="rect">
            <a:avLst/>
          </a:prstGeom>
          <a:solidFill>
            <a:srgbClr val="0576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6"/>
          <p:cNvSpPr/>
          <p:nvPr/>
        </p:nvSpPr>
        <p:spPr>
          <a:xfrm rot="2700000">
            <a:off x="4819138" y="3912829"/>
            <a:ext cx="1155700" cy="1155700"/>
          </a:xfrm>
          <a:prstGeom prst="rect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6"/>
          <p:cNvSpPr/>
          <p:nvPr/>
        </p:nvSpPr>
        <p:spPr>
          <a:xfrm rot="2700000">
            <a:off x="5788742" y="2976630"/>
            <a:ext cx="1155700" cy="1155700"/>
          </a:xfrm>
          <a:prstGeom prst="rect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6"/>
          <p:cNvSpPr/>
          <p:nvPr/>
        </p:nvSpPr>
        <p:spPr>
          <a:xfrm rot="2700000">
            <a:off x="6758346" y="2021383"/>
            <a:ext cx="1155700" cy="1155700"/>
          </a:xfrm>
          <a:prstGeom prst="rect">
            <a:avLst/>
          </a:prstGeom>
          <a:solidFill>
            <a:srgbClr val="9B00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/>
          <p:nvPr>
            <p:ph idx="2" type="body"/>
          </p:nvPr>
        </p:nvSpPr>
        <p:spPr>
          <a:xfrm>
            <a:off x="4819139" y="2034080"/>
            <a:ext cx="11303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6"/>
          <p:cNvSpPr txBox="1"/>
          <p:nvPr>
            <p:ph idx="3" type="body"/>
          </p:nvPr>
        </p:nvSpPr>
        <p:spPr>
          <a:xfrm>
            <a:off x="6717787" y="2034080"/>
            <a:ext cx="11303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6"/>
          <p:cNvSpPr txBox="1"/>
          <p:nvPr>
            <p:ph idx="4" type="body"/>
          </p:nvPr>
        </p:nvSpPr>
        <p:spPr>
          <a:xfrm>
            <a:off x="5814142" y="2999134"/>
            <a:ext cx="11303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6"/>
          <p:cNvSpPr txBox="1"/>
          <p:nvPr>
            <p:ph idx="5" type="body"/>
          </p:nvPr>
        </p:nvSpPr>
        <p:spPr>
          <a:xfrm>
            <a:off x="4819139" y="3921162"/>
            <a:ext cx="11303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6"/>
          <p:cNvSpPr txBox="1"/>
          <p:nvPr>
            <p:ph type="ctrTitle"/>
          </p:nvPr>
        </p:nvSpPr>
        <p:spPr>
          <a:xfrm>
            <a:off x="0" y="0"/>
            <a:ext cx="12192000" cy="887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6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onnes">
  <p:cSld name="2 colonne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7"/>
          <p:cNvSpPr txBox="1"/>
          <p:nvPr>
            <p:ph idx="1" type="body"/>
          </p:nvPr>
        </p:nvSpPr>
        <p:spPr>
          <a:xfrm>
            <a:off x="1131325" y="1299882"/>
            <a:ext cx="4423903" cy="462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7"/>
          <p:cNvSpPr txBox="1"/>
          <p:nvPr>
            <p:ph idx="2" type="body"/>
          </p:nvPr>
        </p:nvSpPr>
        <p:spPr>
          <a:xfrm>
            <a:off x="6652138" y="1299881"/>
            <a:ext cx="4423903" cy="462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type="ctrTitle"/>
          </p:nvPr>
        </p:nvSpPr>
        <p:spPr>
          <a:xfrm>
            <a:off x="0" y="0"/>
            <a:ext cx="12192000" cy="887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7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B7DB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B7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+content+fig eHealth">
  <p:cSld name="Title+content+fig eHealth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  <p:pic>
        <p:nvPicPr>
          <p:cNvPr descr="C:\Users\tvdb\Pictures\Smals\LauraS.png" id="128" name="Google Shape;12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04864"/>
            <a:ext cx="3264363" cy="412289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8"/>
          <p:cNvSpPr txBox="1"/>
          <p:nvPr>
            <p:ph idx="1" type="body"/>
          </p:nvPr>
        </p:nvSpPr>
        <p:spPr>
          <a:xfrm>
            <a:off x="3695700" y="1700213"/>
            <a:ext cx="7969251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+content+fig Fam">
  <p:cSld name="Title+content+fig Fam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9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  <p:sp>
        <p:nvSpPr>
          <p:cNvPr id="135" name="Google Shape;135;p39"/>
          <p:cNvSpPr txBox="1"/>
          <p:nvPr>
            <p:ph idx="1" type="body"/>
          </p:nvPr>
        </p:nvSpPr>
        <p:spPr>
          <a:xfrm>
            <a:off x="623392" y="1700213"/>
            <a:ext cx="7969251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C:\Users\tvdb\Pictures\Smals\YassineS.png" id="136" name="Google Shape;13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80309" y="1844824"/>
            <a:ext cx="31750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+content+fig Soc">
  <p:cSld name="Title+content+fig Soc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0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  <p:sp>
        <p:nvSpPr>
          <p:cNvPr id="142" name="Google Shape;142;p40"/>
          <p:cNvSpPr txBox="1"/>
          <p:nvPr>
            <p:ph idx="1" type="body"/>
          </p:nvPr>
        </p:nvSpPr>
        <p:spPr>
          <a:xfrm>
            <a:off x="623027" y="1700213"/>
            <a:ext cx="7969251" cy="417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C:\Users\tvdb\Pictures\Smals\LucS.png" id="143" name="Google Shape;14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17000" y="1867247"/>
            <a:ext cx="317500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">
  <p:cSld name="Text slid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b="1" i="0" sz="38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784753" y="1260389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6"/>
          <p:cNvSpPr/>
          <p:nvPr/>
        </p:nvSpPr>
        <p:spPr>
          <a:xfrm>
            <a:off x="-5193" y="-635"/>
            <a:ext cx="172834" cy="6857900"/>
          </a:xfrm>
          <a:custGeom>
            <a:rect b="b" l="l" r="r" t="t"/>
            <a:pathLst>
              <a:path extrusionOk="0" h="6857900" w="110162">
                <a:moveTo>
                  <a:pt x="1427" y="635"/>
                </a:moveTo>
                <a:lnTo>
                  <a:pt x="15118" y="0"/>
                </a:lnTo>
                <a:lnTo>
                  <a:pt x="110162" y="6856035"/>
                </a:lnTo>
                <a:lnTo>
                  <a:pt x="7777" y="6857900"/>
                </a:lnTo>
                <a:cubicBezTo>
                  <a:pt x="14550" y="4593735"/>
                  <a:pt x="-5346" y="2264800"/>
                  <a:pt x="1427" y="635"/>
                </a:cubicBezTo>
                <a:close/>
              </a:path>
            </a:pathLst>
          </a:custGeom>
          <a:gradFill>
            <a:gsLst>
              <a:gs pos="0">
                <a:srgbClr val="BE4894"/>
              </a:gs>
              <a:gs pos="15000">
                <a:srgbClr val="BE4894"/>
              </a:gs>
              <a:gs pos="52000">
                <a:srgbClr val="4481B9"/>
              </a:gs>
              <a:gs pos="100000">
                <a:srgbClr val="519BDE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8488" y="6190240"/>
            <a:ext cx="1655354" cy="6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8" name="Google Shape;15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2"/>
          <p:cNvSpPr txBox="1"/>
          <p:nvPr>
            <p:ph type="title"/>
          </p:nvPr>
        </p:nvSpPr>
        <p:spPr>
          <a:xfrm>
            <a:off x="838200" y="365125"/>
            <a:ext cx="10515600" cy="79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2"/>
          <p:cNvSpPr txBox="1"/>
          <p:nvPr>
            <p:ph idx="1" type="body"/>
          </p:nvPr>
        </p:nvSpPr>
        <p:spPr>
          <a:xfrm>
            <a:off x="838200" y="1343608"/>
            <a:ext cx="10515600" cy="4833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  <p:sp>
        <p:nvSpPr>
          <p:cNvPr id="167" name="Google Shape;167;p42"/>
          <p:cNvSpPr/>
          <p:nvPr/>
        </p:nvSpPr>
        <p:spPr>
          <a:xfrm>
            <a:off x="-5193" y="-635"/>
            <a:ext cx="172834" cy="6857900"/>
          </a:xfrm>
          <a:custGeom>
            <a:rect b="b" l="l" r="r" t="t"/>
            <a:pathLst>
              <a:path extrusionOk="0" h="6857900" w="110162">
                <a:moveTo>
                  <a:pt x="1427" y="635"/>
                </a:moveTo>
                <a:lnTo>
                  <a:pt x="15118" y="0"/>
                </a:lnTo>
                <a:lnTo>
                  <a:pt x="110162" y="6856035"/>
                </a:lnTo>
                <a:lnTo>
                  <a:pt x="7777" y="6857900"/>
                </a:lnTo>
                <a:cubicBezTo>
                  <a:pt x="14550" y="4593735"/>
                  <a:pt x="-5346" y="2264800"/>
                  <a:pt x="1427" y="635"/>
                </a:cubicBezTo>
                <a:close/>
              </a:path>
            </a:pathLst>
          </a:custGeom>
          <a:gradFill>
            <a:gsLst>
              <a:gs pos="0">
                <a:srgbClr val="BE4894"/>
              </a:gs>
              <a:gs pos="15000">
                <a:srgbClr val="BE4894"/>
              </a:gs>
              <a:gs pos="52000">
                <a:srgbClr val="4481B9"/>
              </a:gs>
              <a:gs pos="100000">
                <a:srgbClr val="519BDE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1" name="Google Shape;17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4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4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2" name="Google Shape;202;p4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4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0" name="Google Shape;21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2"/>
          <p:cNvSpPr txBox="1"/>
          <p:nvPr>
            <p:ph idx="1" type="body"/>
          </p:nvPr>
        </p:nvSpPr>
        <p:spPr>
          <a:xfrm>
            <a:off x="431801" y="1199092"/>
            <a:ext cx="11248923" cy="4769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F00C0"/>
              </a:buClr>
              <a:buSzPts val="2800"/>
              <a:buFont typeface="Arial"/>
              <a:buChar char="•"/>
              <a:defRPr>
                <a:solidFill>
                  <a:schemeClr val="dk2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F00C0"/>
              </a:buClr>
              <a:buSzPts val="2400"/>
              <a:buChar char="•"/>
              <a:defRPr>
                <a:solidFill>
                  <a:schemeClr val="dk2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F00C0"/>
              </a:buClr>
              <a:buSzPts val="2000"/>
              <a:buChar char="•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F00C0"/>
              </a:buClr>
              <a:buSzPts val="1800"/>
              <a:buChar char="•"/>
              <a:defRPr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F00C0"/>
              </a:buClr>
              <a:buSzPts val="1800"/>
              <a:buChar char="•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52"/>
          <p:cNvSpPr txBox="1"/>
          <p:nvPr>
            <p:ph type="ctrTitle"/>
          </p:nvPr>
        </p:nvSpPr>
        <p:spPr>
          <a:xfrm>
            <a:off x="0" y="-1"/>
            <a:ext cx="12192000" cy="896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  <a:defRPr b="0" sz="22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2"/>
          <p:cNvSpPr txBox="1"/>
          <p:nvPr/>
        </p:nvSpPr>
        <p:spPr>
          <a:xfrm>
            <a:off x="838800" y="635760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BE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">
  <p:cSld name="clean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3"/>
          <p:cNvSpPr txBox="1"/>
          <p:nvPr>
            <p:ph idx="1" type="body"/>
          </p:nvPr>
        </p:nvSpPr>
        <p:spPr>
          <a:xfrm>
            <a:off x="1" y="0"/>
            <a:ext cx="12192000" cy="530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3"/>
          <p:cNvSpPr txBox="1"/>
          <p:nvPr/>
        </p:nvSpPr>
        <p:spPr>
          <a:xfrm>
            <a:off x="-1" y="6536809"/>
            <a:ext cx="11611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B7D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  <p:pic>
        <p:nvPicPr>
          <p:cNvPr descr="C:\Users\tvdb\Desktop\Smals ICT for society.jpg" id="15" name="Google Shape;15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23393" y="6309320"/>
            <a:ext cx="1312097" cy="360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5"/>
          <p:cNvSpPr txBox="1"/>
          <p:nvPr/>
        </p:nvSpPr>
        <p:spPr>
          <a:xfrm>
            <a:off x="9912424" y="6490310"/>
            <a:ext cx="62965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6.jpg"/><Relationship Id="rId9" Type="http://schemas.openxmlformats.org/officeDocument/2006/relationships/image" Target="../media/image22.png"/><Relationship Id="rId5" Type="http://schemas.openxmlformats.org/officeDocument/2006/relationships/image" Target="../media/image15.jpg"/><Relationship Id="rId6" Type="http://schemas.openxmlformats.org/officeDocument/2006/relationships/image" Target="../media/image18.jp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hyperlink" Target="https://bosa.belgium.be/fr/services/best-address-servic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pelias/docker" TargetMode="External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SmalsResearch/bePelias/" TargetMode="External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hyperlink" Target="https://databrussels.be/id/address/219307/7" TargetMode="External"/><Relationship Id="rId11" Type="http://schemas.openxmlformats.org/officeDocument/2006/relationships/hyperlink" Target="about:blank" TargetMode="External"/><Relationship Id="rId22" Type="http://schemas.openxmlformats.org/officeDocument/2006/relationships/hyperlink" Target="https://databrussels.be/id/municipality/21013/14" TargetMode="External"/><Relationship Id="rId10" Type="http://schemas.openxmlformats.org/officeDocument/2006/relationships/hyperlink" Target="about:blank" TargetMode="External"/><Relationship Id="rId21" Type="http://schemas.openxmlformats.org/officeDocument/2006/relationships/hyperlink" Target="https://databrussels.be/id/streetname/4921/2" TargetMode="External"/><Relationship Id="rId13" Type="http://schemas.openxmlformats.org/officeDocument/2006/relationships/hyperlink" Target="about:blank" TargetMode="External"/><Relationship Id="rId12" Type="http://schemas.openxmlformats.org/officeDocument/2006/relationships/hyperlink" Target="about:blank" TargetMode="External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Relationship Id="rId9" Type="http://schemas.openxmlformats.org/officeDocument/2006/relationships/hyperlink" Target="about:blank" TargetMode="External"/><Relationship Id="rId15" Type="http://schemas.openxmlformats.org/officeDocument/2006/relationships/hyperlink" Target="about:blank" TargetMode="External"/><Relationship Id="rId14" Type="http://schemas.openxmlformats.org/officeDocument/2006/relationships/hyperlink" Target="about:blank" TargetMode="External"/><Relationship Id="rId17" Type="http://schemas.openxmlformats.org/officeDocument/2006/relationships/hyperlink" Target="about:blank" TargetMode="External"/><Relationship Id="rId16" Type="http://schemas.openxmlformats.org/officeDocument/2006/relationships/hyperlink" Target="about:blank" TargetMode="External"/><Relationship Id="rId5" Type="http://schemas.openxmlformats.org/officeDocument/2006/relationships/hyperlink" Target="about:blank" TargetMode="External"/><Relationship Id="rId19" Type="http://schemas.openxmlformats.org/officeDocument/2006/relationships/hyperlink" Target="about:blank" TargetMode="External"/><Relationship Id="rId6" Type="http://schemas.openxmlformats.org/officeDocument/2006/relationships/hyperlink" Target="about:blank" TargetMode="External"/><Relationship Id="rId18" Type="http://schemas.openxmlformats.org/officeDocument/2006/relationships/hyperlink" Target="about:blank" TargetMode="External"/><Relationship Id="rId7" Type="http://schemas.openxmlformats.org/officeDocument/2006/relationships/hyperlink" Target="about:blank" TargetMode="External"/><Relationship Id="rId8" Type="http://schemas.openxmlformats.org/officeDocument/2006/relationships/hyperlink" Target="about:blank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vandy.berten@smals.be" TargetMode="External"/><Relationship Id="rId4" Type="http://schemas.openxmlformats.org/officeDocument/2006/relationships/hyperlink" Target="https://www.smalsresearch.be/author/berten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"/>
          <p:cNvSpPr txBox="1"/>
          <p:nvPr>
            <p:ph type="ctrTitle"/>
          </p:nvPr>
        </p:nvSpPr>
        <p:spPr>
          <a:xfrm>
            <a:off x="1055440" y="1078502"/>
            <a:ext cx="10081120" cy="19904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en-BE"/>
              <a:t>bePelias: un géocodeur local basé sur BeStAddress</a:t>
            </a:r>
            <a:endParaRPr/>
          </a:p>
        </p:txBody>
      </p:sp>
      <p:sp>
        <p:nvSpPr>
          <p:cNvPr id="240" name="Google Shape;240;p1"/>
          <p:cNvSpPr txBox="1"/>
          <p:nvPr>
            <p:ph idx="1" type="subTitle"/>
          </p:nvPr>
        </p:nvSpPr>
        <p:spPr>
          <a:xfrm>
            <a:off x="1433737" y="3242806"/>
            <a:ext cx="932452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BE" sz="2800"/>
              <a:t>Vandy Berten – Smals Research – 25-09-2025</a:t>
            </a:r>
            <a:endParaRPr/>
          </a:p>
        </p:txBody>
      </p:sp>
      <p:sp>
        <p:nvSpPr>
          <p:cNvPr id="241" name="Google Shape;241;p1"/>
          <p:cNvSpPr txBox="1"/>
          <p:nvPr>
            <p:ph idx="4294967295" type="sldNum"/>
          </p:nvPr>
        </p:nvSpPr>
        <p:spPr>
          <a:xfrm>
            <a:off x="861060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0203" y="4149080"/>
            <a:ext cx="2551594" cy="1320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"/>
          <p:cNvSpPr/>
          <p:nvPr/>
        </p:nvSpPr>
        <p:spPr>
          <a:xfrm>
            <a:off x="5718314" y="534226"/>
            <a:ext cx="755373" cy="3190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"/>
          <p:cNvSpPr/>
          <p:nvPr/>
        </p:nvSpPr>
        <p:spPr>
          <a:xfrm>
            <a:off x="681830" y="737904"/>
            <a:ext cx="11148926" cy="1094581"/>
          </a:xfrm>
          <a:prstGeom prst="roundRect">
            <a:avLst>
              <a:gd fmla="val 0" name="adj"/>
            </a:avLst>
          </a:prstGeom>
          <a:solidFill>
            <a:schemeClr val="accent6">
              <a:alpha val="4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545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 b="1" i="0" sz="4400" u="none" cap="none" strike="noStrike">
              <a:solidFill>
                <a:srgbClr val="BE0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"/>
          <p:cNvSpPr txBox="1"/>
          <p:nvPr>
            <p:ph idx="1" type="body"/>
          </p:nvPr>
        </p:nvSpPr>
        <p:spPr>
          <a:xfrm>
            <a:off x="1" y="0"/>
            <a:ext cx="12192000" cy="530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BE"/>
              <a:t>Smals – ICT for Society</a:t>
            </a:r>
            <a:endParaRPr/>
          </a:p>
        </p:txBody>
      </p:sp>
      <p:sp>
        <p:nvSpPr>
          <p:cNvPr id="251" name="Google Shape;251;p2"/>
          <p:cNvSpPr txBox="1"/>
          <p:nvPr/>
        </p:nvSpPr>
        <p:spPr>
          <a:xfrm>
            <a:off x="5067242" y="931233"/>
            <a:ext cx="6400918" cy="73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BE" sz="4400" u="none" cap="small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 for e-government</a:t>
            </a:r>
            <a:endParaRPr/>
          </a:p>
        </p:txBody>
      </p:sp>
      <p:grpSp>
        <p:nvGrpSpPr>
          <p:cNvPr id="252" name="Google Shape;252;p2"/>
          <p:cNvGrpSpPr/>
          <p:nvPr/>
        </p:nvGrpSpPr>
        <p:grpSpPr>
          <a:xfrm>
            <a:off x="719403" y="2195550"/>
            <a:ext cx="2981431" cy="1995838"/>
            <a:chOff x="1302842" y="554290"/>
            <a:chExt cx="2857500" cy="1912876"/>
          </a:xfrm>
        </p:grpSpPr>
        <p:pic>
          <p:nvPicPr>
            <p:cNvPr descr="https://www.smals.be/sites/default/files/styles/home_service/public/8-expertise.jpg?itok=z2LbaOAm" id="253" name="Google Shape;25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2842" y="554290"/>
              <a:ext cx="2857500" cy="190500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4" name="Google Shape;254;p2"/>
            <p:cNvSpPr txBox="1"/>
            <p:nvPr/>
          </p:nvSpPr>
          <p:spPr>
            <a:xfrm>
              <a:off x="1303752" y="2089959"/>
              <a:ext cx="2856590" cy="377207"/>
            </a:xfrm>
            <a:prstGeom prst="rect">
              <a:avLst/>
            </a:prstGeom>
            <a:solidFill>
              <a:schemeClr val="lt1">
                <a:alpha val="71764"/>
              </a:schemeClr>
            </a:solidFill>
            <a:ln>
              <a:noFill/>
            </a:ln>
          </p:spPr>
          <p:txBody>
            <a:bodyPr anchorCtr="0" anchor="t" bIns="0" lIns="91425" spcFirstLastPara="1" rIns="91425" wrap="square" tIns="24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5CE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0095CE"/>
                  </a:solidFill>
                  <a:latin typeface="Calibri"/>
                  <a:ea typeface="Calibri"/>
                  <a:cs typeface="Calibri"/>
                  <a:sym typeface="Calibri"/>
                </a:rPr>
                <a:t>Knowhow</a:t>
              </a:r>
              <a:endParaRPr b="0" i="0" sz="2400" u="none" cap="none" strike="noStrike">
                <a:solidFill>
                  <a:srgbClr val="0095C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2"/>
          <p:cNvGrpSpPr/>
          <p:nvPr/>
        </p:nvGrpSpPr>
        <p:grpSpPr>
          <a:xfrm>
            <a:off x="4367809" y="2195550"/>
            <a:ext cx="2981431" cy="1995838"/>
            <a:chOff x="4760232" y="554290"/>
            <a:chExt cx="2857500" cy="1912876"/>
          </a:xfrm>
        </p:grpSpPr>
        <p:pic>
          <p:nvPicPr>
            <p:cNvPr descr="https://www.smals.be/sites/default/files/styles/home_service/public/istock_000003033300medium.jpg?itok=PgXUv03D" id="256" name="Google Shape;25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0232" y="554290"/>
              <a:ext cx="2857500" cy="190500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57" name="Google Shape;257;p2"/>
            <p:cNvSpPr txBox="1"/>
            <p:nvPr/>
          </p:nvSpPr>
          <p:spPr>
            <a:xfrm>
              <a:off x="4761142" y="2089959"/>
              <a:ext cx="2856590" cy="377207"/>
            </a:xfrm>
            <a:prstGeom prst="rect">
              <a:avLst/>
            </a:prstGeom>
            <a:solidFill>
              <a:schemeClr val="lt1">
                <a:alpha val="71764"/>
              </a:schemeClr>
            </a:solidFill>
            <a:ln>
              <a:noFill/>
            </a:ln>
          </p:spPr>
          <p:txBody>
            <a:bodyPr anchorCtr="0" anchor="t" bIns="0" lIns="91425" spcFirstLastPara="1" rIns="91425" wrap="square" tIns="24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5CE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0095CE"/>
                  </a:solidFill>
                  <a:latin typeface="Calibri"/>
                  <a:ea typeface="Calibri"/>
                  <a:cs typeface="Calibri"/>
                  <a:sym typeface="Calibri"/>
                </a:rPr>
                <a:t>Development</a:t>
              </a:r>
              <a:endParaRPr b="0" i="0" sz="2400" u="none" cap="none" strike="noStrike">
                <a:solidFill>
                  <a:srgbClr val="0095C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2"/>
          <p:cNvGrpSpPr/>
          <p:nvPr/>
        </p:nvGrpSpPr>
        <p:grpSpPr>
          <a:xfrm>
            <a:off x="4367809" y="4513722"/>
            <a:ext cx="2981431" cy="1995565"/>
            <a:chOff x="1280852" y="2754120"/>
            <a:chExt cx="2857500" cy="1912614"/>
          </a:xfrm>
        </p:grpSpPr>
        <p:pic>
          <p:nvPicPr>
            <p:cNvPr descr="https://www.smals.be/sites/default/files/styles/home_service/public/8-istock_000014239433xxxlarge_1.jpg?itok=-1IaKJ2P" id="259" name="Google Shape;259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80852" y="2754120"/>
              <a:ext cx="2857500" cy="190500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0" name="Google Shape;260;p2"/>
            <p:cNvSpPr txBox="1"/>
            <p:nvPr/>
          </p:nvSpPr>
          <p:spPr>
            <a:xfrm>
              <a:off x="1280852" y="4289528"/>
              <a:ext cx="2857500" cy="377206"/>
            </a:xfrm>
            <a:prstGeom prst="rect">
              <a:avLst/>
            </a:prstGeom>
            <a:solidFill>
              <a:schemeClr val="lt1">
                <a:alpha val="71764"/>
              </a:schemeClr>
            </a:solidFill>
            <a:ln>
              <a:noFill/>
            </a:ln>
          </p:spPr>
          <p:txBody>
            <a:bodyPr anchorCtr="0" anchor="t" bIns="0" lIns="91425" spcFirstLastPara="1" rIns="91425" wrap="square" tIns="24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5CE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0095CE"/>
                  </a:solidFill>
                  <a:latin typeface="Calibri"/>
                  <a:ea typeface="Calibri"/>
                  <a:cs typeface="Calibri"/>
                  <a:sym typeface="Calibri"/>
                </a:rPr>
                <a:t>Infrastructure</a:t>
              </a:r>
              <a:endParaRPr b="0" i="0" sz="2400" u="none" cap="none" strike="noStrike">
                <a:solidFill>
                  <a:srgbClr val="0095C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2"/>
          <p:cNvGrpSpPr/>
          <p:nvPr/>
        </p:nvGrpSpPr>
        <p:grpSpPr>
          <a:xfrm>
            <a:off x="719403" y="4513723"/>
            <a:ext cx="2981431" cy="1995565"/>
            <a:chOff x="4760232" y="2754120"/>
            <a:chExt cx="2857500" cy="1912614"/>
          </a:xfrm>
        </p:grpSpPr>
        <p:pic>
          <p:nvPicPr>
            <p:cNvPr descr="https://www.smals.be/sites/default/files/styles/home_service/public/istock_000017562133large_0.jpg?itok=HbTWBl2T" id="262" name="Google Shape;262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60232" y="2754120"/>
              <a:ext cx="2857500" cy="1905000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63" name="Google Shape;263;p2"/>
            <p:cNvSpPr txBox="1"/>
            <p:nvPr/>
          </p:nvSpPr>
          <p:spPr>
            <a:xfrm>
              <a:off x="4761142" y="4289528"/>
              <a:ext cx="2856590" cy="377206"/>
            </a:xfrm>
            <a:prstGeom prst="rect">
              <a:avLst/>
            </a:prstGeom>
            <a:solidFill>
              <a:schemeClr val="lt1">
                <a:alpha val="71764"/>
              </a:schemeClr>
            </a:solidFill>
            <a:ln>
              <a:noFill/>
            </a:ln>
          </p:spPr>
          <p:txBody>
            <a:bodyPr anchorCtr="0" anchor="t" bIns="0" lIns="91425" spcFirstLastPara="1" rIns="91425" wrap="square" tIns="240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95CE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0095CE"/>
                  </a:solidFill>
                  <a:latin typeface="Calibri"/>
                  <a:ea typeface="Calibri"/>
                  <a:cs typeface="Calibri"/>
                  <a:sym typeface="Calibri"/>
                </a:rPr>
                <a:t>Staffing</a:t>
              </a:r>
              <a:endParaRPr b="0" i="0" sz="2400" u="none" cap="none" strike="noStrike">
                <a:solidFill>
                  <a:srgbClr val="0095C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https://www.vanroey.be/wp-content/uploads/2015/07/Smals-Logo.png" id="264" name="Google Shape;26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1787" y="833881"/>
            <a:ext cx="2546792" cy="927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ww.gcloud.belgium.be/images/logo-home.png" id="265" name="Google Shape;26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1383" y="2288222"/>
            <a:ext cx="2358399" cy="133265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"/>
          <p:cNvSpPr/>
          <p:nvPr/>
        </p:nvSpPr>
        <p:spPr>
          <a:xfrm>
            <a:off x="8286826" y="5604707"/>
            <a:ext cx="2993751" cy="507437"/>
          </a:xfrm>
          <a:prstGeom prst="roundRect">
            <a:avLst>
              <a:gd fmla="val 0" name="adj"/>
            </a:avLst>
          </a:prstGeom>
          <a:solidFill>
            <a:schemeClr val="accent6">
              <a:alpha val="4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544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67"/>
              <a:buFont typeface="Calibri"/>
              <a:buNone/>
            </a:pPr>
            <a:r>
              <a:t/>
            </a:r>
            <a:endParaRPr b="1" i="0" sz="5867" u="none" cap="none" strike="noStrike">
              <a:solidFill>
                <a:srgbClr val="BE0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"/>
          <p:cNvSpPr txBox="1"/>
          <p:nvPr/>
        </p:nvSpPr>
        <p:spPr>
          <a:xfrm>
            <a:off x="8545000" y="5612204"/>
            <a:ext cx="2443874" cy="502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7"/>
              <a:buFont typeface="Calibri"/>
              <a:buNone/>
            </a:pPr>
            <a:r>
              <a:rPr b="0" i="0" lang="en-BE" sz="2667" u="none" cap="small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www.smals.be</a:t>
            </a:r>
            <a:endParaRPr/>
          </a:p>
        </p:txBody>
      </p:sp>
      <p:pic>
        <p:nvPicPr>
          <p:cNvPr id="268" name="Google Shape;26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0499" y="3925389"/>
            <a:ext cx="3012876" cy="1374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"/>
          <p:cNvSpPr txBox="1"/>
          <p:nvPr>
            <p:ph type="title"/>
          </p:nvPr>
        </p:nvSpPr>
        <p:spPr>
          <a:xfrm>
            <a:off x="784800" y="262800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Geocoding: concept</a:t>
            </a:r>
            <a:endParaRPr sz="3200"/>
          </a:p>
        </p:txBody>
      </p:sp>
      <p:sp>
        <p:nvSpPr>
          <p:cNvPr id="275" name="Google Shape;275;p3"/>
          <p:cNvSpPr txBox="1"/>
          <p:nvPr/>
        </p:nvSpPr>
        <p:spPr>
          <a:xfrm>
            <a:off x="349249" y="2376270"/>
            <a:ext cx="45047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 Light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“</a:t>
            </a:r>
            <a:r>
              <a:rPr b="1" i="0" lang="en-BE" sz="1800" u="none" cap="none" strike="noStrike">
                <a:solidFill>
                  <a:srgbClr val="00000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Av. Fonsny 20, 1060 Bruxelles</a:t>
            </a:r>
            <a:r>
              <a:rPr b="0" i="0" lang="en-BE" sz="1800" u="none" cap="none" strike="noStrike">
                <a:solidFill>
                  <a:srgbClr val="00000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”</a:t>
            </a:r>
            <a:endParaRPr/>
          </a:p>
        </p:txBody>
      </p:sp>
      <p:grpSp>
        <p:nvGrpSpPr>
          <p:cNvPr id="276" name="Google Shape;276;p3"/>
          <p:cNvGrpSpPr/>
          <p:nvPr/>
        </p:nvGrpSpPr>
        <p:grpSpPr>
          <a:xfrm>
            <a:off x="2601627" y="3582300"/>
            <a:ext cx="5687754" cy="1754326"/>
            <a:chOff x="2849061" y="3557856"/>
            <a:chExt cx="5687754" cy="1754326"/>
          </a:xfrm>
        </p:grpSpPr>
        <p:sp>
          <p:nvSpPr>
            <p:cNvPr id="277" name="Google Shape;277;p3"/>
            <p:cNvSpPr txBox="1"/>
            <p:nvPr/>
          </p:nvSpPr>
          <p:spPr>
            <a:xfrm>
              <a:off x="3537802" y="3557856"/>
              <a:ext cx="4999013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Source Code Pro Light"/>
                <a:buNone/>
              </a:pP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{“street”  : “Avenue Fonsny”,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Source Code Pro Light"/>
                <a:buNone/>
              </a:pP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 “housenbr”: “20”,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Source Code Pro Light"/>
                <a:buNone/>
              </a:pP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 “zipcode” : “1060”,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Source Code Pro Light"/>
                <a:buNone/>
              </a:pP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 “city”    : “Saint-Gilles”,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Source Code Pro Light"/>
                <a:buNone/>
              </a:pP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 “country” : “Belgique”,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1800"/>
                <a:buFont typeface="Source Code Pro Light"/>
                <a:buNone/>
              </a:pP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 </a:t>
              </a:r>
              <a:r>
                <a:rPr b="1" i="0" lang="en-BE" sz="1800" u="none" cap="none" strike="noStrike">
                  <a:solidFill>
                    <a:srgbClr val="B1027C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“location”: [50.8358,4.3361]</a:t>
              </a:r>
              <a:r>
                <a:rPr b="1" i="0" lang="en-BE" sz="1800" u="none" cap="none" strike="noStrike">
                  <a:solidFill>
                    <a:srgbClr val="002060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}</a:t>
              </a:r>
              <a:endParaRPr/>
            </a:p>
          </p:txBody>
        </p:sp>
        <p:cxnSp>
          <p:nvCxnSpPr>
            <p:cNvPr id="278" name="Google Shape;278;p3"/>
            <p:cNvCxnSpPr>
              <a:stCxn id="279" idx="2"/>
              <a:endCxn id="277" idx="1"/>
            </p:cNvCxnSpPr>
            <p:nvPr/>
          </p:nvCxnSpPr>
          <p:spPr>
            <a:xfrm flipH="1" rot="-5400000">
              <a:off x="2885211" y="3782331"/>
              <a:ext cx="616500" cy="688800"/>
            </a:xfrm>
            <a:prstGeom prst="bentConnector2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80" name="Google Shape;280;p3"/>
          <p:cNvGrpSpPr/>
          <p:nvPr/>
        </p:nvGrpSpPr>
        <p:grpSpPr>
          <a:xfrm>
            <a:off x="7468216" y="3002464"/>
            <a:ext cx="4583174" cy="2677656"/>
            <a:chOff x="8460305" y="3009582"/>
            <a:chExt cx="4099561" cy="2677656"/>
          </a:xfrm>
        </p:grpSpPr>
        <p:sp>
          <p:nvSpPr>
            <p:cNvPr id="281" name="Google Shape;281;p3"/>
            <p:cNvSpPr txBox="1"/>
            <p:nvPr/>
          </p:nvSpPr>
          <p:spPr>
            <a:xfrm>
              <a:off x="8914279" y="3009582"/>
              <a:ext cx="3645587" cy="2677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(1) Address standardization: 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Data quality:</a:t>
              </a:r>
              <a:endParaRPr/>
            </a:p>
            <a:p>
              <a:pPr indent="-342900" lvl="1" marL="800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Standardization</a:t>
              </a:r>
              <a:endParaRPr/>
            </a:p>
            <a:p>
              <a:pPr indent="-342900" lvl="1" marL="800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Deduplication </a:t>
              </a:r>
              <a:endParaRPr/>
            </a:p>
            <a:p>
              <a:pPr indent="-342900" lvl="1" marL="8001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Matching 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Auto-completion </a:t>
              </a:r>
              <a:r>
                <a:rPr b="0" i="0" lang="en-BE" sz="20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(type-ahead)</a:t>
              </a:r>
              <a:endParaRPr b="0" i="0" sz="2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8460305" y="3679622"/>
              <a:ext cx="242721" cy="1337576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00206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" name="Google Shape;283;p3"/>
            <p:cNvCxnSpPr>
              <a:stCxn id="282" idx="1"/>
              <a:endCxn id="281" idx="1"/>
            </p:cNvCxnSpPr>
            <p:nvPr/>
          </p:nvCxnSpPr>
          <p:spPr>
            <a:xfrm>
              <a:off x="8703026" y="4348410"/>
              <a:ext cx="211200" cy="0"/>
            </a:xfrm>
            <a:prstGeom prst="straightConnector1">
              <a:avLst/>
            </a:prstGeom>
            <a:noFill/>
            <a:ln cap="flat" cmpd="sng" w="19050">
              <a:solidFill>
                <a:srgbClr val="002060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84" name="Google Shape;284;p3"/>
          <p:cNvGrpSpPr/>
          <p:nvPr/>
        </p:nvGrpSpPr>
        <p:grpSpPr>
          <a:xfrm>
            <a:off x="140609" y="4741438"/>
            <a:ext cx="4405600" cy="1938992"/>
            <a:chOff x="388043" y="4716994"/>
            <a:chExt cx="4405600" cy="1938992"/>
          </a:xfrm>
        </p:grpSpPr>
        <p:sp>
          <p:nvSpPr>
            <p:cNvPr id="285" name="Google Shape;285;p3"/>
            <p:cNvSpPr txBox="1"/>
            <p:nvPr/>
          </p:nvSpPr>
          <p:spPr>
            <a:xfrm>
              <a:off x="388043" y="4716994"/>
              <a:ext cx="3600400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(2) Geolocation: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Visualization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Controls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Spatial (GIS) analytics</a:t>
              </a:r>
              <a:endParaRPr/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  <p:cxnSp>
          <p:nvCxnSpPr>
            <p:cNvPr id="286" name="Google Shape;286;p3"/>
            <p:cNvCxnSpPr>
              <a:endCxn id="285" idx="3"/>
            </p:cNvCxnSpPr>
            <p:nvPr/>
          </p:nvCxnSpPr>
          <p:spPr>
            <a:xfrm flipH="1">
              <a:off x="3988443" y="5312090"/>
              <a:ext cx="805200" cy="374400"/>
            </a:xfrm>
            <a:prstGeom prst="straightConnector1">
              <a:avLst/>
            </a:prstGeom>
            <a:noFill/>
            <a:ln cap="flat" cmpd="sng" w="19050">
              <a:solidFill>
                <a:srgbClr val="B1027C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87" name="Google Shape;287;p3"/>
          <p:cNvGrpSpPr/>
          <p:nvPr/>
        </p:nvGrpSpPr>
        <p:grpSpPr>
          <a:xfrm>
            <a:off x="6525483" y="5398703"/>
            <a:ext cx="1342330" cy="1307732"/>
            <a:chOff x="6772917" y="5374259"/>
            <a:chExt cx="1342330" cy="1307732"/>
          </a:xfrm>
        </p:grpSpPr>
        <p:sp>
          <p:nvSpPr>
            <p:cNvPr id="288" name="Google Shape;288;p3"/>
            <p:cNvSpPr txBox="1"/>
            <p:nvPr/>
          </p:nvSpPr>
          <p:spPr>
            <a:xfrm>
              <a:off x="6896387" y="6312659"/>
              <a:ext cx="12188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Or polygon</a:t>
              </a:r>
              <a:endParaRPr/>
            </a:p>
          </p:txBody>
        </p:sp>
        <p:cxnSp>
          <p:nvCxnSpPr>
            <p:cNvPr id="289" name="Google Shape;289;p3"/>
            <p:cNvCxnSpPr>
              <a:endCxn id="288" idx="0"/>
            </p:cNvCxnSpPr>
            <p:nvPr/>
          </p:nvCxnSpPr>
          <p:spPr>
            <a:xfrm>
              <a:off x="6772917" y="5374259"/>
              <a:ext cx="732900" cy="938400"/>
            </a:xfrm>
            <a:prstGeom prst="straightConnector1">
              <a:avLst/>
            </a:prstGeom>
            <a:noFill/>
            <a:ln cap="flat" cmpd="sng" w="28575">
              <a:solidFill>
                <a:srgbClr val="B1027C"/>
              </a:solidFill>
              <a:prstDash val="dot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90" name="Google Shape;290;p3"/>
          <p:cNvSpPr txBox="1"/>
          <p:nvPr/>
        </p:nvSpPr>
        <p:spPr>
          <a:xfrm>
            <a:off x="3136996" y="1153371"/>
            <a:ext cx="743395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027C"/>
              </a:buClr>
              <a:buSzPts val="2400"/>
              <a:buFont typeface="Calibri"/>
              <a:buNone/>
            </a:pPr>
            <a:r>
              <a:rPr b="0" i="0" lang="en-BE" sz="2400" u="none" cap="none" strike="noStrike">
                <a:solidFill>
                  <a:srgbClr val="B1027C"/>
                </a:solidFill>
                <a:latin typeface="Calibri"/>
                <a:ea typeface="Calibri"/>
                <a:cs typeface="Calibri"/>
                <a:sym typeface="Calibri"/>
              </a:rPr>
              <a:t>Geocoding</a:t>
            </a:r>
            <a:r>
              <a:rPr b="0" i="0" lang="en-BE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(1) Address standardization + (2) Geolocation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027C"/>
              </a:buClr>
              <a:buSzPts val="2400"/>
              <a:buFont typeface="Calibri"/>
              <a:buNone/>
            </a:pPr>
            <a:r>
              <a:rPr b="0" i="0" lang="en-BE" sz="2400" u="none" cap="none" strike="noStrike">
                <a:solidFill>
                  <a:srgbClr val="B1027C"/>
                </a:solidFill>
                <a:latin typeface="Calibri"/>
                <a:ea typeface="Calibri"/>
                <a:cs typeface="Calibri"/>
                <a:sym typeface="Calibri"/>
              </a:rPr>
              <a:t>Geocoder</a:t>
            </a:r>
            <a:r>
              <a:rPr b="0" i="0" lang="en-BE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= API (Application Programming Interface)</a:t>
            </a:r>
            <a:endParaRPr/>
          </a:p>
        </p:txBody>
      </p:sp>
      <p:grpSp>
        <p:nvGrpSpPr>
          <p:cNvPr id="291" name="Google Shape;291;p3"/>
          <p:cNvGrpSpPr/>
          <p:nvPr/>
        </p:nvGrpSpPr>
        <p:grpSpPr>
          <a:xfrm>
            <a:off x="2275677" y="2745602"/>
            <a:ext cx="651900" cy="1097323"/>
            <a:chOff x="2275677" y="2745602"/>
            <a:chExt cx="651900" cy="1097323"/>
          </a:xfrm>
        </p:grpSpPr>
        <p:cxnSp>
          <p:nvCxnSpPr>
            <p:cNvPr id="292" name="Google Shape;292;p3"/>
            <p:cNvCxnSpPr>
              <a:stCxn id="275" idx="2"/>
            </p:cNvCxnSpPr>
            <p:nvPr/>
          </p:nvCxnSpPr>
          <p:spPr>
            <a:xfrm flipH="1" rot="-5400000">
              <a:off x="2383829" y="2963402"/>
              <a:ext cx="436200" cy="6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93" name="Google Shape;293;p3"/>
            <p:cNvGrpSpPr/>
            <p:nvPr/>
          </p:nvGrpSpPr>
          <p:grpSpPr>
            <a:xfrm>
              <a:off x="2275677" y="3198785"/>
              <a:ext cx="651900" cy="644140"/>
              <a:chOff x="7131268" y="5140468"/>
              <a:chExt cx="1509615" cy="1491644"/>
            </a:xfrm>
          </p:grpSpPr>
          <p:sp>
            <p:nvSpPr>
              <p:cNvPr id="279" name="Google Shape;279;p3"/>
              <p:cNvSpPr/>
              <p:nvPr/>
            </p:nvSpPr>
            <p:spPr>
              <a:xfrm>
                <a:off x="7131268" y="5140468"/>
                <a:ext cx="1509615" cy="1491644"/>
              </a:xfrm>
              <a:prstGeom prst="roundRect">
                <a:avLst>
                  <a:gd fmla="val 4792" name="adj"/>
                </a:avLst>
              </a:prstGeom>
              <a:solidFill>
                <a:srgbClr val="005A9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7473721" y="5449093"/>
                <a:ext cx="856844" cy="864000"/>
              </a:xfrm>
              <a:custGeom>
                <a:rect b="b" l="l" r="r" t="t"/>
                <a:pathLst>
                  <a:path extrusionOk="0" h="1665940" w="1652142">
                    <a:moveTo>
                      <a:pt x="898689" y="548008"/>
                    </a:moveTo>
                    <a:cubicBezTo>
                      <a:pt x="737950" y="504938"/>
                      <a:pt x="572731" y="600328"/>
                      <a:pt x="529661" y="761066"/>
                    </a:cubicBezTo>
                    <a:cubicBezTo>
                      <a:pt x="486591" y="921805"/>
                      <a:pt x="581980" y="1087025"/>
                      <a:pt x="742719" y="1130094"/>
                    </a:cubicBezTo>
                    <a:cubicBezTo>
                      <a:pt x="903458" y="1173164"/>
                      <a:pt x="1068677" y="1077775"/>
                      <a:pt x="1111747" y="917036"/>
                    </a:cubicBezTo>
                    <a:cubicBezTo>
                      <a:pt x="1154817" y="756297"/>
                      <a:pt x="1059428" y="591077"/>
                      <a:pt x="898689" y="548008"/>
                    </a:cubicBezTo>
                    <a:close/>
                    <a:moveTo>
                      <a:pt x="952303" y="347916"/>
                    </a:moveTo>
                    <a:cubicBezTo>
                      <a:pt x="1223549" y="420596"/>
                      <a:pt x="1384519" y="699404"/>
                      <a:pt x="1311839" y="970650"/>
                    </a:cubicBezTo>
                    <a:cubicBezTo>
                      <a:pt x="1239159" y="1241896"/>
                      <a:pt x="960351" y="1402866"/>
                      <a:pt x="689105" y="1330186"/>
                    </a:cubicBezTo>
                    <a:cubicBezTo>
                      <a:pt x="417859" y="1257506"/>
                      <a:pt x="256889" y="978698"/>
                      <a:pt x="329569" y="707451"/>
                    </a:cubicBezTo>
                    <a:cubicBezTo>
                      <a:pt x="402249" y="436205"/>
                      <a:pt x="681057" y="275235"/>
                      <a:pt x="952303" y="347916"/>
                    </a:cubicBezTo>
                    <a:close/>
                    <a:moveTo>
                      <a:pt x="971799" y="275155"/>
                    </a:moveTo>
                    <a:cubicBezTo>
                      <a:pt x="660368" y="191707"/>
                      <a:pt x="340256" y="376524"/>
                      <a:pt x="256808" y="687955"/>
                    </a:cubicBezTo>
                    <a:cubicBezTo>
                      <a:pt x="173361" y="999387"/>
                      <a:pt x="358178" y="1319499"/>
                      <a:pt x="669609" y="1402947"/>
                    </a:cubicBezTo>
                    <a:cubicBezTo>
                      <a:pt x="981040" y="1486395"/>
                      <a:pt x="1301152" y="1301577"/>
                      <a:pt x="1384600" y="990146"/>
                    </a:cubicBezTo>
                    <a:cubicBezTo>
                      <a:pt x="1468047" y="678715"/>
                      <a:pt x="1283230" y="358603"/>
                      <a:pt x="971799" y="275155"/>
                    </a:cubicBezTo>
                    <a:close/>
                    <a:moveTo>
                      <a:pt x="1652142" y="394531"/>
                    </a:moveTo>
                    <a:lnTo>
                      <a:pt x="1649662" y="403784"/>
                    </a:lnTo>
                    <a:lnTo>
                      <a:pt x="1647140" y="399895"/>
                    </a:lnTo>
                    <a:close/>
                    <a:moveTo>
                      <a:pt x="1158157" y="65026"/>
                    </a:moveTo>
                    <a:lnTo>
                      <a:pt x="1154679" y="271718"/>
                    </a:lnTo>
                    <a:lnTo>
                      <a:pt x="1148331" y="270017"/>
                    </a:lnTo>
                    <a:cubicBezTo>
                      <a:pt x="1200055" y="299127"/>
                      <a:pt x="1246804" y="334821"/>
                      <a:pt x="1286346" y="377149"/>
                    </a:cubicBezTo>
                    <a:lnTo>
                      <a:pt x="1470353" y="331395"/>
                    </a:lnTo>
                    <a:lnTo>
                      <a:pt x="1588305" y="553229"/>
                    </a:lnTo>
                    <a:lnTo>
                      <a:pt x="1457194" y="671432"/>
                    </a:lnTo>
                    <a:cubicBezTo>
                      <a:pt x="1473630" y="731297"/>
                      <a:pt x="1481376" y="793983"/>
                      <a:pt x="1478595" y="857704"/>
                    </a:cubicBezTo>
                    <a:lnTo>
                      <a:pt x="1642362" y="948616"/>
                    </a:lnTo>
                    <a:lnTo>
                      <a:pt x="1577335" y="1191298"/>
                    </a:lnTo>
                    <a:lnTo>
                      <a:pt x="1378614" y="1187955"/>
                    </a:lnTo>
                    <a:cubicBezTo>
                      <a:pt x="1353489" y="1229936"/>
                      <a:pt x="1323048" y="1267799"/>
                      <a:pt x="1288939" y="1301599"/>
                    </a:cubicBezTo>
                    <a:lnTo>
                      <a:pt x="1354201" y="1471932"/>
                    </a:lnTo>
                    <a:lnTo>
                      <a:pt x="1148396" y="1616039"/>
                    </a:lnTo>
                    <a:lnTo>
                      <a:pt x="992294" y="1480516"/>
                    </a:lnTo>
                    <a:lnTo>
                      <a:pt x="1011291" y="1467215"/>
                    </a:lnTo>
                    <a:cubicBezTo>
                      <a:pt x="951500" y="1486565"/>
                      <a:pt x="888271" y="1495869"/>
                      <a:pt x="823805" y="1495510"/>
                    </a:cubicBezTo>
                    <a:lnTo>
                      <a:pt x="729193" y="1665940"/>
                    </a:lnTo>
                    <a:lnTo>
                      <a:pt x="486511" y="1600914"/>
                    </a:lnTo>
                    <a:lnTo>
                      <a:pt x="489790" y="1406012"/>
                    </a:lnTo>
                    <a:cubicBezTo>
                      <a:pt x="438364" y="1376702"/>
                      <a:pt x="391917" y="1340859"/>
                      <a:pt x="352658" y="1298452"/>
                    </a:cubicBezTo>
                    <a:lnTo>
                      <a:pt x="355803" y="1305197"/>
                    </a:lnTo>
                    <a:lnTo>
                      <a:pt x="152856" y="1344512"/>
                    </a:lnTo>
                    <a:lnTo>
                      <a:pt x="46675" y="1116809"/>
                    </a:lnTo>
                    <a:lnTo>
                      <a:pt x="183929" y="1005520"/>
                    </a:lnTo>
                    <a:cubicBezTo>
                      <a:pt x="169279" y="951824"/>
                      <a:pt x="161626" y="895865"/>
                      <a:pt x="161615" y="838915"/>
                    </a:cubicBezTo>
                    <a:lnTo>
                      <a:pt x="0" y="749197"/>
                    </a:lnTo>
                    <a:lnTo>
                      <a:pt x="65026" y="506515"/>
                    </a:lnTo>
                    <a:lnTo>
                      <a:pt x="250227" y="509630"/>
                    </a:lnTo>
                    <a:cubicBezTo>
                      <a:pt x="275353" y="465291"/>
                      <a:pt x="305693" y="424864"/>
                      <a:pt x="340015" y="388679"/>
                    </a:cubicBezTo>
                    <a:lnTo>
                      <a:pt x="277984" y="197357"/>
                    </a:lnTo>
                    <a:lnTo>
                      <a:pt x="491050" y="64219"/>
                    </a:lnTo>
                    <a:lnTo>
                      <a:pt x="639843" y="207726"/>
                    </a:lnTo>
                    <a:lnTo>
                      <a:pt x="638348" y="208660"/>
                    </a:lnTo>
                    <a:cubicBezTo>
                      <a:pt x="696840" y="190256"/>
                      <a:pt x="758594" y="181748"/>
                      <a:pt x="821488" y="182440"/>
                    </a:cubicBezTo>
                    <a:lnTo>
                      <a:pt x="815140" y="180739"/>
                    </a:lnTo>
                    <a:lnTo>
                      <a:pt x="9154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Geocoding: concept</a:t>
            </a:r>
            <a:endParaRPr/>
          </a:p>
        </p:txBody>
      </p:sp>
      <p:graphicFrame>
        <p:nvGraphicFramePr>
          <p:cNvPr id="300" name="Google Shape;300;p4"/>
          <p:cNvGraphicFramePr/>
          <p:nvPr/>
        </p:nvGraphicFramePr>
        <p:xfrm>
          <a:off x="3172938" y="2178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{077A082E-1477-45C7-80DF-6C81E1841A54}</a:tableStyleId>
              </a:tblPr>
              <a:tblGrid>
                <a:gridCol w="1775850"/>
                <a:gridCol w="1131225"/>
                <a:gridCol w="1065225"/>
                <a:gridCol w="1762825"/>
                <a:gridCol w="1998475"/>
              </a:tblGrid>
              <a:tr h="3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 u="none" cap="none" strike="noStrike"/>
                        <a:t>Street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Number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Zipcod</a:t>
                      </a:r>
                      <a:r>
                        <a:rPr lang="en-BE" sz="1800"/>
                        <a:t>e </a:t>
                      </a:r>
                      <a:endParaRPr sz="1800"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Locality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Location</a:t>
                      </a:r>
                      <a:endParaRPr/>
                    </a:p>
                  </a:txBody>
                  <a:tcPr marT="45725" marB="45725" marR="150475" marL="150475"/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Avenue Fonsny</a:t>
                      </a:r>
                      <a:endParaRPr sz="1800"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20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1060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Saint-Gilles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50.8358, 4.3361</a:t>
                      </a:r>
                      <a:endParaRPr/>
                    </a:p>
                  </a:txBody>
                  <a:tcPr marT="45725" marB="45725" marR="150475" marL="150475"/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BE" sz="1800"/>
                        <a:t>Avenue Fonsny</a:t>
                      </a:r>
                      <a:endParaRPr sz="1800"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22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1060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Saint-Gilles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50.8359, 4.3358</a:t>
                      </a:r>
                      <a:endParaRPr/>
                    </a:p>
                  </a:txBody>
                  <a:tcPr marT="45725" marB="45725" marR="150475" marL="150475"/>
                </a:tc>
              </a:tr>
              <a:tr h="345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150475" marL="150475"/>
                </a:tc>
              </a:tr>
            </a:tbl>
          </a:graphicData>
        </a:graphic>
      </p:graphicFrame>
      <p:sp>
        <p:nvSpPr>
          <p:cNvPr id="301" name="Google Shape;301;p4"/>
          <p:cNvSpPr txBox="1"/>
          <p:nvPr/>
        </p:nvSpPr>
        <p:spPr>
          <a:xfrm>
            <a:off x="398254" y="1298398"/>
            <a:ext cx="45047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 Light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“</a:t>
            </a:r>
            <a:r>
              <a:rPr b="1" i="0" lang="en-BE" sz="1800" u="none" cap="none" strike="noStrike">
                <a:solidFill>
                  <a:srgbClr val="00000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Av. Fonsny 20, 1060 Bruxelles</a:t>
            </a:r>
            <a:r>
              <a:rPr b="0" i="0" lang="en-BE" sz="1800" u="none" cap="none" strike="noStrike">
                <a:solidFill>
                  <a:srgbClr val="00000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”</a:t>
            </a:r>
            <a:endParaRPr/>
          </a:p>
        </p:txBody>
      </p:sp>
      <p:sp>
        <p:nvSpPr>
          <p:cNvPr id="302" name="Google Shape;302;p4"/>
          <p:cNvSpPr txBox="1"/>
          <p:nvPr/>
        </p:nvSpPr>
        <p:spPr>
          <a:xfrm>
            <a:off x="4279668" y="4765057"/>
            <a:ext cx="444322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Source Code Pro Light"/>
              <a:buNone/>
            </a:pP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{“street”  : “Avenue Fonsny”,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Source Code Pro Light"/>
              <a:buNone/>
            </a:pP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“housenbr”: “20”,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Source Code Pro Light"/>
              <a:buNone/>
            </a:pP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“zipcode” : “1060”,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Source Code Pro Light"/>
              <a:buNone/>
            </a:pP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“city”    : “Saint-Gilles”,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Source Code Pro Light"/>
              <a:buNone/>
            </a:pP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“country” : “Belgique”,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Source Code Pro Light"/>
              <a:buNone/>
            </a:pP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</a:t>
            </a:r>
            <a:r>
              <a:rPr b="1" i="0" lang="en-BE" sz="1800" u="none" cap="none" strike="noStrike">
                <a:solidFill>
                  <a:srgbClr val="B1027C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“location”: [50.8358,4.3361]</a:t>
            </a:r>
            <a:r>
              <a:rPr b="1" i="0" lang="en-BE" sz="1800" u="none" cap="none" strike="noStrike">
                <a:solidFill>
                  <a:srgbClr val="00206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}</a:t>
            </a:r>
            <a:endParaRPr/>
          </a:p>
        </p:txBody>
      </p:sp>
      <p:cxnSp>
        <p:nvCxnSpPr>
          <p:cNvPr id="303" name="Google Shape;303;p4"/>
          <p:cNvCxnSpPr/>
          <p:nvPr/>
        </p:nvCxnSpPr>
        <p:spPr>
          <a:xfrm rot="5400000">
            <a:off x="8058575" y="3819325"/>
            <a:ext cx="3300600" cy="1828200"/>
          </a:xfrm>
          <a:prstGeom prst="bentConnector3">
            <a:avLst>
              <a:gd fmla="val 99699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4" name="Google Shape;304;p4"/>
          <p:cNvCxnSpPr>
            <a:stCxn id="301" idx="2"/>
          </p:cNvCxnSpPr>
          <p:nvPr/>
        </p:nvCxnSpPr>
        <p:spPr>
          <a:xfrm flipH="1" rot="-5400000">
            <a:off x="2199284" y="2119080"/>
            <a:ext cx="1425000" cy="522300"/>
          </a:xfrm>
          <a:prstGeom prst="bent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5" name="Google Shape;305;p4"/>
          <p:cNvSpPr/>
          <p:nvPr/>
        </p:nvSpPr>
        <p:spPr>
          <a:xfrm>
            <a:off x="6153532" y="790566"/>
            <a:ext cx="532216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BE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 standardization = Mapping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BE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Geolocation = « side effect »/bonus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Tools</a:t>
            </a:r>
            <a:endParaRPr/>
          </a:p>
        </p:txBody>
      </p:sp>
      <p:sp>
        <p:nvSpPr>
          <p:cNvPr descr="https://upload.wikimedia.org/wikipedia/commons/thumb/b/bd/Google_Maps_Logo_2020.svg/1137px-Google_Maps_Logo_2020.svg.png" id="312" name="Google Shape;312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5"/>
          <p:cNvGrpSpPr/>
          <p:nvPr/>
        </p:nvGrpSpPr>
        <p:grpSpPr>
          <a:xfrm>
            <a:off x="341174" y="1628800"/>
            <a:ext cx="5578123" cy="2872199"/>
            <a:chOff x="341174" y="1636920"/>
            <a:chExt cx="5578123" cy="2872199"/>
          </a:xfrm>
        </p:grpSpPr>
        <p:sp>
          <p:nvSpPr>
            <p:cNvPr id="314" name="Google Shape;314;p5"/>
            <p:cNvSpPr/>
            <p:nvPr/>
          </p:nvSpPr>
          <p:spPr>
            <a:xfrm>
              <a:off x="341174" y="1636920"/>
              <a:ext cx="5466794" cy="2872199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00" scaled="0"/>
            </a:gra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Cloud commercial </a:t>
              </a: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providers: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Here we go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Bing maps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Google maps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TomTom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Sometimes free in specific conditions</a:t>
              </a:r>
              <a:endParaRPr/>
            </a:p>
          </p:txBody>
        </p:sp>
        <p:pic>
          <p:nvPicPr>
            <p:cNvPr descr="HERE WeGo — Wikipédia" id="315" name="Google Shape;31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07214" y="1996969"/>
              <a:ext cx="731257" cy="666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p to Date Satellite Imagery API Integration for Bing Maps | Bird.i" id="316" name="Google Shape;316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75754" y="2517485"/>
              <a:ext cx="1020137" cy="291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omTom Netherlands" id="317" name="Google Shape;31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20996" y="2928034"/>
              <a:ext cx="1969768" cy="12311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oogle Maps Logo - Marques et logos: histoire et signification | PNG" id="318" name="Google Shape;318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13271" y="2861466"/>
              <a:ext cx="1206026" cy="682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9" name="Google Shape;319;p5"/>
          <p:cNvGrpSpPr/>
          <p:nvPr/>
        </p:nvGrpSpPr>
        <p:grpSpPr>
          <a:xfrm>
            <a:off x="6030624" y="1628801"/>
            <a:ext cx="6028025" cy="2872198"/>
            <a:chOff x="6030625" y="1636921"/>
            <a:chExt cx="5826016" cy="2872198"/>
          </a:xfrm>
        </p:grpSpPr>
        <p:sp>
          <p:nvSpPr>
            <p:cNvPr id="320" name="Google Shape;320;p5"/>
            <p:cNvSpPr/>
            <p:nvPr/>
          </p:nvSpPr>
          <p:spPr>
            <a:xfrm>
              <a:off x="6030625" y="1636921"/>
              <a:ext cx="5826016" cy="2872198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Mainly 2 </a:t>
              </a: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open-source/open-data  </a:t>
              </a: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solutions: 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OpenStreetMap/</a:t>
              </a: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Nominatim</a:t>
              </a: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Photon (OSM + </a:t>
              </a:r>
              <a:r>
                <a:rPr b="0" i="0" lang="en-BE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ElasticSearch)</a:t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027C"/>
                </a:buClr>
                <a:buSzPts val="2400"/>
                <a:buFont typeface="Arial"/>
                <a:buChar char="•"/>
              </a:pPr>
              <a:r>
                <a:rPr b="0" i="0" lang="en-BE" sz="2400" u="none" cap="none" strike="noStrike">
                  <a:solidFill>
                    <a:srgbClr val="B1027C"/>
                  </a:solidFill>
                  <a:latin typeface="Calibri"/>
                  <a:ea typeface="Calibri"/>
                  <a:cs typeface="Calibri"/>
                  <a:sym typeface="Calibri"/>
                </a:rPr>
                <a:t>On-premise</a:t>
              </a: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possible</a:t>
              </a:r>
              <a:r>
                <a:rPr b="0" i="0" lang="en-BE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BE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for a specific region</a:t>
              </a:r>
              <a:endParaRPr/>
            </a:p>
          </p:txBody>
        </p:sp>
        <p:pic>
          <p:nvPicPr>
            <p:cNvPr descr="osm-logo - Portail Humanitaire" id="321" name="Google Shape;321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965453" y="2329995"/>
              <a:ext cx="829189" cy="6785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2" name="Google Shape;32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06519" y="3194406"/>
            <a:ext cx="928007" cy="500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BeSt Addresses</a:t>
            </a:r>
            <a:endParaRPr/>
          </a:p>
        </p:txBody>
      </p:sp>
      <p:sp>
        <p:nvSpPr>
          <p:cNvPr id="328" name="Google Shape;328;p6"/>
          <p:cNvSpPr txBox="1"/>
          <p:nvPr>
            <p:ph idx="1" type="body"/>
          </p:nvPr>
        </p:nvSpPr>
        <p:spPr>
          <a:xfrm>
            <a:off x="784753" y="1260389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BeSt Addresses: </a:t>
            </a:r>
            <a:r>
              <a:rPr lang="en-BE" sz="2400">
                <a:solidFill>
                  <a:srgbClr val="B1027C"/>
                </a:solidFill>
              </a:rPr>
              <a:t>BOSA</a:t>
            </a:r>
            <a:r>
              <a:rPr lang="en-BE" sz="2400"/>
              <a:t> project providing an </a:t>
            </a:r>
            <a:r>
              <a:rPr lang="en-BE" sz="2400">
                <a:solidFill>
                  <a:srgbClr val="B1027C"/>
                </a:solidFill>
              </a:rPr>
              <a:t>authentic source</a:t>
            </a:r>
            <a:r>
              <a:rPr lang="en-BE" sz="2400"/>
              <a:t> for </a:t>
            </a:r>
            <a:r>
              <a:rPr lang="en-BE" sz="2400">
                <a:solidFill>
                  <a:srgbClr val="B1027C"/>
                </a:solidFill>
              </a:rPr>
              <a:t>Belgian addresses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Gathering </a:t>
            </a:r>
            <a:r>
              <a:rPr lang="en-BE" sz="2400">
                <a:solidFill>
                  <a:srgbClr val="B1027C"/>
                </a:solidFill>
              </a:rPr>
              <a:t>regional authentic sources</a:t>
            </a:r>
            <a:r>
              <a:rPr lang="en-BE" sz="2400"/>
              <a:t>: UrbiS, Adressenregister </a:t>
            </a:r>
            <a:r>
              <a:rPr lang="en-BE" sz="2000"/>
              <a:t>(ex CRAB)</a:t>
            </a:r>
            <a:r>
              <a:rPr lang="en-BE" sz="2400"/>
              <a:t>, ICAR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Each address has a </a:t>
            </a:r>
            <a:r>
              <a:rPr lang="en-BE" sz="2000">
                <a:solidFill>
                  <a:srgbClr val="B1027C"/>
                </a:solidFill>
              </a:rPr>
              <a:t>(stable)</a:t>
            </a:r>
            <a:r>
              <a:rPr lang="en-BE" sz="2400">
                <a:solidFill>
                  <a:srgbClr val="B1027C"/>
                </a:solidFill>
              </a:rPr>
              <a:t> id </a:t>
            </a:r>
            <a:r>
              <a:rPr lang="en-BE" sz="2400"/>
              <a:t>which should be used in other applications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Can be used either through file </a:t>
            </a:r>
            <a:r>
              <a:rPr lang="en-BE" sz="2400">
                <a:solidFill>
                  <a:srgbClr val="B1027C"/>
                </a:solidFill>
              </a:rPr>
              <a:t>download</a:t>
            </a:r>
            <a:r>
              <a:rPr lang="en-BE" sz="2400"/>
              <a:t> </a:t>
            </a:r>
            <a:r>
              <a:rPr lang="en-BE" sz="2000"/>
              <a:t>(public)</a:t>
            </a:r>
            <a:r>
              <a:rPr lang="en-BE" sz="2400"/>
              <a:t> or via </a:t>
            </a:r>
            <a:r>
              <a:rPr lang="en-BE" sz="2400">
                <a:solidFill>
                  <a:srgbClr val="B1027C"/>
                </a:solidFill>
              </a:rPr>
              <a:t>API</a:t>
            </a:r>
            <a:r>
              <a:rPr lang="en-BE" sz="2400"/>
              <a:t> </a:t>
            </a:r>
            <a:r>
              <a:rPr lang="en-BE" sz="2000"/>
              <a:t>(public/eGov)</a:t>
            </a:r>
            <a:endParaRPr sz="2400"/>
          </a:p>
        </p:txBody>
      </p:sp>
      <p:pic>
        <p:nvPicPr>
          <p:cNvPr id="329" name="Google Shape;3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723" y="262037"/>
            <a:ext cx="3023552" cy="66909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6"/>
          <p:cNvSpPr txBox="1"/>
          <p:nvPr/>
        </p:nvSpPr>
        <p:spPr>
          <a:xfrm>
            <a:off x="178593" y="6488668"/>
            <a:ext cx="6803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https://bosa.belgium.be/fr/services/best-address-services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Our constraints</a:t>
            </a:r>
            <a:endParaRPr/>
          </a:p>
        </p:txBody>
      </p:sp>
      <p:sp>
        <p:nvSpPr>
          <p:cNvPr id="336" name="Google Shape;336;p7"/>
          <p:cNvSpPr txBox="1"/>
          <p:nvPr>
            <p:ph idx="1" type="body"/>
          </p:nvPr>
        </p:nvSpPr>
        <p:spPr>
          <a:xfrm>
            <a:off x="784753" y="1260389"/>
            <a:ext cx="10996333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We needed a geocoding API: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Local/on-premise</a:t>
            </a:r>
            <a:endParaRPr sz="24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Based on BeSt Address (SPF BOSA)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Not written from scratch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Accepting large volumes</a:t>
            </a:r>
            <a:endParaRPr/>
          </a:p>
          <a:p>
            <a:pPr indent="-1333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Three options so far: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PhacochR </a:t>
            </a:r>
            <a:r>
              <a:rPr lang="en-BE" sz="2000"/>
              <a:t>(Obs. de la santé et du Social BXL + ULB/IGEAT)</a:t>
            </a:r>
            <a:r>
              <a:rPr lang="en-BE" sz="2400"/>
              <a:t>    🡪 Not an API </a:t>
            </a:r>
            <a:r>
              <a:rPr lang="en-BE" sz="2000"/>
              <a:t>(a batch R library)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BOSA API 🡪 Until recently, no fuzziness at all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Pelias + BeSt 🡪 Outdated/poor data, low robustness</a:t>
            </a:r>
            <a:endParaRPr sz="2400"/>
          </a:p>
          <a:p>
            <a:pPr indent="-1333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pic>
        <p:nvPicPr>
          <p:cNvPr id="337" name="Google Shape;3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9026" y="2741088"/>
            <a:ext cx="1211560" cy="1211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8408" y="5235402"/>
            <a:ext cx="2012678" cy="724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Pelias</a:t>
            </a:r>
            <a:endParaRPr/>
          </a:p>
        </p:txBody>
      </p:sp>
      <p:sp>
        <p:nvSpPr>
          <p:cNvPr id="344" name="Google Shape;344;p8"/>
          <p:cNvSpPr txBox="1"/>
          <p:nvPr>
            <p:ph idx="1" type="body"/>
          </p:nvPr>
        </p:nvSpPr>
        <p:spPr>
          <a:xfrm>
            <a:off x="784753" y="1260389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Open source: </a:t>
            </a:r>
            <a:r>
              <a:rPr lang="en-BE" sz="2000" u="sng">
                <a:solidFill>
                  <a:schemeClr val="hlink"/>
                </a:solidFill>
                <a:hlinkClick r:id="rId3"/>
              </a:rPr>
              <a:t>https://github.com/pelias/docker</a:t>
            </a:r>
            <a:r>
              <a:rPr lang="en-BE" sz="2000"/>
              <a:t> (projects &gt; belgium)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1027C"/>
              </a:buClr>
              <a:buSzPts val="2000"/>
              <a:buFont typeface="Arial"/>
              <a:buChar char="•"/>
            </a:pPr>
            <a:r>
              <a:rPr lang="en-BE" sz="2000">
                <a:solidFill>
                  <a:srgbClr val="B1027C"/>
                </a:solidFill>
              </a:rPr>
              <a:t>Data-source</a:t>
            </a:r>
            <a:r>
              <a:rPr lang="en-BE" sz="2000"/>
              <a:t> problems (in 2023):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Based on OpenAddresses.io version of BestAddress CSV files (https://batch.openaddresses.io/), but due to some incompatibility</a:t>
            </a:r>
            <a:r>
              <a:rPr lang="en-BE" sz="2000">
                <a:solidFill>
                  <a:srgbClr val="B1027C"/>
                </a:solidFill>
              </a:rPr>
              <a:t>, not updated since Feb 2021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Pelias still uses an </a:t>
            </a:r>
            <a:r>
              <a:rPr lang="en-BE" sz="2000">
                <a:solidFill>
                  <a:srgbClr val="B1027C"/>
                </a:solidFill>
              </a:rPr>
              <a:t>old OpenAddresses dataflow</a:t>
            </a:r>
            <a:r>
              <a:rPr lang="en-BE" sz="2000"/>
              <a:t>, deprecated mid-2021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1027C"/>
              </a:buClr>
              <a:buSzPts val="2000"/>
              <a:buFont typeface="Arial"/>
              <a:buChar char="•"/>
            </a:pPr>
            <a:r>
              <a:rPr lang="en-BE" sz="2000">
                <a:solidFill>
                  <a:srgbClr val="B1027C"/>
                </a:solidFill>
              </a:rPr>
              <a:t>Poor</a:t>
            </a:r>
            <a:r>
              <a:rPr lang="en-BE" sz="2000"/>
              <a:t> </a:t>
            </a:r>
            <a:r>
              <a:rPr lang="en-BE" sz="2000">
                <a:solidFill>
                  <a:srgbClr val="B1027C"/>
                </a:solidFill>
              </a:rPr>
              <a:t>data</a:t>
            </a:r>
            <a:r>
              <a:rPr lang="en-BE" sz="2000"/>
              <a:t>: partial best Id, no translation, no box numbers…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B1027C"/>
              </a:buClr>
              <a:buSzPts val="2000"/>
              <a:buFont typeface="Arial"/>
              <a:buChar char="•"/>
            </a:pPr>
            <a:r>
              <a:rPr lang="en-BE" sz="2000">
                <a:solidFill>
                  <a:srgbClr val="B1027C"/>
                </a:solidFill>
              </a:rPr>
              <a:t>Robustness</a:t>
            </a:r>
            <a:r>
              <a:rPr lang="en-BE" sz="2000"/>
              <a:t> problem: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If </a:t>
            </a:r>
            <a:r>
              <a:rPr lang="en-BE" sz="2000">
                <a:solidFill>
                  <a:srgbClr val="B1027C"/>
                </a:solidFill>
              </a:rPr>
              <a:t>structured version </a:t>
            </a:r>
            <a:r>
              <a:rPr lang="en-BE" sz="2000"/>
              <a:t>doesn’t work, sometimes </a:t>
            </a:r>
            <a:r>
              <a:rPr lang="en-BE" sz="2000">
                <a:solidFill>
                  <a:srgbClr val="B1027C"/>
                </a:solidFill>
              </a:rPr>
              <a:t>unstructured version </a:t>
            </a:r>
            <a:r>
              <a:rPr lang="en-BE" sz="2000"/>
              <a:t>does (and vice-versa)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If none works, some </a:t>
            </a:r>
            <a:r>
              <a:rPr lang="en-BE" sz="2000">
                <a:solidFill>
                  <a:srgbClr val="B1027C"/>
                </a:solidFill>
              </a:rPr>
              <a:t>simple transformations </a:t>
            </a:r>
            <a:r>
              <a:rPr lang="en-BE" sz="2000"/>
              <a:t>often allow matching: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{“postalcode”: 1160, “locality”: “Auderghem”} 🡪 {“postalcode”: 1160}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Cleansing text, removing parenthesis in street, non-digits in housenumber…</a:t>
            </a:r>
            <a:endParaRPr/>
          </a:p>
        </p:txBody>
      </p:sp>
      <p:pic>
        <p:nvPicPr>
          <p:cNvPr id="345" name="Google Shape;3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784" y="4077072"/>
            <a:ext cx="6261307" cy="299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bePelias</a:t>
            </a:r>
            <a:endParaRPr/>
          </a:p>
        </p:txBody>
      </p:sp>
      <p:sp>
        <p:nvSpPr>
          <p:cNvPr id="351" name="Google Shape;351;p9"/>
          <p:cNvSpPr txBox="1"/>
          <p:nvPr/>
        </p:nvSpPr>
        <p:spPr>
          <a:xfrm>
            <a:off x="655953" y="1170879"/>
            <a:ext cx="20536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{'street</a:t>
            </a:r>
            <a:r>
              <a:rPr lang="en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: '...',</a:t>
            </a:r>
            <a:b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'postalcode</a:t>
            </a:r>
            <a:r>
              <a:rPr lang="en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': '…'}</a:t>
            </a: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352" name="Google Shape;352;p9"/>
          <p:cNvGrpSpPr/>
          <p:nvPr/>
        </p:nvGrpSpPr>
        <p:grpSpPr>
          <a:xfrm>
            <a:off x="4507710" y="1142065"/>
            <a:ext cx="2211434" cy="789587"/>
            <a:chOff x="4507710" y="1142065"/>
            <a:chExt cx="2211434" cy="789587"/>
          </a:xfrm>
        </p:grpSpPr>
        <p:sp>
          <p:nvSpPr>
            <p:cNvPr id="353" name="Google Shape;353;p9"/>
            <p:cNvSpPr/>
            <p:nvPr/>
          </p:nvSpPr>
          <p:spPr>
            <a:xfrm>
              <a:off x="4882968" y="1142065"/>
              <a:ext cx="1836176" cy="789587"/>
            </a:xfrm>
            <a:prstGeom prst="flowChartDecision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Match?</a:t>
              </a:r>
              <a:endParaRPr/>
            </a:p>
          </p:txBody>
        </p:sp>
        <p:cxnSp>
          <p:nvCxnSpPr>
            <p:cNvPr id="354" name="Google Shape;354;p9"/>
            <p:cNvCxnSpPr>
              <a:stCxn id="355" idx="3"/>
              <a:endCxn id="353" idx="1"/>
            </p:cNvCxnSpPr>
            <p:nvPr/>
          </p:nvCxnSpPr>
          <p:spPr>
            <a:xfrm>
              <a:off x="4507710" y="1536860"/>
              <a:ext cx="375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56" name="Google Shape;356;p9"/>
          <p:cNvGrpSpPr/>
          <p:nvPr/>
        </p:nvGrpSpPr>
        <p:grpSpPr>
          <a:xfrm>
            <a:off x="2709592" y="1325277"/>
            <a:ext cx="1798118" cy="423165"/>
            <a:chOff x="2709592" y="1325277"/>
            <a:chExt cx="1798118" cy="423165"/>
          </a:xfrm>
        </p:grpSpPr>
        <p:cxnSp>
          <p:nvCxnSpPr>
            <p:cNvPr id="357" name="Google Shape;357;p9"/>
            <p:cNvCxnSpPr>
              <a:stCxn id="351" idx="3"/>
              <a:endCxn id="355" idx="1"/>
            </p:cNvCxnSpPr>
            <p:nvPr/>
          </p:nvCxnSpPr>
          <p:spPr>
            <a:xfrm>
              <a:off x="2709592" y="1524822"/>
              <a:ext cx="622500" cy="120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pic>
          <p:nvPicPr>
            <p:cNvPr descr="https://raw.githubusercontent.com/pelias/design/master/logo/pelias_github/Github_markdown_hero.png" id="355" name="Google Shape;35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2014" y="1325277"/>
              <a:ext cx="1175696" cy="42316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9"/>
          <p:cNvGrpSpPr/>
          <p:nvPr/>
        </p:nvGrpSpPr>
        <p:grpSpPr>
          <a:xfrm>
            <a:off x="3920010" y="256763"/>
            <a:ext cx="3410973" cy="1068433"/>
            <a:chOff x="3920010" y="256763"/>
            <a:chExt cx="3410973" cy="1068433"/>
          </a:xfrm>
        </p:grpSpPr>
        <p:sp>
          <p:nvSpPr>
            <p:cNvPr id="359" name="Google Shape;359;p9"/>
            <p:cNvSpPr txBox="1"/>
            <p:nvPr/>
          </p:nvSpPr>
          <p:spPr>
            <a:xfrm>
              <a:off x="4507710" y="256763"/>
              <a:ext cx="28232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BestAddress csv files</a:t>
              </a:r>
              <a:endParaRPr/>
            </a:p>
          </p:txBody>
        </p:sp>
        <p:cxnSp>
          <p:nvCxnSpPr>
            <p:cNvPr id="360" name="Google Shape;360;p9"/>
            <p:cNvCxnSpPr>
              <a:stCxn id="359" idx="1"/>
              <a:endCxn id="355" idx="0"/>
            </p:cNvCxnSpPr>
            <p:nvPr/>
          </p:nvCxnSpPr>
          <p:spPr>
            <a:xfrm flipH="1">
              <a:off x="3920010" y="487596"/>
              <a:ext cx="587700" cy="837600"/>
            </a:xfrm>
            <a:prstGeom prst="bentConnector2">
              <a:avLst/>
            </a:prstGeom>
            <a:noFill/>
            <a:ln cap="flat" cmpd="sng" w="19050">
              <a:solidFill>
                <a:schemeClr val="accent1"/>
              </a:solidFill>
              <a:prstDash val="dot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61" name="Google Shape;361;p9"/>
          <p:cNvGrpSpPr/>
          <p:nvPr/>
        </p:nvGrpSpPr>
        <p:grpSpPr>
          <a:xfrm>
            <a:off x="6620252" y="1075194"/>
            <a:ext cx="3265779" cy="776269"/>
            <a:chOff x="6620252" y="1075194"/>
            <a:chExt cx="3265779" cy="776269"/>
          </a:xfrm>
        </p:grpSpPr>
        <p:sp>
          <p:nvSpPr>
            <p:cNvPr id="362" name="Google Shape;362;p9"/>
            <p:cNvSpPr txBox="1"/>
            <p:nvPr/>
          </p:nvSpPr>
          <p:spPr>
            <a:xfrm>
              <a:off x="6620252" y="1075194"/>
              <a:ext cx="5944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/>
            </a:p>
          </p:txBody>
        </p:sp>
        <p:grpSp>
          <p:nvGrpSpPr>
            <p:cNvPr id="363" name="Google Shape;363;p9"/>
            <p:cNvGrpSpPr/>
            <p:nvPr/>
          </p:nvGrpSpPr>
          <p:grpSpPr>
            <a:xfrm>
              <a:off x="6719144" y="1222257"/>
              <a:ext cx="3166887" cy="629206"/>
              <a:chOff x="6719144" y="1222257"/>
              <a:chExt cx="3166887" cy="629206"/>
            </a:xfrm>
          </p:grpSpPr>
          <p:cxnSp>
            <p:nvCxnSpPr>
              <p:cNvPr id="364" name="Google Shape;364;p9"/>
              <p:cNvCxnSpPr>
                <a:stCxn id="353" idx="3"/>
                <a:endCxn id="365" idx="1"/>
              </p:cNvCxnSpPr>
              <p:nvPr/>
            </p:nvCxnSpPr>
            <p:spPr>
              <a:xfrm>
                <a:off x="6719144" y="1536859"/>
                <a:ext cx="11757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65" name="Google Shape;365;p9"/>
              <p:cNvSpPr/>
              <p:nvPr/>
            </p:nvSpPr>
            <p:spPr>
              <a:xfrm>
                <a:off x="7894840" y="1222257"/>
                <a:ext cx="1396891" cy="629206"/>
              </a:xfrm>
              <a:prstGeom prst="flowChartProcess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BE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Standardize</a:t>
                </a:r>
                <a:endParaRPr/>
              </a:p>
            </p:txBody>
          </p:sp>
          <p:cxnSp>
            <p:nvCxnSpPr>
              <p:cNvPr id="366" name="Google Shape;366;p9"/>
              <p:cNvCxnSpPr>
                <a:stCxn id="365" idx="3"/>
              </p:cNvCxnSpPr>
              <p:nvPr/>
            </p:nvCxnSpPr>
            <p:spPr>
              <a:xfrm>
                <a:off x="9291731" y="1536860"/>
                <a:ext cx="594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367" name="Google Shape;367;p9"/>
          <p:cNvGrpSpPr/>
          <p:nvPr/>
        </p:nvGrpSpPr>
        <p:grpSpPr>
          <a:xfrm>
            <a:off x="5215250" y="1787894"/>
            <a:ext cx="1793368" cy="1429716"/>
            <a:chOff x="5215250" y="1787894"/>
            <a:chExt cx="1793368" cy="1429716"/>
          </a:xfrm>
        </p:grpSpPr>
        <p:cxnSp>
          <p:nvCxnSpPr>
            <p:cNvPr id="368" name="Google Shape;368;p9"/>
            <p:cNvCxnSpPr>
              <a:stCxn id="353" idx="2"/>
              <a:endCxn id="369" idx="0"/>
            </p:cNvCxnSpPr>
            <p:nvPr/>
          </p:nvCxnSpPr>
          <p:spPr>
            <a:xfrm flipH="1" rot="-5400000">
              <a:off x="5370706" y="2362002"/>
              <a:ext cx="862800" cy="2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0" name="Google Shape;370;p9"/>
            <p:cNvSpPr txBox="1"/>
            <p:nvPr/>
          </p:nvSpPr>
          <p:spPr>
            <a:xfrm>
              <a:off x="5781056" y="1787894"/>
              <a:ext cx="5084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/>
            </a:p>
          </p:txBody>
        </p:sp>
        <p:pic>
          <p:nvPicPr>
            <p:cNvPr descr="https://raw.githubusercontent.com/pelias/design/master/logo/pelias_github/Github_markdown_hero.png" id="369" name="Google Shape;36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5250" y="2794445"/>
              <a:ext cx="1175696" cy="4231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9"/>
            <p:cNvSpPr txBox="1"/>
            <p:nvPr/>
          </p:nvSpPr>
          <p:spPr>
            <a:xfrm>
              <a:off x="5879976" y="2347181"/>
              <a:ext cx="11286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BE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‘addr’: ’…’</a:t>
              </a:r>
              <a:endParaRPr/>
            </a:p>
          </p:txBody>
        </p:sp>
      </p:grpSp>
      <p:grpSp>
        <p:nvGrpSpPr>
          <p:cNvPr id="372" name="Google Shape;372;p9"/>
          <p:cNvGrpSpPr/>
          <p:nvPr/>
        </p:nvGrpSpPr>
        <p:grpSpPr>
          <a:xfrm>
            <a:off x="4882968" y="3217610"/>
            <a:ext cx="1836176" cy="1289321"/>
            <a:chOff x="4882968" y="3217610"/>
            <a:chExt cx="1836176" cy="1289321"/>
          </a:xfrm>
        </p:grpSpPr>
        <p:sp>
          <p:nvSpPr>
            <p:cNvPr id="373" name="Google Shape;373;p9"/>
            <p:cNvSpPr/>
            <p:nvPr/>
          </p:nvSpPr>
          <p:spPr>
            <a:xfrm>
              <a:off x="4882968" y="3717344"/>
              <a:ext cx="1836176" cy="789587"/>
            </a:xfrm>
            <a:prstGeom prst="flowChartDecision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Chec</a:t>
              </a:r>
              <a:r>
                <a:rPr lang="en-BE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k+</a:t>
              </a:r>
              <a:r>
                <a:rPr b="0" i="0" lang="en-BE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Match?</a:t>
              </a:r>
              <a:endParaRPr/>
            </a:p>
          </p:txBody>
        </p:sp>
        <p:cxnSp>
          <p:nvCxnSpPr>
            <p:cNvPr id="374" name="Google Shape;374;p9"/>
            <p:cNvCxnSpPr>
              <a:stCxn id="369" idx="2"/>
              <a:endCxn id="373" idx="0"/>
            </p:cNvCxnSpPr>
            <p:nvPr/>
          </p:nvCxnSpPr>
          <p:spPr>
            <a:xfrm rot="5400000">
              <a:off x="5552148" y="3466460"/>
              <a:ext cx="499800" cy="2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75" name="Google Shape;375;p9"/>
          <p:cNvGrpSpPr/>
          <p:nvPr/>
        </p:nvGrpSpPr>
        <p:grpSpPr>
          <a:xfrm>
            <a:off x="609803" y="1878623"/>
            <a:ext cx="5665867" cy="3542305"/>
            <a:chOff x="609803" y="1878623"/>
            <a:chExt cx="5665867" cy="3542305"/>
          </a:xfrm>
        </p:grpSpPr>
        <p:sp>
          <p:nvSpPr>
            <p:cNvPr id="376" name="Google Shape;376;p9"/>
            <p:cNvSpPr/>
            <p:nvPr/>
          </p:nvSpPr>
          <p:spPr>
            <a:xfrm>
              <a:off x="609803" y="4208723"/>
              <a:ext cx="2088232" cy="121220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Transform: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-"/>
              </a:pPr>
              <a:r>
                <a:rPr b="0" i="0" lang="en-BE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Regex (street, nbr)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-"/>
              </a:pPr>
              <a:r>
                <a:rPr b="0" i="0" lang="en-BE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Skip city name</a:t>
              </a:r>
              <a:endParaRPr/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-"/>
              </a:pPr>
              <a:r>
                <a:rPr b="0" i="0" lang="en-BE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Skip housenumber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7" name="Google Shape;377;p9"/>
            <p:cNvCxnSpPr>
              <a:stCxn id="376" idx="0"/>
              <a:endCxn id="351" idx="2"/>
            </p:cNvCxnSpPr>
            <p:nvPr/>
          </p:nvCxnSpPr>
          <p:spPr>
            <a:xfrm flipH="1" rot="10800000">
              <a:off x="1653919" y="1878623"/>
              <a:ext cx="28800" cy="23301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78" name="Google Shape;378;p9"/>
            <p:cNvSpPr txBox="1"/>
            <p:nvPr/>
          </p:nvSpPr>
          <p:spPr>
            <a:xfrm>
              <a:off x="5767197" y="4445085"/>
              <a:ext cx="5084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/>
            </a:p>
          </p:txBody>
        </p:sp>
        <p:cxnSp>
          <p:nvCxnSpPr>
            <p:cNvPr id="379" name="Google Shape;379;p9"/>
            <p:cNvCxnSpPr>
              <a:stCxn id="373" idx="2"/>
              <a:endCxn id="376" idx="3"/>
            </p:cNvCxnSpPr>
            <p:nvPr/>
          </p:nvCxnSpPr>
          <p:spPr>
            <a:xfrm rot="5400000">
              <a:off x="4095706" y="3109381"/>
              <a:ext cx="307800" cy="3102900"/>
            </a:xfrm>
            <a:prstGeom prst="bentConnector2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80" name="Google Shape;380;p9"/>
          <p:cNvGrpSpPr/>
          <p:nvPr/>
        </p:nvGrpSpPr>
        <p:grpSpPr>
          <a:xfrm>
            <a:off x="6669776" y="1851338"/>
            <a:ext cx="1923468" cy="2299767"/>
            <a:chOff x="6669776" y="1851338"/>
            <a:chExt cx="1923468" cy="2299767"/>
          </a:xfrm>
        </p:grpSpPr>
        <p:cxnSp>
          <p:nvCxnSpPr>
            <p:cNvPr id="381" name="Google Shape;381;p9"/>
            <p:cNvCxnSpPr>
              <a:stCxn id="373" idx="3"/>
              <a:endCxn id="365" idx="2"/>
            </p:cNvCxnSpPr>
            <p:nvPr/>
          </p:nvCxnSpPr>
          <p:spPr>
            <a:xfrm flipH="1" rot="10800000">
              <a:off x="6719144" y="1851338"/>
              <a:ext cx="1874100" cy="2260800"/>
            </a:xfrm>
            <a:prstGeom prst="bentConnector2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82" name="Google Shape;382;p9"/>
            <p:cNvSpPr txBox="1"/>
            <p:nvPr/>
          </p:nvSpPr>
          <p:spPr>
            <a:xfrm>
              <a:off x="6669776" y="3689439"/>
              <a:ext cx="5944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BE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/>
            </a:p>
          </p:txBody>
        </p:sp>
      </p:grpSp>
      <p:sp>
        <p:nvSpPr>
          <p:cNvPr id="383" name="Google Shape;383;p9"/>
          <p:cNvSpPr txBox="1"/>
          <p:nvPr/>
        </p:nvSpPr>
        <p:spPr>
          <a:xfrm>
            <a:off x="669048" y="5507762"/>
            <a:ext cx="969759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Based on a </a:t>
            </a:r>
            <a:r>
              <a:rPr b="0" i="0" lang="en-BE" sz="2000" u="none" cap="none" strike="noStrike">
                <a:solidFill>
                  <a:srgbClr val="B1027C"/>
                </a:solidFill>
                <a:latin typeface="Calibri"/>
                <a:ea typeface="Calibri"/>
                <a:cs typeface="Calibri"/>
                <a:sym typeface="Calibri"/>
              </a:rPr>
              <a:t>new dataflow </a:t>
            </a: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BestAddress, by-passing OpenAddresses.io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“M</a:t>
            </a:r>
            <a:r>
              <a:rPr lang="en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atch?”= “is a building”. If no transformer gives a building match 🡪keep the best one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B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coords = 0,0 🡪 call interpolation engine</a:t>
            </a:r>
            <a:endParaRPr/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bePelias: Matching rate</a:t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 rot="10800000">
            <a:off x="11122954" y="1333498"/>
            <a:ext cx="369333" cy="2455541"/>
          </a:xfrm>
          <a:prstGeom prst="leftBrace">
            <a:avLst>
              <a:gd fmla="val 8333" name="adj1"/>
              <a:gd fmla="val 52583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 rot="5400000">
            <a:off x="11130272" y="2151000"/>
            <a:ext cx="1341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OS/on-prem</a:t>
            </a:r>
            <a:endParaRPr/>
          </a:p>
        </p:txBody>
      </p:sp>
      <p:pic>
        <p:nvPicPr>
          <p:cNvPr id="392" name="Google Shape;3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68" y="921819"/>
            <a:ext cx="9376742" cy="543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Performances</a:t>
            </a:r>
            <a:endParaRPr/>
          </a:p>
        </p:txBody>
      </p:sp>
      <p:sp>
        <p:nvSpPr>
          <p:cNvPr id="398" name="Google Shape;398;p11"/>
          <p:cNvSpPr txBox="1"/>
          <p:nvPr>
            <p:ph idx="1" type="body"/>
          </p:nvPr>
        </p:nvSpPr>
        <p:spPr>
          <a:xfrm>
            <a:off x="784753" y="1260389"/>
            <a:ext cx="10843287" cy="3714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BE" sz="2800"/>
              <a:t>Giving an answer does not make this answer to be </a:t>
            </a:r>
            <a:r>
              <a:rPr lang="en-BE" sz="2800">
                <a:solidFill>
                  <a:srgbClr val="B1027C"/>
                </a:solidFill>
              </a:rPr>
              <a:t>correct</a:t>
            </a:r>
            <a:r>
              <a:rPr lang="en-BE" sz="2800"/>
              <a:t>!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BE" sz="2800"/>
              <a:t>Ideal situation: testing against a </a:t>
            </a:r>
            <a:r>
              <a:rPr lang="en-BE" sz="2800">
                <a:solidFill>
                  <a:srgbClr val="B1027C"/>
                </a:solidFill>
              </a:rPr>
              <a:t>reference address list</a:t>
            </a:r>
            <a:r>
              <a:rPr lang="en-BE" sz="2800"/>
              <a:t>. But: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BE" sz="2800"/>
              <a:t>Building such a list is </a:t>
            </a:r>
            <a:r>
              <a:rPr lang="en-BE" sz="2800">
                <a:solidFill>
                  <a:srgbClr val="B1027C"/>
                </a:solidFill>
              </a:rPr>
              <a:t>complex</a:t>
            </a:r>
            <a:r>
              <a:rPr lang="en-BE" sz="2800"/>
              <a:t>!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BE" sz="2800"/>
              <a:t>List will be </a:t>
            </a:r>
            <a:r>
              <a:rPr lang="en-BE" sz="2400"/>
              <a:t>(intrinsically)</a:t>
            </a:r>
            <a:r>
              <a:rPr lang="en-BE" sz="2800"/>
              <a:t> </a:t>
            </a:r>
            <a:r>
              <a:rPr lang="en-BE" sz="2800">
                <a:solidFill>
                  <a:srgbClr val="B1027C"/>
                </a:solidFill>
              </a:rPr>
              <a:t>biased</a:t>
            </a:r>
            <a:endParaRPr/>
          </a:p>
        </p:txBody>
      </p:sp>
      <p:sp>
        <p:nvSpPr>
          <p:cNvPr id="399" name="Google Shape;399;p11"/>
          <p:cNvSpPr txBox="1"/>
          <p:nvPr/>
        </p:nvSpPr>
        <p:spPr>
          <a:xfrm>
            <a:off x="1635894" y="4218892"/>
            <a:ext cx="97713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BE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🡪 We propose a </a:t>
            </a:r>
            <a:r>
              <a:rPr b="0" i="0" lang="en-BE" sz="2800" u="none" cap="none" strike="noStrike">
                <a:solidFill>
                  <a:srgbClr val="B1027C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b="0" i="0" lang="en-BE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based on a “</a:t>
            </a:r>
            <a:r>
              <a:rPr b="0" i="0" lang="en-BE" sz="2800" u="none" cap="none" strike="noStrike">
                <a:solidFill>
                  <a:srgbClr val="B1027C"/>
                </a:solidFill>
                <a:latin typeface="Calibri"/>
                <a:ea typeface="Calibri"/>
                <a:cs typeface="Calibri"/>
                <a:sym typeface="Calibri"/>
              </a:rPr>
              <a:t>majority vote</a:t>
            </a:r>
            <a:r>
              <a:rPr b="0" i="0" lang="en-BE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Methodology</a:t>
            </a:r>
            <a:endParaRPr/>
          </a:p>
        </p:txBody>
      </p:sp>
      <p:sp>
        <p:nvSpPr>
          <p:cNvPr id="406" name="Google Shape;406;p12"/>
          <p:cNvSpPr txBox="1"/>
          <p:nvPr>
            <p:ph idx="1" type="body"/>
          </p:nvPr>
        </p:nvSpPr>
        <p:spPr>
          <a:xfrm>
            <a:off x="784753" y="1260389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Collect a </a:t>
            </a:r>
            <a:r>
              <a:rPr lang="en-BE" sz="2000"/>
              <a:t>(not too clean) </a:t>
            </a:r>
            <a:r>
              <a:rPr lang="en-BE" sz="2400">
                <a:solidFill>
                  <a:srgbClr val="B1027C"/>
                </a:solidFill>
              </a:rPr>
              <a:t>address dataset</a:t>
            </a:r>
            <a:r>
              <a:rPr lang="en-BE" sz="2400"/>
              <a:t>	🡪 1 000 addresses from KBO</a:t>
            </a:r>
            <a:endParaRPr sz="2400"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Send this dataset to </a:t>
            </a:r>
            <a:r>
              <a:rPr lang="en-BE" sz="2400">
                <a:solidFill>
                  <a:srgbClr val="B1027C"/>
                </a:solidFill>
              </a:rPr>
              <a:t>several coders</a:t>
            </a:r>
            <a:r>
              <a:rPr lang="en-BE" sz="2400"/>
              <a:t>	🡪 here, bing, nominatim, google…</a:t>
            </a:r>
            <a:endParaRPr sz="2400"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Use </a:t>
            </a:r>
            <a:r>
              <a:rPr lang="en-BE" sz="2400">
                <a:solidFill>
                  <a:srgbClr val="B1027C"/>
                </a:solidFill>
              </a:rPr>
              <a:t>median point </a:t>
            </a:r>
            <a:r>
              <a:rPr lang="en-BE" sz="2400"/>
              <a:t>for each address as reference, with </a:t>
            </a:r>
            <a:r>
              <a:rPr lang="en-BE" sz="2400">
                <a:solidFill>
                  <a:srgbClr val="B1027C"/>
                </a:solidFill>
              </a:rPr>
              <a:t>some conditions</a:t>
            </a:r>
            <a:r>
              <a:rPr lang="en-BE" sz="2400"/>
              <a:t>: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Enough </a:t>
            </a:r>
            <a:r>
              <a:rPr lang="en-BE" sz="1800"/>
              <a:t>(precise) </a:t>
            </a:r>
            <a:r>
              <a:rPr lang="en-BE" sz="2000"/>
              <a:t>matches			🡪 957 with ≥ 3/7 “building” matches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Enough answers close to median		🡪 932 with ≥ 3/7 within 100 m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BE" sz="2400"/>
              <a:t>Compute misc. stats about « </a:t>
            </a:r>
            <a:r>
              <a:rPr lang="en-BE" sz="2400">
                <a:solidFill>
                  <a:srgbClr val="B1027C"/>
                </a:solidFill>
              </a:rPr>
              <a:t>distance to median point </a:t>
            </a:r>
            <a:r>
              <a:rPr lang="en-BE" sz="2400"/>
              <a:t>»</a:t>
            </a:r>
            <a:endParaRPr/>
          </a:p>
        </p:txBody>
      </p:sp>
      <p:grpSp>
        <p:nvGrpSpPr>
          <p:cNvPr id="407" name="Google Shape;407;p12"/>
          <p:cNvGrpSpPr/>
          <p:nvPr/>
        </p:nvGrpSpPr>
        <p:grpSpPr>
          <a:xfrm>
            <a:off x="997092" y="4786876"/>
            <a:ext cx="1867608" cy="774143"/>
            <a:chOff x="2212168" y="4437112"/>
            <a:chExt cx="1867608" cy="774143"/>
          </a:xfrm>
        </p:grpSpPr>
        <p:sp>
          <p:nvSpPr>
            <p:cNvPr id="408" name="Google Shape;408;p12"/>
            <p:cNvSpPr/>
            <p:nvPr/>
          </p:nvSpPr>
          <p:spPr>
            <a:xfrm>
              <a:off x="2212168" y="4870835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2"/>
            <p:cNvSpPr/>
            <p:nvPr/>
          </p:nvSpPr>
          <p:spPr>
            <a:xfrm>
              <a:off x="2386599" y="4700376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2"/>
            <p:cNvSpPr/>
            <p:nvPr/>
          </p:nvSpPr>
          <p:spPr>
            <a:xfrm>
              <a:off x="2304561" y="5067239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2"/>
            <p:cNvSpPr/>
            <p:nvPr/>
          </p:nvSpPr>
          <p:spPr>
            <a:xfrm>
              <a:off x="2561030" y="4939531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2"/>
            <p:cNvSpPr/>
            <p:nvPr/>
          </p:nvSpPr>
          <p:spPr>
            <a:xfrm>
              <a:off x="3935760" y="4437112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2"/>
          <p:cNvSpPr/>
          <p:nvPr/>
        </p:nvSpPr>
        <p:spPr>
          <a:xfrm>
            <a:off x="1171523" y="5193699"/>
            <a:ext cx="144016" cy="167604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94669" y="4930892"/>
            <a:ext cx="697724" cy="741766"/>
          </a:xfrm>
          <a:prstGeom prst="ellipse">
            <a:avLst/>
          </a:prstGeom>
          <a:noFill/>
          <a:ln cap="flat" cmpd="sng" w="12700">
            <a:solidFill>
              <a:srgbClr val="42719B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12"/>
          <p:cNvGrpSpPr/>
          <p:nvPr/>
        </p:nvGrpSpPr>
        <p:grpSpPr>
          <a:xfrm>
            <a:off x="4651808" y="5115682"/>
            <a:ext cx="2596320" cy="1376095"/>
            <a:chOff x="2064120" y="4437112"/>
            <a:chExt cx="2596320" cy="1376095"/>
          </a:xfrm>
        </p:grpSpPr>
        <p:sp>
          <p:nvSpPr>
            <p:cNvPr id="416" name="Google Shape;416;p12"/>
            <p:cNvSpPr/>
            <p:nvPr/>
          </p:nvSpPr>
          <p:spPr>
            <a:xfrm>
              <a:off x="2064120" y="4643102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2"/>
            <p:cNvSpPr/>
            <p:nvPr/>
          </p:nvSpPr>
          <p:spPr>
            <a:xfrm>
              <a:off x="4516424" y="5669191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2"/>
            <p:cNvSpPr/>
            <p:nvPr/>
          </p:nvSpPr>
          <p:spPr>
            <a:xfrm>
              <a:off x="2356184" y="5597183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2"/>
            <p:cNvSpPr/>
            <p:nvPr/>
          </p:nvSpPr>
          <p:spPr>
            <a:xfrm>
              <a:off x="2932248" y="5036135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2"/>
            <p:cNvSpPr/>
            <p:nvPr/>
          </p:nvSpPr>
          <p:spPr>
            <a:xfrm>
              <a:off x="3935760" y="4437112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" name="Google Shape;421;p12"/>
          <p:cNvSpPr/>
          <p:nvPr/>
        </p:nvSpPr>
        <p:spPr>
          <a:xfrm>
            <a:off x="5519936" y="5691117"/>
            <a:ext cx="144016" cy="167604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243082" y="5393680"/>
            <a:ext cx="697724" cy="741766"/>
          </a:xfrm>
          <a:prstGeom prst="ellipse">
            <a:avLst/>
          </a:prstGeom>
          <a:noFill/>
          <a:ln cap="flat" cmpd="sng" w="12700">
            <a:solidFill>
              <a:srgbClr val="42719B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p12"/>
          <p:cNvGrpSpPr/>
          <p:nvPr/>
        </p:nvGrpSpPr>
        <p:grpSpPr>
          <a:xfrm>
            <a:off x="8895317" y="4771641"/>
            <a:ext cx="2596320" cy="1863811"/>
            <a:chOff x="2064120" y="4437112"/>
            <a:chExt cx="2596320" cy="1863811"/>
          </a:xfrm>
        </p:grpSpPr>
        <p:sp>
          <p:nvSpPr>
            <p:cNvPr id="424" name="Google Shape;424;p12"/>
            <p:cNvSpPr/>
            <p:nvPr/>
          </p:nvSpPr>
          <p:spPr>
            <a:xfrm>
              <a:off x="2064120" y="4643101"/>
              <a:ext cx="436080" cy="513461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2"/>
            <p:cNvSpPr/>
            <p:nvPr/>
          </p:nvSpPr>
          <p:spPr>
            <a:xfrm>
              <a:off x="3801307" y="4969315"/>
              <a:ext cx="859133" cy="786742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2"/>
            <p:cNvSpPr/>
            <p:nvPr/>
          </p:nvSpPr>
          <p:spPr>
            <a:xfrm>
              <a:off x="2356184" y="5597183"/>
              <a:ext cx="720080" cy="70374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2"/>
            <p:cNvSpPr/>
            <p:nvPr/>
          </p:nvSpPr>
          <p:spPr>
            <a:xfrm>
              <a:off x="2932248" y="5036135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2"/>
            <p:cNvSpPr/>
            <p:nvPr/>
          </p:nvSpPr>
          <p:spPr>
            <a:xfrm>
              <a:off x="3935760" y="4437112"/>
              <a:ext cx="144016" cy="14401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9" name="Google Shape;4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591" y="4464166"/>
            <a:ext cx="513378" cy="513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297" y="4510981"/>
            <a:ext cx="472527" cy="47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5189" y="4588796"/>
            <a:ext cx="472527" cy="472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Distance to median point</a:t>
            </a:r>
            <a:endParaRPr/>
          </a:p>
        </p:txBody>
      </p:sp>
      <p:sp>
        <p:nvSpPr>
          <p:cNvPr id="438" name="Google Shape;438;p13"/>
          <p:cNvSpPr txBox="1"/>
          <p:nvPr/>
        </p:nvSpPr>
        <p:spPr>
          <a:xfrm rot="-5400000">
            <a:off x="4971697" y="3281691"/>
            <a:ext cx="33015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BE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lower the better!</a:t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6884079" y="2057400"/>
            <a:ext cx="523221" cy="3009900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92D050"/>
              </a:gs>
              <a:gs pos="100000">
                <a:srgbClr val="C00000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 rot="-5400000">
            <a:off x="4664727" y="-72524"/>
            <a:ext cx="298403" cy="252276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 txBox="1"/>
          <p:nvPr/>
        </p:nvSpPr>
        <p:spPr>
          <a:xfrm>
            <a:off x="8359856" y="611284"/>
            <a:ext cx="16068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OS/on-prem</a:t>
            </a:r>
            <a:endParaRPr/>
          </a:p>
        </p:txBody>
      </p:sp>
      <p:cxnSp>
        <p:nvCxnSpPr>
          <p:cNvPr id="442" name="Google Shape;442;p13"/>
          <p:cNvCxnSpPr>
            <a:stCxn id="440" idx="1"/>
            <a:endCxn id="441" idx="1"/>
          </p:cNvCxnSpPr>
          <p:nvPr/>
        </p:nvCxnSpPr>
        <p:spPr>
          <a:xfrm rot="-5400000">
            <a:off x="6472779" y="-847493"/>
            <a:ext cx="228300" cy="3546000"/>
          </a:xfrm>
          <a:prstGeom prst="curvedConnector4">
            <a:avLst>
              <a:gd fmla="val 104682" name="adj1"/>
              <a:gd fmla="val 50931" name="adj2"/>
            </a:avLst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43" name="Google Shape;4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68" y="1420277"/>
            <a:ext cx="5861798" cy="543772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3"/>
          <p:cNvSpPr txBox="1"/>
          <p:nvPr/>
        </p:nvSpPr>
        <p:spPr>
          <a:xfrm>
            <a:off x="7388890" y="5215665"/>
            <a:ext cx="48031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 No stats if no building level results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🡪 « bad » geocoders are even worse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4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Deployment</a:t>
            </a:r>
            <a:endParaRPr/>
          </a:p>
        </p:txBody>
      </p:sp>
      <p:sp>
        <p:nvSpPr>
          <p:cNvPr id="450" name="Google Shape;450;p14"/>
          <p:cNvSpPr txBox="1"/>
          <p:nvPr>
            <p:ph idx="1" type="body"/>
          </p:nvPr>
        </p:nvSpPr>
        <p:spPr>
          <a:xfrm>
            <a:off x="784753" y="1260389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Available on </a:t>
            </a:r>
            <a:r>
              <a:rPr lang="en-BE" sz="2000" u="sng">
                <a:solidFill>
                  <a:schemeClr val="hlink"/>
                </a:solidFill>
                <a:hlinkClick r:id="rId3"/>
              </a:rPr>
              <a:t>https://github.com/SmalsResearch/bePelias/</a:t>
            </a:r>
            <a:endParaRPr sz="2000"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Docker + Python + FastAPI</a:t>
            </a:r>
            <a:endParaRPr sz="2000"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Deploy 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BE">
                <a:latin typeface="Source Code Pro"/>
                <a:ea typeface="Source Code Pro"/>
                <a:cs typeface="Source Code Pro"/>
                <a:sym typeface="Source Code Pro"/>
              </a:rPr>
              <a:t>./scripts/build.sh        # Build pelias &amp; bepelias docker images (~30 minutes)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BE">
                <a:latin typeface="Source Code Pro"/>
                <a:ea typeface="Source Code Pro"/>
                <a:cs typeface="Source Code Pro"/>
                <a:sym typeface="Source Code Pro"/>
              </a:rPr>
              <a:t>./scripts/feed.sh         # Prepare files from Bosa and load them (~1h30)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BE">
                <a:latin typeface="Source Code Pro"/>
                <a:ea typeface="Source Code Pro"/>
                <a:cs typeface="Source Code Pro"/>
                <a:sym typeface="Source Code Pro"/>
              </a:rPr>
              <a:t>./scripts/run.sh          # Run Pelias and bePelias API (with default parameters)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Many variants (one region, update data, two-machines build…)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Live (test) instance available on request</a:t>
            </a:r>
            <a:endParaRPr sz="2000"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Unstructured mode available</a:t>
            </a:r>
            <a:br>
              <a:rPr lang="en-BE">
                <a:latin typeface="Source Code Pro"/>
                <a:ea typeface="Source Code Pro"/>
                <a:cs typeface="Source Code Pro"/>
                <a:sym typeface="Source Code Pro"/>
              </a:rPr>
            </a:b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Call</a:t>
            </a:r>
            <a:endParaRPr/>
          </a:p>
        </p:txBody>
      </p:sp>
      <p:sp>
        <p:nvSpPr>
          <p:cNvPr id="456" name="Google Shape;456;p15"/>
          <p:cNvSpPr txBox="1"/>
          <p:nvPr>
            <p:ph idx="1" type="body"/>
          </p:nvPr>
        </p:nvSpPr>
        <p:spPr>
          <a:xfrm>
            <a:off x="784753" y="1260388"/>
            <a:ext cx="10843287" cy="540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1600"/>
              <a:buNone/>
            </a:pP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https://[host:IP]/REST/bepelias/v1/geocode?</a:t>
            </a:r>
            <a:b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-BE" u="sng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streetName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=</a:t>
            </a:r>
            <a:r>
              <a:rPr b="1" lang="en-BE" sz="1400" u="sng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Avenue+Fonsny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&amp;</a:t>
            </a:r>
            <a:r>
              <a:rPr lang="en-BE" u="sng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houseNumber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=</a:t>
            </a:r>
            <a:r>
              <a:rPr b="1" lang="en-BE" u="sng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&amp;</a:t>
            </a:r>
            <a:r>
              <a:rPr lang="en-BE" u="sng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postCode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=</a:t>
            </a:r>
            <a:r>
              <a:rPr b="1" lang="en-BE" u="sng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1060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&amp;</a:t>
            </a:r>
            <a:r>
              <a:rPr lang="en-BE" u="sng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postName</a:t>
            </a:r>
            <a:r>
              <a:rPr lang="en-BE" u="sng">
                <a:solidFill>
                  <a:srgbClr val="0563C1"/>
                </a:solidFill>
                <a:latin typeface="Courier New"/>
                <a:ea typeface="Courier New"/>
                <a:cs typeface="Courier New"/>
                <a:sym typeface="Courier New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=</a:t>
            </a:r>
            <a:r>
              <a:rPr b="1" lang="en-BE" u="sng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Saint-Gilles</a:t>
            </a:r>
            <a:endParaRPr b="1">
              <a:solidFill>
                <a:srgbClr val="0066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{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[{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bestId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    "</a:t>
            </a:r>
            <a:r>
              <a:rPr lang="en-BE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20"/>
              </a:rPr>
              <a:t>https://databrussels.be/id/address/219307/7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street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   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"Avenue Fonsny"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nl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"Fonsnylaan"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"</a:t>
            </a:r>
            <a:r>
              <a:rPr lang="en-BE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21"/>
              </a:rPr>
              <a:t>https://databrussels.be/id/streetname/4921/2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"},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municipality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"Saint-Gilles"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nl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"Sint-Gillis"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code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"21013"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               id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"</a:t>
            </a:r>
            <a:r>
              <a:rPr lang="en-BE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22"/>
              </a:rPr>
              <a:t>https://databrussels.be/id/municipality/21013/14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"},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postalInfo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fr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"Saint-Gilles"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nl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"Sint-Gillis"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                   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postalCode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"1060"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housenumber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"20"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status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   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"current"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coordinates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lat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50.83583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lon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4.33845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precision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"address"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}],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total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callType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"struct"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inAddr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address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"Avenue Fonsny, 20"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locality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 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         postalcode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"1060"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peliasCallCount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transformers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"clean;no_city"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BE" sz="1400">
                <a:latin typeface="Courier New"/>
                <a:ea typeface="Courier New"/>
                <a:cs typeface="Courier New"/>
                <a:sym typeface="Courier New"/>
              </a:rPr>
              <a:t>    self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BE" sz="1400">
                <a:solidFill>
                  <a:srgbClr val="548135"/>
                </a:solidFill>
                <a:latin typeface="Courier New"/>
                <a:ea typeface="Courier New"/>
                <a:cs typeface="Courier New"/>
                <a:sym typeface="Courier New"/>
              </a:rPr>
              <a:t>"..." </a:t>
            </a:r>
            <a:r>
              <a:rPr lang="en-BE" sz="1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OpenAPI</a:t>
            </a:r>
            <a:endParaRPr/>
          </a:p>
        </p:txBody>
      </p:sp>
      <p:pic>
        <p:nvPicPr>
          <p:cNvPr id="462" name="Google Shape;462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25" l="0" r="0" t="0"/>
          <a:stretch/>
        </p:blipFill>
        <p:spPr>
          <a:xfrm>
            <a:off x="1262611" y="902372"/>
            <a:ext cx="10365824" cy="532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7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OpenAPI</a:t>
            </a:r>
            <a:endParaRPr/>
          </a:p>
        </p:txBody>
      </p:sp>
      <p:pic>
        <p:nvPicPr>
          <p:cNvPr id="468" name="Google Shape;4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305" y="754204"/>
            <a:ext cx="7356757" cy="5771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Conclusions</a:t>
            </a:r>
            <a:endParaRPr/>
          </a:p>
        </p:txBody>
      </p:sp>
      <p:sp>
        <p:nvSpPr>
          <p:cNvPr id="474" name="Google Shape;474;p18"/>
          <p:cNvSpPr txBox="1"/>
          <p:nvPr>
            <p:ph idx="1" type="body"/>
          </p:nvPr>
        </p:nvSpPr>
        <p:spPr>
          <a:xfrm>
            <a:off x="784753" y="1260389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BE" sz="2800"/>
              <a:t>bePelias: on-premise geocoder</a:t>
            </a:r>
            <a:r>
              <a:rPr lang="en-BE" sz="2200"/>
              <a:t> (REST API)</a:t>
            </a:r>
            <a:r>
              <a:rPr lang="en-BE" sz="2800"/>
              <a:t> based on BeSt Address </a:t>
            </a:r>
            <a:r>
              <a:rPr lang="en-BE" sz="2200"/>
              <a:t>(Belgium)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BE" sz="2800"/>
              <a:t>Simple deployment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BE" sz="2800"/>
              <a:t>Similar performance as main cloud actors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BE" sz="2800"/>
              <a:t>Only for addresses </a:t>
            </a:r>
            <a:r>
              <a:rPr lang="en-BE" sz="2000"/>
              <a:t>(not for « Smals, Saint-Gilles » or « Resto à Ixelles »)</a:t>
            </a:r>
            <a:endParaRPr sz="2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BE" sz="2400"/>
              <a:t>Special thanks to « Crisis Centrum » </a:t>
            </a:r>
            <a:r>
              <a:rPr lang="en-BE" sz="2000"/>
              <a:t>(M. Ducobu, G. Kruwialis) </a:t>
            </a:r>
            <a:r>
              <a:rPr lang="en-BE" sz="2400"/>
              <a:t>for their input</a:t>
            </a:r>
            <a:endParaRPr/>
          </a:p>
          <a:p>
            <a:pPr indent="-201930" lvl="0" marL="3429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 txBox="1"/>
          <p:nvPr>
            <p:ph type="title"/>
          </p:nvPr>
        </p:nvSpPr>
        <p:spPr>
          <a:xfrm>
            <a:off x="609599" y="2060848"/>
            <a:ext cx="11289932" cy="18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360"/>
              </a:buClr>
              <a:buSzPts val="2400"/>
              <a:buFont typeface="Calibri"/>
              <a:buNone/>
            </a:pPr>
            <a:r>
              <a:rPr lang="en-BE"/>
              <a:t>Vandy BERTEN</a:t>
            </a:r>
            <a:br>
              <a:rPr lang="en-BE"/>
            </a:br>
            <a:r>
              <a:rPr lang="en-BE" u="sng">
                <a:solidFill>
                  <a:schemeClr val="hlink"/>
                </a:solidFill>
                <a:hlinkClick r:id="rId3"/>
              </a:rPr>
              <a:t>vandy.berten@smals.be</a:t>
            </a:r>
            <a:br>
              <a:rPr lang="en-BE"/>
            </a:br>
            <a:r>
              <a:rPr lang="en-BE" u="sng">
                <a:solidFill>
                  <a:schemeClr val="hlink"/>
                </a:solidFill>
                <a:hlinkClick r:id="rId4"/>
              </a:rPr>
              <a:t>https://www.smalsresearch.be/author/berten/</a:t>
            </a:r>
            <a:r>
              <a:rPr lang="en-BE"/>
              <a:t> </a:t>
            </a:r>
            <a:endParaRPr/>
          </a:p>
        </p:txBody>
      </p:sp>
      <p:sp>
        <p:nvSpPr>
          <p:cNvPr id="480" name="Google Shape;480;p1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BE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Challenge 1: parsing</a:t>
            </a:r>
            <a:endParaRPr/>
          </a:p>
        </p:txBody>
      </p:sp>
      <p:sp>
        <p:nvSpPr>
          <p:cNvPr id="487" name="Google Shape;487;p20"/>
          <p:cNvSpPr txBox="1"/>
          <p:nvPr>
            <p:ph idx="1" type="body"/>
          </p:nvPr>
        </p:nvSpPr>
        <p:spPr>
          <a:xfrm>
            <a:off x="784753" y="2215905"/>
            <a:ext cx="10843287" cy="470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Very </a:t>
            </a:r>
            <a:r>
              <a:rPr lang="en-BE" sz="2000">
                <a:solidFill>
                  <a:srgbClr val="B1027C"/>
                </a:solidFill>
              </a:rPr>
              <a:t>complex problem </a:t>
            </a:r>
            <a:r>
              <a:rPr lang="en-BE" sz="2000"/>
              <a:t>looking very simple!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Not always « Avenue Fonsny 20, 1060 Saint-Gilles »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« 1600/2 Chée de Wavre, 1160 Bruxelles »: easy for a human, not for a computer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Box information : “10 A”: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     “housenumber”: “10 A”,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or “housenumber”: “10”,      “box”: ”A”     </a:t>
            </a:r>
            <a:r>
              <a:rPr lang="en-BE" sz="1800"/>
              <a:t>(10/A, 10 bt A, 10 apt A…)</a:t>
            </a:r>
            <a:endParaRPr sz="2000"/>
          </a:p>
          <a:p>
            <a:pPr indent="-285750" lvl="0" marL="2857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Addresses often contain extra/</a:t>
            </a:r>
            <a:r>
              <a:rPr lang="en-BE" sz="2000">
                <a:solidFill>
                  <a:srgbClr val="B1027C"/>
                </a:solidFill>
              </a:rPr>
              <a:t>useless info</a:t>
            </a:r>
            <a:r>
              <a:rPr lang="en-BE" sz="20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Smals, Avenue Fonsny…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Avenue Fonsny 20 (Saint-Gilles), 1060 Bruxelles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BE" sz="2000"/>
              <a:t>« Sonnez ‘Tartempion’ », « Au dessus de la poste »…</a:t>
            </a:r>
            <a:endParaRPr/>
          </a:p>
        </p:txBody>
      </p:sp>
      <p:sp>
        <p:nvSpPr>
          <p:cNvPr id="488" name="Google Shape;488;p20"/>
          <p:cNvSpPr txBox="1"/>
          <p:nvPr/>
        </p:nvSpPr>
        <p:spPr>
          <a:xfrm>
            <a:off x="784753" y="1322620"/>
            <a:ext cx="49808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“Av. Fonsny 20, 1060 Bruxelles”  🡺</a:t>
            </a:r>
            <a:endParaRPr b="0" i="0" sz="1800" u="none" cap="none" strike="noStrike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6206396" y="921819"/>
            <a:ext cx="40446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{“street”  : “Av. Fonsny”,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“housenbr”: “20”,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“zipcode” : “1060”,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Code Pro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“city”    : “Bruxelles”}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"/>
          <p:cNvSpPr txBox="1"/>
          <p:nvPr>
            <p:ph type="title"/>
          </p:nvPr>
        </p:nvSpPr>
        <p:spPr>
          <a:xfrm>
            <a:off x="784753" y="262037"/>
            <a:ext cx="10121766" cy="65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n-BE"/>
              <a:t>Challenge 2: matching</a:t>
            </a:r>
            <a:endParaRPr/>
          </a:p>
        </p:txBody>
      </p:sp>
      <p:graphicFrame>
        <p:nvGraphicFramePr>
          <p:cNvPr id="496" name="Google Shape;496;p21"/>
          <p:cNvGraphicFramePr/>
          <p:nvPr/>
        </p:nvGraphicFramePr>
        <p:xfrm>
          <a:off x="4197860" y="1260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{077A082E-1477-45C7-80DF-6C81E1841A54}</a:tableStyleId>
              </a:tblPr>
              <a:tblGrid>
                <a:gridCol w="378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Streetname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Square Albert 1er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Boulevard du Roi Albert</a:t>
                      </a:r>
                      <a:r>
                        <a:rPr lang="en-BE" sz="1800"/>
                        <a:t> II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…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Rue Van Bemmel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Rue David Van Bever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Rue Ferdinand</a:t>
                      </a:r>
                      <a:r>
                        <a:rPr lang="en-BE" sz="1800"/>
                        <a:t> Elbers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Ketelberg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97" name="Google Shape;497;p21"/>
          <p:cNvSpPr/>
          <p:nvPr/>
        </p:nvSpPr>
        <p:spPr>
          <a:xfrm>
            <a:off x="624203" y="1861507"/>
            <a:ext cx="135165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 Albert 2</a:t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9519776" y="2910519"/>
            <a:ext cx="17471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Rue Van Bever</a:t>
            </a:r>
            <a:endParaRPr/>
          </a:p>
        </p:txBody>
      </p:sp>
      <p:grpSp>
        <p:nvGrpSpPr>
          <p:cNvPr id="499" name="Google Shape;499;p21"/>
          <p:cNvGrpSpPr/>
          <p:nvPr/>
        </p:nvGrpSpPr>
        <p:grpSpPr>
          <a:xfrm>
            <a:off x="1975855" y="1965253"/>
            <a:ext cx="2239800" cy="276999"/>
            <a:chOff x="1975855" y="1965253"/>
            <a:chExt cx="2239800" cy="276999"/>
          </a:xfrm>
        </p:grpSpPr>
        <p:cxnSp>
          <p:nvCxnSpPr>
            <p:cNvPr id="500" name="Google Shape;500;p21"/>
            <p:cNvCxnSpPr>
              <a:stCxn id="497" idx="3"/>
            </p:cNvCxnSpPr>
            <p:nvPr/>
          </p:nvCxnSpPr>
          <p:spPr>
            <a:xfrm>
              <a:off x="1975855" y="2061562"/>
              <a:ext cx="2239800" cy="768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01" name="Google Shape;501;p21"/>
            <p:cNvSpPr txBox="1"/>
            <p:nvPr/>
          </p:nvSpPr>
          <p:spPr>
            <a:xfrm>
              <a:off x="3152303" y="1965253"/>
              <a:ext cx="301686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</p:grpSp>
      <p:grpSp>
        <p:nvGrpSpPr>
          <p:cNvPr id="502" name="Google Shape;502;p21"/>
          <p:cNvGrpSpPr/>
          <p:nvPr/>
        </p:nvGrpSpPr>
        <p:grpSpPr>
          <a:xfrm>
            <a:off x="8072876" y="2724345"/>
            <a:ext cx="1446900" cy="386229"/>
            <a:chOff x="8072876" y="2724345"/>
            <a:chExt cx="1446900" cy="386229"/>
          </a:xfrm>
        </p:grpSpPr>
        <p:cxnSp>
          <p:nvCxnSpPr>
            <p:cNvPr id="503" name="Google Shape;503;p21"/>
            <p:cNvCxnSpPr>
              <a:stCxn id="498" idx="1"/>
            </p:cNvCxnSpPr>
            <p:nvPr/>
          </p:nvCxnSpPr>
          <p:spPr>
            <a:xfrm rot="10800000">
              <a:off x="8072876" y="2910474"/>
              <a:ext cx="1446900" cy="2001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04" name="Google Shape;504;p21"/>
            <p:cNvSpPr txBox="1"/>
            <p:nvPr/>
          </p:nvSpPr>
          <p:spPr>
            <a:xfrm>
              <a:off x="8375813" y="2724345"/>
              <a:ext cx="301686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8072876" y="3093677"/>
            <a:ext cx="1446900" cy="369332"/>
            <a:chOff x="8072876" y="3093677"/>
            <a:chExt cx="1446900" cy="369332"/>
          </a:xfrm>
        </p:grpSpPr>
        <p:cxnSp>
          <p:nvCxnSpPr>
            <p:cNvPr id="506" name="Google Shape;506;p21"/>
            <p:cNvCxnSpPr>
              <a:stCxn id="498" idx="1"/>
            </p:cNvCxnSpPr>
            <p:nvPr/>
          </p:nvCxnSpPr>
          <p:spPr>
            <a:xfrm flipH="1">
              <a:off x="8072876" y="3110574"/>
              <a:ext cx="1446900" cy="1692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07" name="Google Shape;507;p21"/>
            <p:cNvSpPr txBox="1"/>
            <p:nvPr/>
          </p:nvSpPr>
          <p:spPr>
            <a:xfrm>
              <a:off x="8375813" y="3093677"/>
              <a:ext cx="301686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graphicFrame>
        <p:nvGraphicFramePr>
          <p:cNvPr id="508" name="Google Shape;508;p21"/>
          <p:cNvGraphicFramePr/>
          <p:nvPr/>
        </p:nvGraphicFramePr>
        <p:xfrm>
          <a:off x="4383989" y="49436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{077A082E-1477-45C7-80DF-6C81E1841A54}</a:tableStyleId>
              </a:tblPr>
              <a:tblGrid>
                <a:gridCol w="1305100"/>
                <a:gridCol w="1941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Zipcode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Locality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1160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Auderghem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1000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800"/>
                        <a:t>Bruxelles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9" name="Google Shape;509;p21"/>
          <p:cNvSpPr/>
          <p:nvPr/>
        </p:nvSpPr>
        <p:spPr>
          <a:xfrm>
            <a:off x="1597551" y="5556498"/>
            <a:ext cx="17055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1160 Bruxelles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21"/>
          <p:cNvCxnSpPr>
            <a:stCxn id="509" idx="3"/>
          </p:cNvCxnSpPr>
          <p:nvPr/>
        </p:nvCxnSpPr>
        <p:spPr>
          <a:xfrm flipH="1" rot="10800000">
            <a:off x="3303146" y="5522853"/>
            <a:ext cx="1094100" cy="233700"/>
          </a:xfrm>
          <a:prstGeom prst="curvedConnector3">
            <a:avLst>
              <a:gd fmla="val 4999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1" name="Google Shape;511;p21"/>
          <p:cNvSpPr/>
          <p:nvPr/>
        </p:nvSpPr>
        <p:spPr>
          <a:xfrm>
            <a:off x="1205585" y="4276282"/>
            <a:ext cx="12783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BE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Rue Elbers</a:t>
            </a:r>
            <a:endParaRPr/>
          </a:p>
        </p:txBody>
      </p:sp>
      <p:sp>
        <p:nvSpPr>
          <p:cNvPr id="512" name="Google Shape;512;p21"/>
          <p:cNvSpPr txBox="1"/>
          <p:nvPr/>
        </p:nvSpPr>
        <p:spPr>
          <a:xfrm>
            <a:off x="135184" y="6263570"/>
            <a:ext cx="856093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B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quasi-homonyms ; exm in BRU: Lapins vs Lupins vs Lutins, Augustins vs Augustines,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B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	               </a:t>
            </a:r>
            <a:r>
              <a:rPr b="0" i="0" lang="en-BE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Savoir vs Lavoir, Cologne vs Pologne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3" name="Google Shape;513;p21"/>
          <p:cNvGrpSpPr/>
          <p:nvPr/>
        </p:nvGrpSpPr>
        <p:grpSpPr>
          <a:xfrm>
            <a:off x="2483948" y="3769646"/>
            <a:ext cx="1722300" cy="706691"/>
            <a:chOff x="2483948" y="3769646"/>
            <a:chExt cx="1722300" cy="706691"/>
          </a:xfrm>
        </p:grpSpPr>
        <p:cxnSp>
          <p:nvCxnSpPr>
            <p:cNvPr id="514" name="Google Shape;514;p21"/>
            <p:cNvCxnSpPr>
              <a:stCxn id="511" idx="3"/>
            </p:cNvCxnSpPr>
            <p:nvPr/>
          </p:nvCxnSpPr>
          <p:spPr>
            <a:xfrm flipH="1" rot="10800000">
              <a:off x="2483948" y="3975637"/>
              <a:ext cx="1722300" cy="5007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15" name="Google Shape;515;p21"/>
            <p:cNvSpPr txBox="1"/>
            <p:nvPr/>
          </p:nvSpPr>
          <p:spPr>
            <a:xfrm>
              <a:off x="3455913" y="3769646"/>
              <a:ext cx="418704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grpSp>
        <p:nvGrpSpPr>
          <p:cNvPr id="516" name="Google Shape;516;p21"/>
          <p:cNvGrpSpPr/>
          <p:nvPr/>
        </p:nvGrpSpPr>
        <p:grpSpPr>
          <a:xfrm>
            <a:off x="2483948" y="4150904"/>
            <a:ext cx="1731600" cy="369332"/>
            <a:chOff x="2483948" y="4150904"/>
            <a:chExt cx="1731600" cy="369332"/>
          </a:xfrm>
        </p:grpSpPr>
        <p:cxnSp>
          <p:nvCxnSpPr>
            <p:cNvPr id="517" name="Google Shape;517;p21"/>
            <p:cNvCxnSpPr>
              <a:stCxn id="511" idx="3"/>
            </p:cNvCxnSpPr>
            <p:nvPr/>
          </p:nvCxnSpPr>
          <p:spPr>
            <a:xfrm flipH="1" rot="10800000">
              <a:off x="2483948" y="4339837"/>
              <a:ext cx="1731600" cy="13650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518" name="Google Shape;518;p21"/>
            <p:cNvSpPr txBox="1"/>
            <p:nvPr/>
          </p:nvSpPr>
          <p:spPr>
            <a:xfrm>
              <a:off x="3599720" y="4150904"/>
              <a:ext cx="301686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1800"/>
                <a:buFont typeface="Calibri"/>
                <a:buNone/>
              </a:pPr>
              <a:r>
                <a:rPr b="0" i="0" lang="en-BE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519" name="Google Shape;519;p21"/>
          <p:cNvGrpSpPr/>
          <p:nvPr/>
        </p:nvGrpSpPr>
        <p:grpSpPr>
          <a:xfrm>
            <a:off x="121314" y="995312"/>
            <a:ext cx="4094341" cy="1066250"/>
            <a:chOff x="121314" y="995312"/>
            <a:chExt cx="4094341" cy="1066250"/>
          </a:xfrm>
        </p:grpSpPr>
        <p:grpSp>
          <p:nvGrpSpPr>
            <p:cNvPr id="520" name="Google Shape;520;p21"/>
            <p:cNvGrpSpPr/>
            <p:nvPr/>
          </p:nvGrpSpPr>
          <p:grpSpPr>
            <a:xfrm>
              <a:off x="1975855" y="1597163"/>
              <a:ext cx="2239800" cy="464399"/>
              <a:chOff x="1975855" y="1597163"/>
              <a:chExt cx="2239800" cy="464399"/>
            </a:xfrm>
          </p:grpSpPr>
          <p:cxnSp>
            <p:nvCxnSpPr>
              <p:cNvPr id="521" name="Google Shape;521;p21"/>
              <p:cNvCxnSpPr>
                <a:stCxn id="497" idx="3"/>
              </p:cNvCxnSpPr>
              <p:nvPr/>
            </p:nvCxnSpPr>
            <p:spPr>
              <a:xfrm flipH="1" rot="10800000">
                <a:off x="1975855" y="1802362"/>
                <a:ext cx="2239800" cy="259200"/>
              </a:xfrm>
              <a:prstGeom prst="curved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522" name="Google Shape;522;p21"/>
              <p:cNvSpPr txBox="1"/>
              <p:nvPr/>
            </p:nvSpPr>
            <p:spPr>
              <a:xfrm>
                <a:off x="3340904" y="1597163"/>
                <a:ext cx="301686" cy="36933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030A0"/>
                  </a:buClr>
                  <a:buSzPts val="1800"/>
                  <a:buFont typeface="Calibri"/>
                  <a:buNone/>
                </a:pPr>
                <a:r>
                  <a:rPr b="0" i="0" lang="en-BE" sz="18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</a:t>
                </a:r>
                <a:endParaRPr/>
              </a:p>
            </p:txBody>
          </p:sp>
        </p:grpSp>
        <p:sp>
          <p:nvSpPr>
            <p:cNvPr id="523" name="Google Shape;523;p21"/>
            <p:cNvSpPr txBox="1"/>
            <p:nvPr/>
          </p:nvSpPr>
          <p:spPr>
            <a:xfrm>
              <a:off x="121314" y="995312"/>
              <a:ext cx="2362634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030A0"/>
                </a:buClr>
                <a:buSzPts val="2000"/>
                <a:buFont typeface="Calibri"/>
                <a:buNone/>
              </a:pPr>
              <a:r>
                <a:rPr b="0" i="0" lang="en-BE" sz="20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rPr>
                <a:t>Levenshtein distance</a:t>
              </a:r>
              <a:endParaRPr/>
            </a:p>
          </p:txBody>
        </p:sp>
        <p:cxnSp>
          <p:nvCxnSpPr>
            <p:cNvPr id="524" name="Google Shape;524;p21"/>
            <p:cNvCxnSpPr>
              <a:stCxn id="523" idx="3"/>
            </p:cNvCxnSpPr>
            <p:nvPr/>
          </p:nvCxnSpPr>
          <p:spPr>
            <a:xfrm>
              <a:off x="2483948" y="1195367"/>
              <a:ext cx="857100" cy="466200"/>
            </a:xfrm>
            <a:prstGeom prst="straightConnector1">
              <a:avLst/>
            </a:prstGeom>
            <a:noFill/>
            <a:ln cap="flat" cmpd="sng" w="12700">
              <a:solidFill>
                <a:srgbClr val="7030A0"/>
              </a:solidFill>
              <a:prstDash val="dot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-Smals">
  <a:themeElements>
    <a:clrScheme name="Custom 4">
      <a:dk1>
        <a:srgbClr val="0095CE"/>
      </a:dk1>
      <a:lt1>
        <a:srgbClr val="FFFFFF"/>
      </a:lt1>
      <a:dk2>
        <a:srgbClr val="000000"/>
      </a:dk2>
      <a:lt2>
        <a:srgbClr val="E7E6E6"/>
      </a:lt2>
      <a:accent1>
        <a:srgbClr val="0095CE"/>
      </a:accent1>
      <a:accent2>
        <a:srgbClr val="005B9C"/>
      </a:accent2>
      <a:accent3>
        <a:srgbClr val="0095CE"/>
      </a:accent3>
      <a:accent4>
        <a:srgbClr val="005B9C"/>
      </a:accent4>
      <a:accent5>
        <a:srgbClr val="0095CE"/>
      </a:accent5>
      <a:accent6>
        <a:srgbClr val="005B9C"/>
      </a:accent6>
      <a:hlink>
        <a:srgbClr val="20C4CA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2015-03-24T15:12:41Z</dcterms:created>
  <dc:creator>Tony Vanderbruggen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0x0101003D0AC2729B96C84C9327D0CCB94B67AD010600B0A67CC6FAA51A4EA023A486B0F76743</vt:lpwstr>
  </property>
  <property fmtid="{D5CDD505-2E9C-101B-9397-08002B2CF9AE}" pid="3" name="Organisational Keywords">
    <vt:lpwstr/>
  </property>
  <property fmtid="{D5CDD505-2E9C-101B-9397-08002B2CF9AE}" pid="4" name="TaxKeyword">
    <vt:lpwstr/>
  </property>
</Properties>
</file>